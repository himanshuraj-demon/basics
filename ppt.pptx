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  <p:sldMasterId id="2147483687" r:id="rId5"/>
    <p:sldMasterId id="214748368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y="5143500" cx="9144000"/>
  <p:notesSz cx="6858000" cy="9144000"/>
  <p:embeddedFontLst>
    <p:embeddedFont>
      <p:font typeface="Roboto Mono SemiBold"/>
      <p:regular r:id="rId62"/>
      <p:bold r:id="rId63"/>
      <p:italic r:id="rId64"/>
      <p:boldItalic r:id="rId65"/>
    </p:embeddedFont>
    <p:embeddedFont>
      <p:font typeface="Roboto Mono Medium"/>
      <p:regular r:id="rId66"/>
      <p:bold r:id="rId67"/>
      <p:italic r:id="rId68"/>
      <p:boldItalic r:id="rId69"/>
    </p:embeddedFont>
    <p:embeddedFont>
      <p:font typeface="Inter SemiBold"/>
      <p:regular r:id="rId70"/>
      <p:bold r:id="rId71"/>
      <p:italic r:id="rId72"/>
      <p:boldItalic r:id="rId73"/>
    </p:embeddedFont>
    <p:embeddedFont>
      <p:font typeface="Inter"/>
      <p:regular r:id="rId74"/>
      <p:bold r:id="rId75"/>
      <p:italic r:id="rId76"/>
      <p:boldItalic r:id="rId77"/>
    </p:embeddedFont>
    <p:embeddedFont>
      <p:font typeface="JetBrains Mono SemiBold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Fira Code"/>
      <p:regular r:id="rId84"/>
      <p:bold r:id="rId85"/>
    </p:embeddedFont>
    <p:embeddedFont>
      <p:font typeface="Roboto Mono"/>
      <p:regular r:id="rId86"/>
      <p:bold r:id="rId87"/>
      <p:italic r:id="rId88"/>
      <p:boldItalic r:id="rId89"/>
    </p:embeddedFont>
    <p:embeddedFont>
      <p:font typeface="Inter Medium"/>
      <p:regular r:id="rId90"/>
      <p:bold r:id="rId91"/>
      <p:italic r:id="rId92"/>
      <p:boldItalic r:id="rId93"/>
    </p:embeddedFont>
    <p:embeddedFont>
      <p:font typeface="JetBrains Mono"/>
      <p:bold r:id="rId94"/>
      <p:boldItalic r:id="rId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FiraCode-regular.fntdata"/><Relationship Id="rId83" Type="http://schemas.openxmlformats.org/officeDocument/2006/relationships/font" Target="fonts/InterExtraBold-boldItalic.fntdata"/><Relationship Id="rId42" Type="http://schemas.openxmlformats.org/officeDocument/2006/relationships/slide" Target="slides/slide35.xml"/><Relationship Id="rId86" Type="http://schemas.openxmlformats.org/officeDocument/2006/relationships/font" Target="fonts/RobotoMono-regular.fntdata"/><Relationship Id="rId41" Type="http://schemas.openxmlformats.org/officeDocument/2006/relationships/slide" Target="slides/slide34.xml"/><Relationship Id="rId85" Type="http://schemas.openxmlformats.org/officeDocument/2006/relationships/font" Target="fonts/FiraCode-bold.fntdata"/><Relationship Id="rId44" Type="http://schemas.openxmlformats.org/officeDocument/2006/relationships/slide" Target="slides/slide37.xml"/><Relationship Id="rId88" Type="http://schemas.openxmlformats.org/officeDocument/2006/relationships/font" Target="fonts/RobotoMono-italic.fntdata"/><Relationship Id="rId43" Type="http://schemas.openxmlformats.org/officeDocument/2006/relationships/slide" Target="slides/slide36.xml"/><Relationship Id="rId87" Type="http://schemas.openxmlformats.org/officeDocument/2006/relationships/font" Target="fonts/RobotoMono-bold.fntdata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9" Type="http://schemas.openxmlformats.org/officeDocument/2006/relationships/font" Target="fonts/RobotoMono-boldItalic.fntdata"/><Relationship Id="rId80" Type="http://schemas.openxmlformats.org/officeDocument/2006/relationships/font" Target="fonts/JetBrainsMonoSemiBold-italic.fntdata"/><Relationship Id="rId82" Type="http://schemas.openxmlformats.org/officeDocument/2006/relationships/font" Target="fonts/InterExtraBold-bold.fntdata"/><Relationship Id="rId81" Type="http://schemas.openxmlformats.org/officeDocument/2006/relationships/font" Target="fonts/JetBrainsMonoSemiBold-bold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InterSemiBold-boldItalic.fntdata"/><Relationship Id="rId72" Type="http://schemas.openxmlformats.org/officeDocument/2006/relationships/font" Target="fonts/InterSemiBold-italic.fntdata"/><Relationship Id="rId31" Type="http://schemas.openxmlformats.org/officeDocument/2006/relationships/slide" Target="slides/slide24.xml"/><Relationship Id="rId75" Type="http://schemas.openxmlformats.org/officeDocument/2006/relationships/font" Target="fonts/Inter-bold.fntdata"/><Relationship Id="rId30" Type="http://schemas.openxmlformats.org/officeDocument/2006/relationships/slide" Target="slides/slide23.xml"/><Relationship Id="rId74" Type="http://schemas.openxmlformats.org/officeDocument/2006/relationships/font" Target="fonts/Inter-regular.fntdata"/><Relationship Id="rId33" Type="http://schemas.openxmlformats.org/officeDocument/2006/relationships/slide" Target="slides/slide26.xml"/><Relationship Id="rId77" Type="http://schemas.openxmlformats.org/officeDocument/2006/relationships/font" Target="fonts/Inter-boldItalic.fntdata"/><Relationship Id="rId32" Type="http://schemas.openxmlformats.org/officeDocument/2006/relationships/slide" Target="slides/slide25.xml"/><Relationship Id="rId76" Type="http://schemas.openxmlformats.org/officeDocument/2006/relationships/font" Target="fonts/Inter-italic.fntdata"/><Relationship Id="rId35" Type="http://schemas.openxmlformats.org/officeDocument/2006/relationships/slide" Target="slides/slide28.xml"/><Relationship Id="rId79" Type="http://schemas.openxmlformats.org/officeDocument/2006/relationships/font" Target="fonts/JetBrainsMonoSemiBold-bold.fntdata"/><Relationship Id="rId34" Type="http://schemas.openxmlformats.org/officeDocument/2006/relationships/slide" Target="slides/slide27.xml"/><Relationship Id="rId78" Type="http://schemas.openxmlformats.org/officeDocument/2006/relationships/font" Target="fonts/JetBrainsMonoSemiBold-regular.fntdata"/><Relationship Id="rId71" Type="http://schemas.openxmlformats.org/officeDocument/2006/relationships/font" Target="fonts/InterSemiBold-bold.fntdata"/><Relationship Id="rId70" Type="http://schemas.openxmlformats.org/officeDocument/2006/relationships/font" Target="fonts/InterSemiBold-regular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RobotoMonoSemiBold-regular.fntdata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font" Target="fonts/RobotoMonoSemiBold-italic.fntdata"/><Relationship Id="rId63" Type="http://schemas.openxmlformats.org/officeDocument/2006/relationships/font" Target="fonts/RobotoMonoSemiBold-bold.fntdata"/><Relationship Id="rId22" Type="http://schemas.openxmlformats.org/officeDocument/2006/relationships/slide" Target="slides/slide15.xml"/><Relationship Id="rId66" Type="http://schemas.openxmlformats.org/officeDocument/2006/relationships/font" Target="fonts/RobotoMonoMedium-regular.fntdata"/><Relationship Id="rId21" Type="http://schemas.openxmlformats.org/officeDocument/2006/relationships/slide" Target="slides/slide14.xml"/><Relationship Id="rId65" Type="http://schemas.openxmlformats.org/officeDocument/2006/relationships/font" Target="fonts/RobotoMonoSemiBold-boldItalic.fntdata"/><Relationship Id="rId24" Type="http://schemas.openxmlformats.org/officeDocument/2006/relationships/slide" Target="slides/slide17.xml"/><Relationship Id="rId68" Type="http://schemas.openxmlformats.org/officeDocument/2006/relationships/font" Target="fonts/RobotoMonoMedium-italic.fntdata"/><Relationship Id="rId23" Type="http://schemas.openxmlformats.org/officeDocument/2006/relationships/slide" Target="slides/slide16.xml"/><Relationship Id="rId67" Type="http://schemas.openxmlformats.org/officeDocument/2006/relationships/font" Target="fonts/RobotoMonoMedium-bold.fntdata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RobotoMonoMedium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95" Type="http://schemas.openxmlformats.org/officeDocument/2006/relationships/font" Target="fonts/JetBrainsMono-boldItalic.fntdata"/><Relationship Id="rId50" Type="http://schemas.openxmlformats.org/officeDocument/2006/relationships/slide" Target="slides/slide43.xml"/><Relationship Id="rId94" Type="http://schemas.openxmlformats.org/officeDocument/2006/relationships/font" Target="fonts/JetBrainsMono-bold.fntdata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91" Type="http://schemas.openxmlformats.org/officeDocument/2006/relationships/font" Target="fonts/InterMedium-bold.fntdata"/><Relationship Id="rId90" Type="http://schemas.openxmlformats.org/officeDocument/2006/relationships/font" Target="fonts/InterMedium-regular.fntdata"/><Relationship Id="rId93" Type="http://schemas.openxmlformats.org/officeDocument/2006/relationships/font" Target="fonts/InterMedium-boldItalic.fntdata"/><Relationship Id="rId92" Type="http://schemas.openxmlformats.org/officeDocument/2006/relationships/font" Target="fonts/InterMedium-italic.fntdata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09cf6c7b26_18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409cf6c7b26_18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09cf6c7b26_18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409cf6c7b26_18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09cf6c7b26_18_10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409cf6c7b26_18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409cf6c7b26_18_1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409cf6c7b26_18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409cf6c7b26_18_20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409cf6c7b26_18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409cf6c7b26_18_2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409cf6c7b26_18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409cf6c7b26_18_2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409cf6c7b26_18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409cf6c7b26_18_3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409cf6c7b26_18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409cf6c7b26_18_3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409cf6c7b26_18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409cf6c7b26_18_40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409cf6c7b26_18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409cf6c7b26_18_5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409cf6c7b26_18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409cf6c7b26_18_5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409cf6c7b26_18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409cf6c7b26_18_56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409cf6c7b26_18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409cf6c7b26_8_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409cf6c7b26_8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409cf6c7b26_8_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409cf6c7b26_8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409cf6c7b26_8_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409cf6c7b26_8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409cf6c7b26_8_1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409cf6c7b26_8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409cf6c7b26_8_1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409cf6c7b26_8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409cf6c7b26_8_1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409cf6c7b26_8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409cf6c7b26_8_19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409cf6c7b26_8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409cf6c7b26_8_2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409cf6c7b26_8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409cf6c7b26_8_2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409cf6c7b26_8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409cf6c7b26_8_2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409cf6c7b26_8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409cf6c7b26_8_2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409cf6c7b26_8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409cf6c7b26_8_30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409cf6c7b26_8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409cf6c7b26_8_3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409cf6c7b26_8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409cf6c7b26_8_3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409cf6c7b26_8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409cf6c7b26_8_40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409cf6c7b26_8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409cf6c7b26_12_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2" name="Google Shape;1022;g409cf6c7b26_1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409cf6c7b26_12_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g409cf6c7b26_1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409cf6c7b26_12_1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5" name="Google Shape;1085;g409cf6c7b26_1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409cf6c7b26_12_1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9" name="Google Shape;1119;g409cf6c7b26_1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409cf6c7b26_12_1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7" name="Google Shape;1167;g409cf6c7b26_1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409cf6c7b26_12_2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3" name="Google Shape;1203;g409cf6c7b26_12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409cf6c7b26_12_27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g409cf6c7b26_12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409cf6c7b26_12_30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2" name="Google Shape;1272;g409cf6c7b26_12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409cf6c7b26_12_3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2" name="Google Shape;1312;g409cf6c7b26_12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409cf6c7b26_12_3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2" name="Google Shape;1352;g409cf6c7b26_12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409cf6c7b26_12_4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4" name="Google Shape;1394;g409cf6c7b26_12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409cf6c7b26_12_4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7" name="Google Shape;1427;g409cf6c7b26_12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409cf6c7b26_12_5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8" name="Google Shape;1488;g409cf6c7b26_12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409cf6c7b26_12_5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6" name="Google Shape;1546;g409cf6c7b26_12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409cf6c7b26_10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409cf6c7b26_1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409cf6c7b26_10_6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409cf6c7b26_1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409cf6c7b26_10_10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8" name="Google Shape;1658;g409cf6c7b26_1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409cf6c7b26_10_1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0" name="Google Shape;1680;g409cf6c7b26_1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409cf6c7b26_10_1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409cf6c7b26_1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409cf6c7b26_10_2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9" name="Google Shape;1759;g409cf6c7b26_1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g409cf6c7b26_10_2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1" name="Google Shape;1801;g409cf6c7b26_1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409cf6c7b26_10_2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409cf6c7b26_1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409cf6c7b26_10_2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409cf6c7b26_1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409cf6c7b26_10_30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409cf6c7b26_1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g409cf6c7b26_10_3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1" name="Google Shape;1891;g409cf6c7b26_1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409cf6c7b26_10_3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409cf6c7b26_1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7325cde1_16_0)">
  <p:cSld name="Generated (g3f87325cde1_1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e4897fa8_13_0)">
  <p:cSld name="Generated (g3fae4897fa8_13_0)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8b6f8666_6_0)">
  <p:cSld name="Generated (g3f88b6f8666_6_0)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738cc5cc_13_0)">
  <p:cSld name="Generated (g3f8738cc5cc_13_0)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5" name="Google Shape;105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6" name="Google Shape;10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7" name="Google Shape;117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8" name="Google Shape;11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4" name="Google Shape;124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5" name="Google Shape;12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8" name="Google Shape;12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2" name="Google Shape;132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7" name="Google Shape;13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0" name="Google Shape;140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7325cde1_16_0)">
  <p:cSld name="Generated (g3f87325cde1_16_0)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9.jpg"/><Relationship Id="rId5" Type="http://schemas.openxmlformats.org/officeDocument/2006/relationships/image" Target="../media/image18.png"/><Relationship Id="rId6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30.png"/><Relationship Id="rId5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21.jpg"/><Relationship Id="rId5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5" Type="http://schemas.openxmlformats.org/officeDocument/2006/relationships/image" Target="../media/image36.png"/><Relationship Id="rId6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jpg"/><Relationship Id="rId4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Relationship Id="rId4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Relationship Id="rId4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Relationship Id="rId4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png"/><Relationship Id="rId4" Type="http://schemas.openxmlformats.org/officeDocument/2006/relationships/image" Target="../media/image48.jpg"/><Relationship Id="rId5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2.png"/><Relationship Id="rId4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Relationship Id="rId4" Type="http://schemas.openxmlformats.org/officeDocument/2006/relationships/image" Target="../media/image45.png"/><Relationship Id="rId5" Type="http://schemas.openxmlformats.org/officeDocument/2006/relationships/image" Target="../media/image32.png"/><Relationship Id="rId6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png"/><Relationship Id="rId4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1.png"/><Relationship Id="rId4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4.png"/><Relationship Id="rId4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0.jpg"/><Relationship Id="rId4" Type="http://schemas.openxmlformats.org/officeDocument/2006/relationships/image" Target="../media/image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0.png"/><Relationship Id="rId4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png"/><Relationship Id="rId4" Type="http://schemas.openxmlformats.org/officeDocument/2006/relationships/image" Target="../media/image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Relationship Id="rId4" Type="http://schemas.openxmlformats.org/officeDocument/2006/relationships/image" Target="../media/image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7.jpg"/><Relationship Id="rId4" Type="http://schemas.openxmlformats.org/officeDocument/2006/relationships/image" Target="../media/image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2"/>
          <p:cNvSpPr txBox="1"/>
          <p:nvPr/>
        </p:nvSpPr>
        <p:spPr>
          <a:xfrm>
            <a:off x="952500" y="476250"/>
            <a:ext cx="5905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4A3B8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INTRODUCTION // WORKSHOP AGENDA</a:t>
            </a:r>
            <a:endParaRPr b="0" i="0" sz="900" u="none" cap="none" strike="noStrike">
              <a:solidFill>
                <a:srgbClr val="718096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" sz="2550" u="none" cap="none" strike="noStrike">
                <a:solidFill>
                  <a:srgbClr val="D4D4D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Web Development Workshop</a:t>
            </a:r>
            <a:endParaRPr b="0" i="0" sz="2550" u="none" cap="none" strike="noStrike">
              <a:solidFill>
                <a:srgbClr val="2D374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" sz="2550" u="none" cap="none" strike="noStrike">
                <a:solidFill>
                  <a:srgbClr val="E34F2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— HTML Basics</a:t>
            </a:r>
            <a:endParaRPr b="0" i="0" sz="2550" u="none" cap="none" strike="noStrike">
              <a:solidFill>
                <a:srgbClr val="E34F2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50" name="Google Shape;150;p42"/>
          <p:cNvSpPr txBox="1"/>
          <p:nvPr/>
        </p:nvSpPr>
        <p:spPr>
          <a:xfrm>
            <a:off x="952500" y="1666875"/>
            <a:ext cx="571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" sz="1125" u="none" cap="none" strike="noStrike">
                <a:solidFill>
                  <a:srgbClr val="E34F26"/>
                </a:solidFill>
                <a:latin typeface="Inter"/>
                <a:ea typeface="Inter"/>
                <a:cs typeface="Inter"/>
                <a:sym typeface="Inter"/>
              </a:rPr>
              <a:t>No prior experience needed.</a:t>
            </a:r>
            <a:r>
              <a:rPr b="0" i="0" lang="en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 focus on hands-on creation of core web building blocks.</a:t>
            </a:r>
            <a:endParaRPr b="0" i="0" sz="1125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42"/>
          <p:cNvSpPr/>
          <p:nvPr>
            <p:ph idx="2" type="pic"/>
          </p:nvPr>
        </p:nvSpPr>
        <p:spPr>
          <a:xfrm>
            <a:off x="1157288" y="2562225"/>
            <a:ext cx="19200" cy="14859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2" name="Google Shape;152;p42"/>
          <p:cNvGrpSpPr/>
          <p:nvPr/>
        </p:nvGrpSpPr>
        <p:grpSpPr>
          <a:xfrm>
            <a:off x="952500" y="2333625"/>
            <a:ext cx="4857900" cy="285900"/>
            <a:chOff x="952500" y="2333625"/>
            <a:chExt cx="4857900" cy="285900"/>
          </a:xfrm>
        </p:grpSpPr>
        <p:sp>
          <p:nvSpPr>
            <p:cNvPr id="153" name="Google Shape;153;p42"/>
            <p:cNvSpPr/>
            <p:nvPr/>
          </p:nvSpPr>
          <p:spPr>
            <a:xfrm>
              <a:off x="952500" y="2333625"/>
              <a:ext cx="428700" cy="228600"/>
            </a:xfrm>
            <a:prstGeom prst="roundRect">
              <a:avLst>
                <a:gd fmla="val 16666" name="adj"/>
              </a:avLst>
            </a:pr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2"/>
            <p:cNvSpPr txBox="1"/>
            <p:nvPr/>
          </p:nvSpPr>
          <p:spPr>
            <a:xfrm>
              <a:off x="952500" y="2333625"/>
              <a:ext cx="428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b="1" i="0" sz="9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5" name="Google Shape;155;p42"/>
            <p:cNvSpPr txBox="1"/>
            <p:nvPr/>
          </p:nvSpPr>
          <p:spPr>
            <a:xfrm>
              <a:off x="1524000" y="2333625"/>
              <a:ext cx="428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Web Fundamentals</a:t>
              </a:r>
              <a:endParaRPr b="1" i="0" sz="120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6" name="Google Shape;156;p42"/>
          <p:cNvGrpSpPr/>
          <p:nvPr/>
        </p:nvGrpSpPr>
        <p:grpSpPr>
          <a:xfrm>
            <a:off x="952500" y="2905125"/>
            <a:ext cx="4857900" cy="285900"/>
            <a:chOff x="952500" y="2905125"/>
            <a:chExt cx="4857900" cy="285900"/>
          </a:xfrm>
        </p:grpSpPr>
        <p:sp>
          <p:nvSpPr>
            <p:cNvPr id="157" name="Google Shape;157;p42"/>
            <p:cNvSpPr/>
            <p:nvPr/>
          </p:nvSpPr>
          <p:spPr>
            <a:xfrm>
              <a:off x="952500" y="2905125"/>
              <a:ext cx="428700" cy="228600"/>
            </a:xfrm>
            <a:prstGeom prst="roundRect">
              <a:avLst>
                <a:gd fmla="val 16666" name="adj"/>
              </a:avLst>
            </a:pr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2"/>
            <p:cNvSpPr txBox="1"/>
            <p:nvPr/>
          </p:nvSpPr>
          <p:spPr>
            <a:xfrm>
              <a:off x="952500" y="2905125"/>
              <a:ext cx="428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b="1" i="0" sz="9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9" name="Google Shape;159;p42"/>
            <p:cNvSpPr txBox="1"/>
            <p:nvPr/>
          </p:nvSpPr>
          <p:spPr>
            <a:xfrm>
              <a:off x="1524000" y="2905125"/>
              <a:ext cx="428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Core Tags</a:t>
              </a:r>
              <a:endParaRPr b="1" i="0" sz="120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0" name="Google Shape;160;p42"/>
          <p:cNvGrpSpPr/>
          <p:nvPr/>
        </p:nvGrpSpPr>
        <p:grpSpPr>
          <a:xfrm>
            <a:off x="952500" y="3476625"/>
            <a:ext cx="4857900" cy="285900"/>
            <a:chOff x="952500" y="3476625"/>
            <a:chExt cx="4857900" cy="285900"/>
          </a:xfrm>
        </p:grpSpPr>
        <p:sp>
          <p:nvSpPr>
            <p:cNvPr id="161" name="Google Shape;161;p42"/>
            <p:cNvSpPr/>
            <p:nvPr/>
          </p:nvSpPr>
          <p:spPr>
            <a:xfrm>
              <a:off x="952500" y="3476625"/>
              <a:ext cx="428700" cy="228600"/>
            </a:xfrm>
            <a:prstGeom prst="roundRect">
              <a:avLst>
                <a:gd fmla="val 16666" name="adj"/>
              </a:avLst>
            </a:pr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2"/>
            <p:cNvSpPr txBox="1"/>
            <p:nvPr/>
          </p:nvSpPr>
          <p:spPr>
            <a:xfrm>
              <a:off x="952500" y="3476625"/>
              <a:ext cx="428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b="1" i="0" sz="9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63" name="Google Shape;163;p42"/>
            <p:cNvSpPr txBox="1"/>
            <p:nvPr/>
          </p:nvSpPr>
          <p:spPr>
            <a:xfrm>
              <a:off x="1524000" y="3476625"/>
              <a:ext cx="428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Structuring Media &amp; Forms</a:t>
              </a:r>
              <a:endParaRPr b="1" i="0" sz="120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4" name="Google Shape;164;p42"/>
          <p:cNvGrpSpPr/>
          <p:nvPr/>
        </p:nvGrpSpPr>
        <p:grpSpPr>
          <a:xfrm>
            <a:off x="952500" y="4048125"/>
            <a:ext cx="4857900" cy="285900"/>
            <a:chOff x="952500" y="4048125"/>
            <a:chExt cx="4857900" cy="285900"/>
          </a:xfrm>
        </p:grpSpPr>
        <p:sp>
          <p:nvSpPr>
            <p:cNvPr id="165" name="Google Shape;165;p42"/>
            <p:cNvSpPr/>
            <p:nvPr/>
          </p:nvSpPr>
          <p:spPr>
            <a:xfrm>
              <a:off x="952500" y="4048125"/>
              <a:ext cx="428700" cy="228600"/>
            </a:xfrm>
            <a:prstGeom prst="roundRect">
              <a:avLst>
                <a:gd fmla="val 16666" name="adj"/>
              </a:avLst>
            </a:pr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2"/>
            <p:cNvSpPr txBox="1"/>
            <p:nvPr/>
          </p:nvSpPr>
          <p:spPr>
            <a:xfrm>
              <a:off x="952500" y="4048125"/>
              <a:ext cx="428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b="1" i="0" sz="9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67" name="Google Shape;167;p42"/>
            <p:cNvSpPr txBox="1"/>
            <p:nvPr/>
          </p:nvSpPr>
          <p:spPr>
            <a:xfrm>
              <a:off x="1524000" y="4048125"/>
              <a:ext cx="428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Capstone Project</a:t>
              </a:r>
              <a:endParaRPr b="1" i="0" sz="120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68" name="Google Shape;16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5625" y="1929175"/>
            <a:ext cx="2752000" cy="27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42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43"/>
          <p:cNvGrpSpPr/>
          <p:nvPr/>
        </p:nvGrpSpPr>
        <p:grpSpPr>
          <a:xfrm>
            <a:off x="0" y="4762500"/>
            <a:ext cx="9144000" cy="333375"/>
            <a:chOff x="0" y="4762500"/>
            <a:chExt cx="9144000" cy="333375"/>
          </a:xfrm>
        </p:grpSpPr>
        <p:sp>
          <p:nvSpPr>
            <p:cNvPr id="176" name="Google Shape;176;p43"/>
            <p:cNvSpPr/>
            <p:nvPr/>
          </p:nvSpPr>
          <p:spPr>
            <a:xfrm>
              <a:off x="0" y="4762500"/>
              <a:ext cx="9144000" cy="9600"/>
            </a:xfrm>
            <a:prstGeom prst="rect">
              <a:avLst/>
            </a:prstGeom>
            <a:solidFill>
              <a:srgbClr val="2B36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3"/>
            <p:cNvSpPr txBox="1"/>
            <p:nvPr/>
          </p:nvSpPr>
          <p:spPr>
            <a:xfrm>
              <a:off x="476250" y="4905375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 DEVELOPMENT WORKSHOP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78" name="Google Shape;178;p43"/>
            <p:cNvSpPr txBox="1"/>
            <p:nvPr/>
          </p:nvSpPr>
          <p:spPr>
            <a:xfrm>
              <a:off x="5810250" y="4905375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HTML BASICS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79" name="Google Shape;179;p43"/>
          <p:cNvGrpSpPr/>
          <p:nvPr/>
        </p:nvGrpSpPr>
        <p:grpSpPr>
          <a:xfrm>
            <a:off x="476250" y="1333500"/>
            <a:ext cx="3619500" cy="3048000"/>
            <a:chOff x="0" y="0"/>
            <a:chExt cx="3619500" cy="3048000"/>
          </a:xfrm>
        </p:grpSpPr>
        <p:sp>
          <p:nvSpPr>
            <p:cNvPr id="180" name="Google Shape;180;p43"/>
            <p:cNvSpPr/>
            <p:nvPr/>
          </p:nvSpPr>
          <p:spPr>
            <a:xfrm>
              <a:off x="0" y="0"/>
              <a:ext cx="3619500" cy="3048000"/>
            </a:xfrm>
            <a:prstGeom prst="roundRect">
              <a:avLst>
                <a:gd fmla="val 2500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3"/>
            <p:cNvSpPr/>
            <p:nvPr/>
          </p:nvSpPr>
          <p:spPr>
            <a:xfrm>
              <a:off x="0" y="0"/>
              <a:ext cx="3619500" cy="285900"/>
            </a:xfrm>
            <a:prstGeom prst="roundRect">
              <a:avLst>
                <a:gd fmla="val 26666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3"/>
            <p:cNvSpPr/>
            <p:nvPr/>
          </p:nvSpPr>
          <p:spPr>
            <a:xfrm>
              <a:off x="0" y="190500"/>
              <a:ext cx="3619500" cy="95400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3"/>
            <p:cNvSpPr/>
            <p:nvPr/>
          </p:nvSpPr>
          <p:spPr>
            <a:xfrm>
              <a:off x="95250" y="9525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3"/>
            <p:cNvSpPr/>
            <p:nvPr/>
          </p:nvSpPr>
          <p:spPr>
            <a:xfrm>
              <a:off x="238125" y="9525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3"/>
            <p:cNvSpPr/>
            <p:nvPr/>
          </p:nvSpPr>
          <p:spPr>
            <a:xfrm>
              <a:off x="381000" y="9525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3"/>
            <p:cNvSpPr txBox="1"/>
            <p:nvPr/>
          </p:nvSpPr>
          <p:spPr>
            <a:xfrm>
              <a:off x="190500" y="428625"/>
              <a:ext cx="3238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&lt;!DOCTYPE html&gt;</a:t>
              </a:r>
              <a:endParaRPr b="0" i="0" sz="1000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&lt;html </a:t>
              </a:r>
              <a:r>
                <a:rPr b="0" i="0" lang="en" sz="100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lang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1000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"en"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</a:t>
              </a:r>
              <a:endParaRPr b="0" i="0" sz="1000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&lt;head&gt;</a:t>
              </a:r>
              <a:endParaRPr b="0" i="0" sz="1000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&lt;meta </a:t>
              </a:r>
              <a:r>
                <a:rPr b="0" i="0" lang="en" sz="100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charset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1000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"UTF-8"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</a:t>
              </a:r>
              <a:endParaRPr b="0" i="0" sz="1000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&lt;meta </a:t>
              </a:r>
              <a:r>
                <a:rPr b="0" i="0" lang="en" sz="100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name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1000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"viewport"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100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content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1000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"..."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</a:t>
              </a:r>
              <a:endParaRPr b="0" i="0" sz="1000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&lt;title&gt;</a:t>
              </a:r>
              <a:r>
                <a:rPr b="0" i="0" lang="en" sz="100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Document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&lt;/title&gt;</a:t>
              </a:r>
              <a:endParaRPr b="0" i="0" sz="1000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&lt;link </a:t>
              </a:r>
              <a:r>
                <a:rPr b="0" i="0" lang="en" sz="100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rel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1000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"stylesheet"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100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href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1000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"style.css"</a:t>
              </a: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</a:t>
              </a:r>
              <a:endParaRPr b="0" i="0" sz="1000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&lt;/head&gt;</a:t>
              </a:r>
              <a:endParaRPr b="0" i="0" sz="1000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&lt;body&gt;</a:t>
              </a:r>
              <a:endParaRPr b="0" i="0" sz="1000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71809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&lt;/body&gt;</a:t>
              </a:r>
              <a:endParaRPr b="0" i="0" sz="1000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&lt;/html&gt;</a:t>
              </a:r>
              <a:endParaRPr b="0" i="0" sz="1000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187" name="Google Shape;187;p43"/>
          <p:cNvSpPr txBox="1"/>
          <p:nvPr/>
        </p:nvSpPr>
        <p:spPr>
          <a:xfrm>
            <a:off x="4381500" y="1333500"/>
            <a:ext cx="42864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&lt;!DOCTYPE html&gt;</a:t>
            </a:r>
            <a:r>
              <a:rPr b="0" i="0" lang="en" sz="11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— Declares the document as HTML5, ensuring correct standards-based browser rendering.</a:t>
            </a:r>
            <a:endParaRPr b="0" i="0" sz="1150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64DE4"/>
                </a:solidFill>
                <a:latin typeface="Roboto Mono"/>
                <a:ea typeface="Roboto Mono"/>
                <a:cs typeface="Roboto Mono"/>
                <a:sym typeface="Roboto Mono"/>
              </a:rPr>
              <a:t>&lt;html lang="en"&gt;</a:t>
            </a:r>
            <a:r>
              <a:rPr b="0" i="0" lang="en" sz="11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— The root element of the page; the </a:t>
            </a:r>
            <a:r>
              <a:rPr b="1" i="0" lang="en" sz="11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lang</a:t>
            </a:r>
            <a:r>
              <a:rPr b="0" i="0" lang="en" sz="11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attribute defines the language for SEO and accessibility.</a:t>
            </a:r>
            <a:endParaRPr b="0" i="0" sz="1150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D97706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r>
              <a:rPr b="0" i="0" lang="en" sz="11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— Holds machine-readable metadata, including:</a:t>
            </a:r>
            <a:endParaRPr b="0" i="0" sz="1150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D3748"/>
              </a:buClr>
              <a:buSzPts val="1150"/>
              <a:buFont typeface="Inter"/>
              <a:buChar char="●"/>
            </a:pPr>
            <a:r>
              <a:rPr b="1" i="0" lang="en" sz="11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&lt;meta charset="UTF-8"&gt;</a:t>
            </a:r>
            <a:r>
              <a:rPr b="0" i="0" lang="en" sz="11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: Defines standard character encoding.</a:t>
            </a:r>
            <a:endParaRPr b="0" i="0" sz="1150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D3748"/>
              </a:buClr>
              <a:buSzPts val="1150"/>
              <a:buFont typeface="Inter"/>
              <a:buChar char="●"/>
            </a:pPr>
            <a:r>
              <a:rPr b="1" i="0" lang="en" sz="11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&lt;meta name="viewport"&gt;</a:t>
            </a:r>
            <a:r>
              <a:rPr b="0" i="0" lang="en" sz="11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: Configures responsive mobile scaling.</a:t>
            </a:r>
            <a:endParaRPr b="0" i="0" sz="1150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D3748"/>
              </a:buClr>
              <a:buSzPts val="1150"/>
              <a:buFont typeface="Inter"/>
              <a:buChar char="●"/>
            </a:pPr>
            <a:r>
              <a:rPr b="1" i="0" lang="en" sz="11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&lt;title&gt;</a:t>
            </a:r>
            <a:r>
              <a:rPr b="0" i="0" lang="en" sz="11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: Sets the text visible on the browser tab.</a:t>
            </a:r>
            <a:endParaRPr b="0" i="0" sz="1150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D3748"/>
              </a:buClr>
              <a:buSzPts val="1150"/>
              <a:buFont typeface="Inter"/>
              <a:buChar char="●"/>
            </a:pPr>
            <a:r>
              <a:rPr b="1" i="0" lang="en" sz="11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&lt;link&gt;</a:t>
            </a:r>
            <a:r>
              <a:rPr b="0" i="0" lang="en" sz="11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: Connects external CSS stylesheet files.</a:t>
            </a:r>
            <a:endParaRPr b="0" i="0" sz="1150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r>
              <a:rPr b="0" i="0" lang="en" sz="11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— Contains all visible page content (text, images, interactive elements) and linked script files.</a:t>
            </a:r>
            <a:endParaRPr b="0" i="0" sz="1150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43"/>
          <p:cNvSpPr txBox="1"/>
          <p:nvPr/>
        </p:nvSpPr>
        <p:spPr>
          <a:xfrm>
            <a:off x="476250" y="381000"/>
            <a:ext cx="762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D4D4D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HTML5 Boilerplate</a:t>
            </a:r>
            <a:endParaRPr b="0" i="0" sz="2400" u="none" cap="none" strike="noStrike">
              <a:solidFill>
                <a:srgbClr val="2D374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The essential structure and core components of a standard web document</a:t>
            </a:r>
            <a:endParaRPr b="0" i="0" sz="1200" u="none" cap="none" strike="noStrike">
              <a:solidFill>
                <a:srgbClr val="71809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89" name="Google Shape;189;p43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4"/>
          <p:cNvSpPr txBox="1"/>
          <p:nvPr/>
        </p:nvSpPr>
        <p:spPr>
          <a:xfrm>
            <a:off x="476250" y="428625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D4D4D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How the Web Works</a:t>
            </a:r>
            <a:endParaRPr b="0" i="0" sz="2700" u="none" cap="none" strike="noStrike">
              <a:solidFill>
                <a:srgbClr val="2D374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Users request pages via Browsers (Clients). Servers send HTML responses back over the internet.</a:t>
            </a:r>
            <a:endParaRPr b="0" i="0" sz="1350" u="none" cap="none" strike="noStrike">
              <a:solidFill>
                <a:srgbClr val="71809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95" name="Google Shape;195;p44"/>
          <p:cNvGrpSpPr/>
          <p:nvPr/>
        </p:nvGrpSpPr>
        <p:grpSpPr>
          <a:xfrm>
            <a:off x="476250" y="1857375"/>
            <a:ext cx="2533800" cy="2428800"/>
            <a:chOff x="0" y="0"/>
            <a:chExt cx="2533800" cy="2428800"/>
          </a:xfrm>
        </p:grpSpPr>
        <p:sp>
          <p:nvSpPr>
            <p:cNvPr id="196" name="Google Shape;196;p44"/>
            <p:cNvSpPr/>
            <p:nvPr/>
          </p:nvSpPr>
          <p:spPr>
            <a:xfrm>
              <a:off x="0" y="0"/>
              <a:ext cx="2533800" cy="2428800"/>
            </a:xfrm>
            <a:prstGeom prst="roundRect">
              <a:avLst>
                <a:gd fmla="val 3137" name="adj"/>
              </a:avLst>
            </a:prstGeom>
            <a:solidFill>
              <a:srgbClr val="11182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4"/>
            <p:cNvSpPr/>
            <p:nvPr/>
          </p:nvSpPr>
          <p:spPr>
            <a:xfrm>
              <a:off x="0" y="0"/>
              <a:ext cx="2533800" cy="57300"/>
            </a:xfrm>
            <a:prstGeom prst="roundRect">
              <a:avLst>
                <a:gd fmla="val 50000" name="adj"/>
              </a:avLst>
            </a:pr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8" name="Google Shape;198;p44"/>
            <p:cNvGrpSpPr/>
            <p:nvPr/>
          </p:nvGrpSpPr>
          <p:grpSpPr>
            <a:xfrm>
              <a:off x="228600" y="228600"/>
              <a:ext cx="381000" cy="381000"/>
              <a:chOff x="0" y="0"/>
              <a:chExt cx="381000" cy="381000"/>
            </a:xfrm>
          </p:grpSpPr>
          <p:sp>
            <p:nvSpPr>
              <p:cNvPr id="199" name="Google Shape;199;p44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34F26">
                  <a:alpha val="10196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44"/>
              <p:cNvSpPr/>
              <p:nvPr/>
            </p:nvSpPr>
            <p:spPr>
              <a:xfrm>
                <a:off x="95250" y="95250"/>
                <a:ext cx="190500" cy="1716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0" y="53333"/>
                    </a:lnTo>
                    <a:lnTo>
                      <a:pt x="60000" y="0"/>
                    </a:lnTo>
                    <a:lnTo>
                      <a:pt x="120000" y="53333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23825">
                <a:solidFill>
                  <a:srgbClr val="E34F2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44"/>
              <p:cNvSpPr/>
              <p:nvPr/>
            </p:nvSpPr>
            <p:spPr>
              <a:xfrm>
                <a:off x="95250" y="95250"/>
                <a:ext cx="190500" cy="171600"/>
              </a:xfrm>
              <a:custGeom>
                <a:rect b="b" l="l" r="r" t="t"/>
                <a:pathLst>
                  <a:path extrusionOk="0" h="120000" w="120000">
                    <a:moveTo>
                      <a:pt x="0" y="53333"/>
                    </a:moveTo>
                    <a:lnTo>
                      <a:pt x="120000" y="53333"/>
                    </a:lnTo>
                    <a:moveTo>
                      <a:pt x="30000" y="120000"/>
                    </a:moveTo>
                    <a:lnTo>
                      <a:pt x="30000" y="53333"/>
                    </a:lnTo>
                    <a:moveTo>
                      <a:pt x="90000" y="120000"/>
                    </a:moveTo>
                    <a:lnTo>
                      <a:pt x="90000" y="53333"/>
                    </a:lnTo>
                    <a:moveTo>
                      <a:pt x="60000" y="0"/>
                    </a:moveTo>
                    <a:lnTo>
                      <a:pt x="60000" y="53333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E34F2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2" name="Google Shape;202;p44"/>
            <p:cNvSpPr txBox="1"/>
            <p:nvPr/>
          </p:nvSpPr>
          <p:spPr>
            <a:xfrm>
              <a:off x="228600" y="762000"/>
              <a:ext cx="20766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Structure</a:t>
              </a:r>
              <a:endParaRPr b="1" i="0" sz="825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b="0" i="0" lang="en" sz="1650" u="none" cap="none" strike="noStrike">
                  <a:solidFill>
                    <a:srgbClr val="D4D4D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HTML</a:t>
              </a:r>
              <a:endParaRPr b="0" i="0" sz="1650" u="none" cap="none" strike="noStrike">
                <a:solidFill>
                  <a:srgbClr val="2D374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Acts as the </a:t>
              </a:r>
              <a:r>
                <a:rPr b="1" i="0" lang="en" sz="1050" u="none" cap="none" strike="noStrike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Skeleton / Walls</a:t>
              </a:r>
              <a:r>
                <a:rPr b="0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of the house, providing the foundational layout and raw content.</a:t>
              </a:r>
              <a:endParaRPr b="0" i="0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3" name="Google Shape;203;p44"/>
          <p:cNvGrpSpPr/>
          <p:nvPr/>
        </p:nvGrpSpPr>
        <p:grpSpPr>
          <a:xfrm>
            <a:off x="3305175" y="1857375"/>
            <a:ext cx="2533800" cy="2428800"/>
            <a:chOff x="0" y="0"/>
            <a:chExt cx="2533800" cy="2428800"/>
          </a:xfrm>
        </p:grpSpPr>
        <p:sp>
          <p:nvSpPr>
            <p:cNvPr id="204" name="Google Shape;204;p44"/>
            <p:cNvSpPr/>
            <p:nvPr/>
          </p:nvSpPr>
          <p:spPr>
            <a:xfrm>
              <a:off x="0" y="0"/>
              <a:ext cx="2533800" cy="2428800"/>
            </a:xfrm>
            <a:prstGeom prst="roundRect">
              <a:avLst>
                <a:gd fmla="val 3137" name="adj"/>
              </a:avLst>
            </a:prstGeom>
            <a:solidFill>
              <a:srgbClr val="11182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4"/>
            <p:cNvSpPr/>
            <p:nvPr/>
          </p:nvSpPr>
          <p:spPr>
            <a:xfrm>
              <a:off x="0" y="0"/>
              <a:ext cx="2533800" cy="57300"/>
            </a:xfrm>
            <a:prstGeom prst="roundRect">
              <a:avLst>
                <a:gd fmla="val 50000" name="adj"/>
              </a:avLst>
            </a:prstGeom>
            <a:solidFill>
              <a:srgbClr val="264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6" name="Google Shape;206;p44"/>
            <p:cNvGrpSpPr/>
            <p:nvPr/>
          </p:nvGrpSpPr>
          <p:grpSpPr>
            <a:xfrm>
              <a:off x="228600" y="228600"/>
              <a:ext cx="381000" cy="381000"/>
              <a:chOff x="0" y="0"/>
              <a:chExt cx="381000" cy="381000"/>
            </a:xfrm>
          </p:grpSpPr>
          <p:sp>
            <p:nvSpPr>
              <p:cNvPr id="207" name="Google Shape;207;p44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264DE4">
                  <a:alpha val="10196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44"/>
              <p:cNvSpPr/>
              <p:nvPr/>
            </p:nvSpPr>
            <p:spPr>
              <a:xfrm>
                <a:off x="95250" y="95250"/>
                <a:ext cx="209700" cy="190500"/>
              </a:xfrm>
              <a:custGeom>
                <a:rect b="b" l="l" r="r" t="t"/>
                <a:pathLst>
                  <a:path extrusionOk="0" h="120000" w="120000">
                    <a:moveTo>
                      <a:pt x="54545" y="0"/>
                    </a:moveTo>
                    <a:cubicBezTo>
                      <a:pt x="24545" y="0"/>
                      <a:pt x="0" y="27000"/>
                      <a:pt x="0" y="60000"/>
                    </a:cubicBezTo>
                    <a:cubicBezTo>
                      <a:pt x="0" y="93000"/>
                      <a:pt x="24545" y="120000"/>
                      <a:pt x="54545" y="120000"/>
                    </a:cubicBezTo>
                    <a:cubicBezTo>
                      <a:pt x="68182" y="120000"/>
                      <a:pt x="76364" y="111000"/>
                      <a:pt x="81818" y="105000"/>
                    </a:cubicBezTo>
                    <a:cubicBezTo>
                      <a:pt x="87273" y="99000"/>
                      <a:pt x="95455" y="99000"/>
                      <a:pt x="103636" y="99000"/>
                    </a:cubicBezTo>
                    <a:cubicBezTo>
                      <a:pt x="120000" y="99000"/>
                      <a:pt x="109091" y="60000"/>
                      <a:pt x="5454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64D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44"/>
              <p:cNvSpPr/>
              <p:nvPr/>
            </p:nvSpPr>
            <p:spPr>
              <a:xfrm>
                <a:off x="133350" y="133350"/>
                <a:ext cx="38100" cy="38100"/>
              </a:xfrm>
              <a:prstGeom prst="ellipse">
                <a:avLst/>
              </a:prstGeom>
              <a:solidFill>
                <a:srgbClr val="264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44"/>
              <p:cNvSpPr/>
              <p:nvPr/>
            </p:nvSpPr>
            <p:spPr>
              <a:xfrm>
                <a:off x="190500" y="114300"/>
                <a:ext cx="38100" cy="38100"/>
              </a:xfrm>
              <a:prstGeom prst="ellipse">
                <a:avLst/>
              </a:prstGeom>
              <a:solidFill>
                <a:srgbClr val="264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44"/>
              <p:cNvSpPr/>
              <p:nvPr/>
            </p:nvSpPr>
            <p:spPr>
              <a:xfrm>
                <a:off x="219075" y="152400"/>
                <a:ext cx="38100" cy="38100"/>
              </a:xfrm>
              <a:prstGeom prst="ellipse">
                <a:avLst/>
              </a:prstGeom>
              <a:solidFill>
                <a:srgbClr val="264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2" name="Google Shape;212;p44"/>
            <p:cNvSpPr txBox="1"/>
            <p:nvPr/>
          </p:nvSpPr>
          <p:spPr>
            <a:xfrm>
              <a:off x="228600" y="762000"/>
              <a:ext cx="20766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264DE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Styling</a:t>
              </a:r>
              <a:endParaRPr b="1" i="0" sz="825" u="none" cap="none" strike="noStrike">
                <a:solidFill>
                  <a:srgbClr val="264DE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b="0" i="0" lang="en" sz="1650" u="none" cap="none" strike="noStrike">
                  <a:solidFill>
                    <a:srgbClr val="D4D4D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CSS</a:t>
              </a:r>
              <a:endParaRPr b="0" i="0" sz="1650" u="none" cap="none" strike="noStrike">
                <a:solidFill>
                  <a:srgbClr val="2D374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Acts as the </a:t>
              </a:r>
              <a:r>
                <a:rPr b="1" i="0" lang="en" sz="1050" u="none" cap="none" strike="noStrike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Paint / Decor</a:t>
              </a:r>
              <a:r>
                <a:rPr b="0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of the house, styling the colors, layout, and visual presentation.</a:t>
              </a:r>
              <a:endParaRPr b="0" i="0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3" name="Google Shape;213;p44"/>
          <p:cNvGrpSpPr/>
          <p:nvPr/>
        </p:nvGrpSpPr>
        <p:grpSpPr>
          <a:xfrm>
            <a:off x="6134100" y="1857375"/>
            <a:ext cx="2533800" cy="2428800"/>
            <a:chOff x="0" y="0"/>
            <a:chExt cx="2533800" cy="2428800"/>
          </a:xfrm>
        </p:grpSpPr>
        <p:sp>
          <p:nvSpPr>
            <p:cNvPr id="214" name="Google Shape;214;p44"/>
            <p:cNvSpPr/>
            <p:nvPr/>
          </p:nvSpPr>
          <p:spPr>
            <a:xfrm>
              <a:off x="0" y="0"/>
              <a:ext cx="2533800" cy="2428800"/>
            </a:xfrm>
            <a:prstGeom prst="roundRect">
              <a:avLst>
                <a:gd fmla="val 3137" name="adj"/>
              </a:avLst>
            </a:prstGeom>
            <a:solidFill>
              <a:srgbClr val="11182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4"/>
            <p:cNvSpPr/>
            <p:nvPr/>
          </p:nvSpPr>
          <p:spPr>
            <a:xfrm>
              <a:off x="0" y="0"/>
              <a:ext cx="2533800" cy="573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6" name="Google Shape;216;p44"/>
            <p:cNvGrpSpPr/>
            <p:nvPr/>
          </p:nvGrpSpPr>
          <p:grpSpPr>
            <a:xfrm>
              <a:off x="228600" y="228600"/>
              <a:ext cx="381000" cy="381000"/>
              <a:chOff x="0" y="0"/>
              <a:chExt cx="381000" cy="381000"/>
            </a:xfrm>
          </p:grpSpPr>
          <p:sp>
            <p:nvSpPr>
              <p:cNvPr id="217" name="Google Shape;217;p44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D97706">
                  <a:alpha val="10196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44"/>
              <p:cNvSpPr/>
              <p:nvPr/>
            </p:nvSpPr>
            <p:spPr>
              <a:xfrm>
                <a:off x="123825" y="95250"/>
                <a:ext cx="133500" cy="190500"/>
              </a:xfrm>
              <a:custGeom>
                <a:rect b="b" l="l" r="r" t="t"/>
                <a:pathLst>
                  <a:path extrusionOk="0" h="120000" w="120000">
                    <a:moveTo>
                      <a:pt x="85714" y="0"/>
                    </a:moveTo>
                    <a:lnTo>
                      <a:pt x="0" y="66000"/>
                    </a:lnTo>
                    <a:lnTo>
                      <a:pt x="68571" y="66000"/>
                    </a:lnTo>
                    <a:lnTo>
                      <a:pt x="34286" y="120000"/>
                    </a:lnTo>
                    <a:lnTo>
                      <a:pt x="120000" y="54000"/>
                    </a:lnTo>
                    <a:lnTo>
                      <a:pt x="51429" y="54000"/>
                    </a:lnTo>
                    <a:close/>
                  </a:path>
                </a:pathLst>
              </a:custGeom>
              <a:solidFill>
                <a:srgbClr val="D97706"/>
              </a:solidFill>
              <a:ln cap="flat" cmpd="sng" w="9525">
                <a:solidFill>
                  <a:srgbClr val="D9770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9" name="Google Shape;219;p44"/>
            <p:cNvSpPr txBox="1"/>
            <p:nvPr/>
          </p:nvSpPr>
          <p:spPr>
            <a:xfrm>
              <a:off x="228600" y="762000"/>
              <a:ext cx="20766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D9770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Behavior</a:t>
              </a:r>
              <a:endParaRPr b="1" i="0" sz="825" u="none" cap="none" strike="noStrike">
                <a:solidFill>
                  <a:srgbClr val="D9770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b="0" i="0" lang="en" sz="1650" u="none" cap="none" strike="noStrike">
                  <a:solidFill>
                    <a:srgbClr val="D4D4D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JavaScript</a:t>
              </a:r>
              <a:endParaRPr b="0" i="0" sz="1650" u="none" cap="none" strike="noStrike">
                <a:solidFill>
                  <a:srgbClr val="2D374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Acts as the </a:t>
              </a:r>
              <a:r>
                <a:rPr b="1" i="0" lang="en" sz="1050" u="none" cap="none" strike="noStrike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Electricity / Appliances</a:t>
              </a:r>
              <a:r>
                <a:rPr b="0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of the house, enabling dynamic functions and interactivity.</a:t>
              </a:r>
              <a:endParaRPr b="0" i="0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0" name="Google Shape;220;p44"/>
          <p:cNvGrpSpPr/>
          <p:nvPr/>
        </p:nvGrpSpPr>
        <p:grpSpPr>
          <a:xfrm>
            <a:off x="0" y="4762500"/>
            <a:ext cx="9144000" cy="428775"/>
            <a:chOff x="0" y="0"/>
            <a:chExt cx="9144000" cy="428775"/>
          </a:xfrm>
        </p:grpSpPr>
        <p:sp>
          <p:nvSpPr>
            <p:cNvPr id="221" name="Google Shape;221;p44"/>
            <p:cNvSpPr/>
            <p:nvPr/>
          </p:nvSpPr>
          <p:spPr>
            <a:xfrm>
              <a:off x="0" y="0"/>
              <a:ext cx="9144000" cy="9600"/>
            </a:xfrm>
            <a:prstGeom prst="rect">
              <a:avLst/>
            </a:prstGeom>
            <a:solidFill>
              <a:srgbClr val="2B36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4"/>
            <p:cNvSpPr txBox="1"/>
            <p:nvPr/>
          </p:nvSpPr>
          <p:spPr>
            <a:xfrm>
              <a:off x="476250" y="142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 DEVELOPMENT WORKSHOP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23" name="Google Shape;223;p44"/>
            <p:cNvSpPr txBox="1"/>
            <p:nvPr/>
          </p:nvSpPr>
          <p:spPr>
            <a:xfrm>
              <a:off x="5810250" y="142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FRONT-END ROLES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224" name="Google Shape;224;p44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5"/>
          <p:cNvSpPr txBox="1"/>
          <p:nvPr/>
        </p:nvSpPr>
        <p:spPr>
          <a:xfrm>
            <a:off x="476250" y="333375"/>
            <a:ext cx="7620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D4D4D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Anatomy of an HTML Element</a:t>
            </a:r>
            <a:endParaRPr b="0" i="0" sz="2700" u="none" cap="none" strike="noStrike">
              <a:solidFill>
                <a:srgbClr val="2D374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How tags and attributes organize and structure content on the web</a:t>
            </a:r>
            <a:endParaRPr b="0" i="0" sz="1350" u="none" cap="none" strike="noStrike">
              <a:solidFill>
                <a:srgbClr val="71809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31" name="Google Shape;231;p45"/>
          <p:cNvSpPr txBox="1"/>
          <p:nvPr/>
        </p:nvSpPr>
        <p:spPr>
          <a:xfrm>
            <a:off x="476250" y="1190625"/>
            <a:ext cx="8191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HTML is a </a:t>
            </a:r>
            <a:r>
              <a:rPr b="1" i="0" lang="en" sz="1125" u="none" cap="none" strike="noStrike">
                <a:solidFill>
                  <a:srgbClr val="E34F26"/>
                </a:solidFill>
                <a:latin typeface="Inter"/>
                <a:ea typeface="Inter"/>
                <a:cs typeface="Inter"/>
                <a:sym typeface="Inter"/>
              </a:rPr>
              <a:t>markup language</a:t>
            </a:r>
            <a:r>
              <a:rPr b="0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, not a programming language. It uses defined </a:t>
            </a:r>
            <a:r>
              <a:rPr b="1" i="0" lang="en" sz="1125" u="none" cap="none" strike="noStrike">
                <a:solidFill>
                  <a:srgbClr val="264DE4"/>
                </a:solidFill>
                <a:latin typeface="Inter"/>
                <a:ea typeface="Inter"/>
                <a:cs typeface="Inter"/>
                <a:sym typeface="Inter"/>
              </a:rPr>
              <a:t>tags</a:t>
            </a:r>
            <a:r>
              <a:rPr b="0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to package and identify pieces of content for the browser.</a:t>
            </a:r>
            <a:endParaRPr b="0" i="0" sz="1125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2" name="Google Shape;232;p45"/>
          <p:cNvGrpSpPr/>
          <p:nvPr/>
        </p:nvGrpSpPr>
        <p:grpSpPr>
          <a:xfrm>
            <a:off x="476250" y="1714500"/>
            <a:ext cx="3905400" cy="2809800"/>
            <a:chOff x="476250" y="1714500"/>
            <a:chExt cx="3905400" cy="2809800"/>
          </a:xfrm>
        </p:grpSpPr>
        <p:sp>
          <p:nvSpPr>
            <p:cNvPr id="233" name="Google Shape;233;p45"/>
            <p:cNvSpPr/>
            <p:nvPr/>
          </p:nvSpPr>
          <p:spPr>
            <a:xfrm>
              <a:off x="476250" y="1714500"/>
              <a:ext cx="3905400" cy="2809800"/>
            </a:xfrm>
            <a:prstGeom prst="roundRect">
              <a:avLst>
                <a:gd fmla="val 2711" name="adj"/>
              </a:avLst>
            </a:prstGeom>
            <a:solidFill>
              <a:srgbClr val="11182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5"/>
            <p:cNvSpPr/>
            <p:nvPr/>
          </p:nvSpPr>
          <p:spPr>
            <a:xfrm>
              <a:off x="476250" y="171450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5"/>
            <p:cNvSpPr txBox="1"/>
            <p:nvPr/>
          </p:nvSpPr>
          <p:spPr>
            <a:xfrm>
              <a:off x="666750" y="1857375"/>
              <a:ext cx="3524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1" i="0" lang="en" sz="975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Standard Element Structure</a:t>
              </a:r>
              <a:endParaRPr b="1" i="0" sz="975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6" name="Google Shape;236;p45"/>
            <p:cNvSpPr/>
            <p:nvPr/>
          </p:nvSpPr>
          <p:spPr>
            <a:xfrm>
              <a:off x="666750" y="2095500"/>
              <a:ext cx="3524400" cy="857400"/>
            </a:xfrm>
            <a:prstGeom prst="roundRect">
              <a:avLst>
                <a:gd fmla="val 6666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5"/>
            <p:cNvSpPr/>
            <p:nvPr/>
          </p:nvSpPr>
          <p:spPr>
            <a:xfrm>
              <a:off x="771525" y="2200275"/>
              <a:ext cx="76200" cy="76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5"/>
            <p:cNvSpPr/>
            <p:nvPr/>
          </p:nvSpPr>
          <p:spPr>
            <a:xfrm>
              <a:off x="885825" y="2200275"/>
              <a:ext cx="76200" cy="76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5"/>
            <p:cNvSpPr/>
            <p:nvPr/>
          </p:nvSpPr>
          <p:spPr>
            <a:xfrm>
              <a:off x="1000125" y="2200275"/>
              <a:ext cx="76200" cy="76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5"/>
            <p:cNvSpPr txBox="1"/>
            <p:nvPr/>
          </p:nvSpPr>
          <p:spPr>
            <a:xfrm>
              <a:off x="666750" y="238125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733425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5"/>
                <a:buFont typeface="Arial"/>
                <a:buNone/>
              </a:pPr>
              <a:r>
                <a:rPr b="0" i="0" lang="en" sz="1575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&lt;p&gt;</a:t>
              </a:r>
              <a:r>
                <a:rPr b="0" i="0" lang="en" sz="1575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Hello World</a:t>
              </a:r>
              <a:r>
                <a:rPr b="0" i="0" lang="en" sz="1575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&lt;/p&gt;</a:t>
              </a:r>
              <a:endParaRPr b="0" i="0" sz="1575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241" name="Google Shape;241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2200" y="2714625"/>
              <a:ext cx="19200" cy="80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45"/>
            <p:cNvSpPr/>
            <p:nvPr/>
          </p:nvSpPr>
          <p:spPr>
            <a:xfrm>
              <a:off x="2343150" y="2686050"/>
              <a:ext cx="57300" cy="57300"/>
            </a:xfrm>
            <a:prstGeom prst="ellipse">
              <a:avLst/>
            </a:prstGeom>
            <a:solidFill>
              <a:srgbClr val="7180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5"/>
            <p:cNvSpPr/>
            <p:nvPr/>
          </p:nvSpPr>
          <p:spPr>
            <a:xfrm>
              <a:off x="2343150" y="3495675"/>
              <a:ext cx="57300" cy="57300"/>
            </a:xfrm>
            <a:prstGeom prst="ellipse">
              <a:avLst/>
            </a:prstGeom>
            <a:solidFill>
              <a:srgbClr val="7180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5"/>
            <p:cNvSpPr/>
            <p:nvPr/>
          </p:nvSpPr>
          <p:spPr>
            <a:xfrm>
              <a:off x="1000125" y="3095625"/>
              <a:ext cx="1143000" cy="247800"/>
            </a:xfrm>
            <a:prstGeom prst="roundRect">
              <a:avLst>
                <a:gd fmla="val 50000" name="adj"/>
              </a:avLst>
            </a:prstGeom>
            <a:solidFill>
              <a:srgbClr val="201719"/>
            </a:solidFill>
            <a:ln cap="flat" cmpd="sng" w="9525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5"/>
            <p:cNvSpPr txBox="1"/>
            <p:nvPr/>
          </p:nvSpPr>
          <p:spPr>
            <a:xfrm>
              <a:off x="1000125" y="3095625"/>
              <a:ext cx="1143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OPENING TAG</a:t>
              </a:r>
              <a:endParaRPr b="1" i="0" sz="75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6" name="Google Shape;246;p45"/>
            <p:cNvSpPr/>
            <p:nvPr/>
          </p:nvSpPr>
          <p:spPr>
            <a:xfrm>
              <a:off x="2657475" y="3095625"/>
              <a:ext cx="1143000" cy="247800"/>
            </a:xfrm>
            <a:prstGeom prst="roundRect">
              <a:avLst>
                <a:gd fmla="val 50000" name="adj"/>
              </a:avLst>
            </a:prstGeom>
            <a:solidFill>
              <a:srgbClr val="201719"/>
            </a:solidFill>
            <a:ln cap="flat" cmpd="sng" w="9525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5"/>
            <p:cNvSpPr txBox="1"/>
            <p:nvPr/>
          </p:nvSpPr>
          <p:spPr>
            <a:xfrm>
              <a:off x="2657475" y="3095625"/>
              <a:ext cx="1143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CLOSING TAG</a:t>
              </a:r>
              <a:endParaRPr b="1" i="0" sz="75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8" name="Google Shape;248;p45"/>
            <p:cNvSpPr/>
            <p:nvPr/>
          </p:nvSpPr>
          <p:spPr>
            <a:xfrm>
              <a:off x="1800225" y="3524250"/>
              <a:ext cx="1143000" cy="247800"/>
            </a:xfrm>
            <a:prstGeom prst="roundRect">
              <a:avLst>
                <a:gd fmla="val 50000" name="adj"/>
              </a:avLst>
            </a:prstGeom>
            <a:solidFill>
              <a:srgbClr val="F7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5"/>
            <p:cNvSpPr txBox="1"/>
            <p:nvPr/>
          </p:nvSpPr>
          <p:spPr>
            <a:xfrm>
              <a:off x="1800225" y="3524250"/>
              <a:ext cx="1143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CONTENT</a:t>
              </a:r>
              <a:endParaRPr b="1" i="0" sz="750" u="none" cap="none" strike="noStrike">
                <a:solidFill>
                  <a:srgbClr val="2D374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50" name="Google Shape;250;p45"/>
            <p:cNvSpPr txBox="1"/>
            <p:nvPr/>
          </p:nvSpPr>
          <p:spPr>
            <a:xfrm>
              <a:off x="666750" y="3952875"/>
              <a:ext cx="3524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Most HTML tags act as dual containers, packaging the text</a:t>
              </a:r>
              <a:endParaRPr b="0" i="0" sz="900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25"/>
                </a:spcBef>
                <a:spcAft>
                  <a:spcPts val="90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or other nested nodes inside to control formatting.</a:t>
              </a:r>
              <a:endParaRPr b="0" i="0" sz="900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1" name="Google Shape;251;p45"/>
          <p:cNvGrpSpPr/>
          <p:nvPr/>
        </p:nvGrpSpPr>
        <p:grpSpPr>
          <a:xfrm>
            <a:off x="4762500" y="1714500"/>
            <a:ext cx="3905400" cy="2809800"/>
            <a:chOff x="4762500" y="1714500"/>
            <a:chExt cx="3905400" cy="2809800"/>
          </a:xfrm>
        </p:grpSpPr>
        <p:sp>
          <p:nvSpPr>
            <p:cNvPr id="252" name="Google Shape;252;p45"/>
            <p:cNvSpPr/>
            <p:nvPr/>
          </p:nvSpPr>
          <p:spPr>
            <a:xfrm>
              <a:off x="4762500" y="1714500"/>
              <a:ext cx="3905400" cy="2809800"/>
            </a:xfrm>
            <a:prstGeom prst="roundRect">
              <a:avLst>
                <a:gd fmla="val 2711" name="adj"/>
              </a:avLst>
            </a:prstGeom>
            <a:solidFill>
              <a:srgbClr val="11182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5"/>
            <p:cNvSpPr/>
            <p:nvPr/>
          </p:nvSpPr>
          <p:spPr>
            <a:xfrm>
              <a:off x="4762500" y="171450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264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5"/>
            <p:cNvSpPr txBox="1"/>
            <p:nvPr/>
          </p:nvSpPr>
          <p:spPr>
            <a:xfrm>
              <a:off x="4953000" y="1857375"/>
              <a:ext cx="3524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1" i="0" lang="en" sz="975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Attributes &amp; Empty Tags</a:t>
              </a:r>
              <a:endParaRPr b="1" i="0" sz="975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5" name="Google Shape;255;p45"/>
            <p:cNvSpPr/>
            <p:nvPr/>
          </p:nvSpPr>
          <p:spPr>
            <a:xfrm>
              <a:off x="4953000" y="2095500"/>
              <a:ext cx="3524400" cy="857400"/>
            </a:xfrm>
            <a:prstGeom prst="roundRect">
              <a:avLst>
                <a:gd fmla="val 6666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5"/>
            <p:cNvSpPr/>
            <p:nvPr/>
          </p:nvSpPr>
          <p:spPr>
            <a:xfrm>
              <a:off x="5057775" y="2200275"/>
              <a:ext cx="76200" cy="76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5"/>
            <p:cNvSpPr/>
            <p:nvPr/>
          </p:nvSpPr>
          <p:spPr>
            <a:xfrm>
              <a:off x="5172075" y="2200275"/>
              <a:ext cx="76200" cy="76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5"/>
            <p:cNvSpPr/>
            <p:nvPr/>
          </p:nvSpPr>
          <p:spPr>
            <a:xfrm>
              <a:off x="5286375" y="2200275"/>
              <a:ext cx="76200" cy="76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5"/>
            <p:cNvSpPr txBox="1"/>
            <p:nvPr/>
          </p:nvSpPr>
          <p:spPr>
            <a:xfrm>
              <a:off x="4953000" y="24003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429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&lt;img</a:t>
              </a:r>
              <a:r>
                <a:rPr b="0" i="0" lang="en" sz="120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120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src</a:t>
              </a:r>
              <a:r>
                <a:rPr b="0" i="0" lang="en" sz="120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1200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"cat.jpg"</a:t>
              </a:r>
              <a:r>
                <a:rPr b="0" i="0" lang="en" sz="120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120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alt</a:t>
              </a:r>
              <a:r>
                <a:rPr b="0" i="0" lang="en" sz="120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1200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"A cat"</a:t>
              </a:r>
              <a:r>
                <a:rPr b="0" i="0" lang="en" sz="12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</a:t>
              </a:r>
              <a:endParaRPr b="0" i="0" sz="1200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260" name="Google Shape;260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67350" y="2714625"/>
              <a:ext cx="19200" cy="371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45"/>
            <p:cNvSpPr/>
            <p:nvPr/>
          </p:nvSpPr>
          <p:spPr>
            <a:xfrm>
              <a:off x="5448300" y="2686050"/>
              <a:ext cx="57300" cy="57300"/>
            </a:xfrm>
            <a:prstGeom prst="ellipse">
              <a:avLst/>
            </a:prstGeom>
            <a:solidFill>
              <a:srgbClr val="569C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5"/>
            <p:cNvSpPr/>
            <p:nvPr/>
          </p:nvSpPr>
          <p:spPr>
            <a:xfrm>
              <a:off x="5448300" y="3067050"/>
              <a:ext cx="57300" cy="57300"/>
            </a:xfrm>
            <a:prstGeom prst="ellipse">
              <a:avLst/>
            </a:prstGeom>
            <a:solidFill>
              <a:srgbClr val="569C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3" name="Google Shape;263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34125" y="2714625"/>
              <a:ext cx="19200" cy="80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45"/>
            <p:cNvSpPr/>
            <p:nvPr/>
          </p:nvSpPr>
          <p:spPr>
            <a:xfrm>
              <a:off x="6315075" y="2686050"/>
              <a:ext cx="57300" cy="57300"/>
            </a:xfrm>
            <a:prstGeom prst="ellipse">
              <a:avLst/>
            </a:prstGeom>
            <a:solidFill>
              <a:srgbClr val="CE91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5"/>
            <p:cNvSpPr/>
            <p:nvPr/>
          </p:nvSpPr>
          <p:spPr>
            <a:xfrm>
              <a:off x="6315075" y="3495675"/>
              <a:ext cx="57300" cy="57300"/>
            </a:xfrm>
            <a:prstGeom prst="ellipse">
              <a:avLst/>
            </a:prstGeom>
            <a:solidFill>
              <a:srgbClr val="CE91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6" name="Google Shape;266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24750" y="2714625"/>
              <a:ext cx="19200" cy="371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45"/>
            <p:cNvSpPr/>
            <p:nvPr/>
          </p:nvSpPr>
          <p:spPr>
            <a:xfrm>
              <a:off x="7505700" y="2686050"/>
              <a:ext cx="57300" cy="57300"/>
            </a:xfrm>
            <a:prstGeom prst="ellipse">
              <a:avLst/>
            </a:prstGeom>
            <a:solidFill>
              <a:srgbClr val="CE91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5"/>
            <p:cNvSpPr/>
            <p:nvPr/>
          </p:nvSpPr>
          <p:spPr>
            <a:xfrm>
              <a:off x="7505700" y="3067050"/>
              <a:ext cx="57300" cy="57300"/>
            </a:xfrm>
            <a:prstGeom prst="ellipse">
              <a:avLst/>
            </a:prstGeom>
            <a:solidFill>
              <a:srgbClr val="CE91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5"/>
            <p:cNvSpPr/>
            <p:nvPr/>
          </p:nvSpPr>
          <p:spPr>
            <a:xfrm>
              <a:off x="4905375" y="3095625"/>
              <a:ext cx="1143000" cy="247800"/>
            </a:xfrm>
            <a:prstGeom prst="roundRect">
              <a:avLst>
                <a:gd fmla="val 50000" name="adj"/>
              </a:avLst>
            </a:prstGeom>
            <a:solidFill>
              <a:srgbClr val="EBF8FF"/>
            </a:solidFill>
            <a:ln cap="flat" cmpd="sng" w="9525">
              <a:solidFill>
                <a:srgbClr val="BEE3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5"/>
            <p:cNvSpPr txBox="1"/>
            <p:nvPr/>
          </p:nvSpPr>
          <p:spPr>
            <a:xfrm>
              <a:off x="4905375" y="3095625"/>
              <a:ext cx="1143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264DE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TAG NAME</a:t>
              </a:r>
              <a:endParaRPr b="1" i="0" sz="750" u="none" cap="none" strike="noStrike">
                <a:solidFill>
                  <a:srgbClr val="264DE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71" name="Google Shape;271;p45"/>
            <p:cNvSpPr/>
            <p:nvPr/>
          </p:nvSpPr>
          <p:spPr>
            <a:xfrm>
              <a:off x="6962775" y="3095625"/>
              <a:ext cx="1143000" cy="247800"/>
            </a:xfrm>
            <a:prstGeom prst="roundRect">
              <a:avLst>
                <a:gd fmla="val 50000" name="adj"/>
              </a:avLst>
            </a:prstGeom>
            <a:solidFill>
              <a:srgbClr val="FEFCBF"/>
            </a:solidFill>
            <a:ln cap="flat" cmpd="sng" w="9525">
              <a:solidFill>
                <a:srgbClr val="FEEB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5"/>
            <p:cNvSpPr txBox="1"/>
            <p:nvPr/>
          </p:nvSpPr>
          <p:spPr>
            <a:xfrm>
              <a:off x="6962775" y="3095625"/>
              <a:ext cx="1143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C0562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ATTRIBUTE</a:t>
              </a:r>
              <a:endParaRPr b="1" i="0" sz="750" u="none" cap="none" strike="noStrike">
                <a:solidFill>
                  <a:srgbClr val="C0562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73" name="Google Shape;273;p45"/>
            <p:cNvSpPr/>
            <p:nvPr/>
          </p:nvSpPr>
          <p:spPr>
            <a:xfrm>
              <a:off x="5772150" y="3524250"/>
              <a:ext cx="1143000" cy="247800"/>
            </a:xfrm>
            <a:prstGeom prst="roundRect">
              <a:avLst>
                <a:gd fmla="val 50000" name="adj"/>
              </a:avLst>
            </a:prstGeom>
            <a:solidFill>
              <a:srgbClr val="FEFCBF"/>
            </a:solidFill>
            <a:ln cap="flat" cmpd="sng" w="9525">
              <a:solidFill>
                <a:srgbClr val="FEEB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5"/>
            <p:cNvSpPr txBox="1"/>
            <p:nvPr/>
          </p:nvSpPr>
          <p:spPr>
            <a:xfrm>
              <a:off x="5772150" y="3524250"/>
              <a:ext cx="1143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C0562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ATTRIBUTE</a:t>
              </a:r>
              <a:endParaRPr b="1" i="0" sz="750" u="none" cap="none" strike="noStrike">
                <a:solidFill>
                  <a:srgbClr val="C0562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75" name="Google Shape;275;p45"/>
            <p:cNvSpPr txBox="1"/>
            <p:nvPr/>
          </p:nvSpPr>
          <p:spPr>
            <a:xfrm>
              <a:off x="4953000" y="3952875"/>
              <a:ext cx="3524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Attributes supply metadata inside the opening tag. Self-closing</a:t>
              </a:r>
              <a:endParaRPr b="0" i="0" sz="900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25"/>
                </a:spcBef>
                <a:spcAft>
                  <a:spcPts val="90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empty tags (like &lt;img&gt;) require no content or closing tag.</a:t>
              </a:r>
              <a:endParaRPr b="0" i="0" sz="900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6" name="Google Shape;276;p45"/>
          <p:cNvGrpSpPr/>
          <p:nvPr/>
        </p:nvGrpSpPr>
        <p:grpSpPr>
          <a:xfrm>
            <a:off x="0" y="4762500"/>
            <a:ext cx="9144000" cy="428775"/>
            <a:chOff x="0" y="0"/>
            <a:chExt cx="9144000" cy="428775"/>
          </a:xfrm>
        </p:grpSpPr>
        <p:sp>
          <p:nvSpPr>
            <p:cNvPr id="277" name="Google Shape;277;p45"/>
            <p:cNvSpPr/>
            <p:nvPr/>
          </p:nvSpPr>
          <p:spPr>
            <a:xfrm>
              <a:off x="0" y="0"/>
              <a:ext cx="9144000" cy="9600"/>
            </a:xfrm>
            <a:prstGeom prst="rect">
              <a:avLst/>
            </a:prstGeom>
            <a:solidFill>
              <a:srgbClr val="2B36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5"/>
            <p:cNvSpPr txBox="1"/>
            <p:nvPr/>
          </p:nvSpPr>
          <p:spPr>
            <a:xfrm>
              <a:off x="476250" y="142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 DEVELOPMENT WORKSHOP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79" name="Google Shape;279;p45"/>
            <p:cNvSpPr txBox="1"/>
            <p:nvPr/>
          </p:nvSpPr>
          <p:spPr>
            <a:xfrm>
              <a:off x="7715250" y="142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HTML BASICS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280" name="Google Shape;280;p45" title="Technical Council Orientation Presentation 202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" name="Google Shape;286;p46"/>
          <p:cNvGrpSpPr/>
          <p:nvPr/>
        </p:nvGrpSpPr>
        <p:grpSpPr>
          <a:xfrm>
            <a:off x="0" y="4762500"/>
            <a:ext cx="9144000" cy="428775"/>
            <a:chOff x="0" y="0"/>
            <a:chExt cx="9144000" cy="428775"/>
          </a:xfrm>
        </p:grpSpPr>
        <p:sp>
          <p:nvSpPr>
            <p:cNvPr id="287" name="Google Shape;287;p46"/>
            <p:cNvSpPr/>
            <p:nvPr/>
          </p:nvSpPr>
          <p:spPr>
            <a:xfrm>
              <a:off x="0" y="0"/>
              <a:ext cx="9144000" cy="9600"/>
            </a:xfrm>
            <a:prstGeom prst="rect">
              <a:avLst/>
            </a:prstGeom>
            <a:solidFill>
              <a:srgbClr val="2B36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6"/>
            <p:cNvSpPr txBox="1"/>
            <p:nvPr/>
          </p:nvSpPr>
          <p:spPr>
            <a:xfrm>
              <a:off x="476250" y="142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 DEVELOPMENT WORKSHOP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89" name="Google Shape;289;p46"/>
            <p:cNvSpPr txBox="1"/>
            <p:nvPr/>
          </p:nvSpPr>
          <p:spPr>
            <a:xfrm>
              <a:off x="7715250" y="142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HTML BASICS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90" name="Google Shape;290;p46"/>
          <p:cNvSpPr txBox="1"/>
          <p:nvPr/>
        </p:nvSpPr>
        <p:spPr>
          <a:xfrm>
            <a:off x="476250" y="285750"/>
            <a:ext cx="7429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D4D4D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Your First Website</a:t>
            </a:r>
            <a:endParaRPr b="0" i="0" sz="2400" u="none" cap="none" strike="noStrike">
              <a:solidFill>
                <a:srgbClr val="2D374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Set up your workspace and write your first HTML file</a:t>
            </a:r>
            <a:endParaRPr b="0" i="0" sz="1200" u="none" cap="none" strike="noStrike">
              <a:solidFill>
                <a:srgbClr val="71809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91" name="Google Shape;291;p46"/>
          <p:cNvGrpSpPr/>
          <p:nvPr/>
        </p:nvGrpSpPr>
        <p:grpSpPr>
          <a:xfrm>
            <a:off x="571500" y="1143000"/>
            <a:ext cx="1857300" cy="285900"/>
            <a:chOff x="0" y="0"/>
            <a:chExt cx="1857300" cy="285900"/>
          </a:xfrm>
        </p:grpSpPr>
        <p:sp>
          <p:nvSpPr>
            <p:cNvPr id="292" name="Google Shape;292;p46"/>
            <p:cNvSpPr/>
            <p:nvPr/>
          </p:nvSpPr>
          <p:spPr>
            <a:xfrm>
              <a:off x="0" y="0"/>
              <a:ext cx="1857300" cy="285900"/>
            </a:xfrm>
            <a:prstGeom prst="roundRect">
              <a:avLst>
                <a:gd fmla="val 20000" name="adj"/>
              </a:avLst>
            </a:prstGeom>
            <a:solidFill>
              <a:srgbClr val="11182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6"/>
            <p:cNvSpPr/>
            <p:nvPr/>
          </p:nvSpPr>
          <p:spPr>
            <a:xfrm>
              <a:off x="0" y="0"/>
              <a:ext cx="304800" cy="285900"/>
            </a:xfrm>
            <a:custGeom>
              <a:rect b="b" l="l" r="r" t="t"/>
              <a:pathLst>
                <a:path extrusionOk="0" h="120000" w="120000">
                  <a:moveTo>
                    <a:pt x="0" y="24000"/>
                  </a:moveTo>
                  <a:cubicBezTo>
                    <a:pt x="0" y="10745"/>
                    <a:pt x="10074" y="0"/>
                    <a:pt x="225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22500" y="120000"/>
                  </a:lnTo>
                  <a:cubicBezTo>
                    <a:pt x="10074" y="120000"/>
                    <a:pt x="0" y="109255"/>
                    <a:pt x="0" y="96000"/>
                  </a:cubicBezTo>
                  <a:close/>
                </a:path>
              </a:pathLst>
            </a:custGeom>
            <a:solidFill>
              <a:srgbClr val="2D37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6"/>
            <p:cNvSpPr txBox="1"/>
            <p:nvPr/>
          </p:nvSpPr>
          <p:spPr>
            <a:xfrm>
              <a:off x="0" y="0"/>
              <a:ext cx="30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b="1" i="0" sz="82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95" name="Google Shape;295;p46"/>
            <p:cNvSpPr txBox="1"/>
            <p:nvPr/>
          </p:nvSpPr>
          <p:spPr>
            <a:xfrm>
              <a:off x="400050" y="0"/>
              <a:ext cx="1381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Create Folder</a:t>
              </a:r>
              <a:endParaRPr b="1" i="0" sz="825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6" name="Google Shape;296;p46"/>
          <p:cNvGrpSpPr/>
          <p:nvPr/>
        </p:nvGrpSpPr>
        <p:grpSpPr>
          <a:xfrm>
            <a:off x="2619375" y="1143000"/>
            <a:ext cx="1857300" cy="285900"/>
            <a:chOff x="0" y="0"/>
            <a:chExt cx="1857300" cy="285900"/>
          </a:xfrm>
        </p:grpSpPr>
        <p:sp>
          <p:nvSpPr>
            <p:cNvPr id="297" name="Google Shape;297;p46"/>
            <p:cNvSpPr/>
            <p:nvPr/>
          </p:nvSpPr>
          <p:spPr>
            <a:xfrm>
              <a:off x="0" y="0"/>
              <a:ext cx="1857300" cy="285900"/>
            </a:xfrm>
            <a:prstGeom prst="roundRect">
              <a:avLst>
                <a:gd fmla="val 20000" name="adj"/>
              </a:avLst>
            </a:prstGeom>
            <a:solidFill>
              <a:srgbClr val="11182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6"/>
            <p:cNvSpPr/>
            <p:nvPr/>
          </p:nvSpPr>
          <p:spPr>
            <a:xfrm>
              <a:off x="0" y="0"/>
              <a:ext cx="304800" cy="285900"/>
            </a:xfrm>
            <a:custGeom>
              <a:rect b="b" l="l" r="r" t="t"/>
              <a:pathLst>
                <a:path extrusionOk="0" h="120000" w="120000">
                  <a:moveTo>
                    <a:pt x="0" y="24000"/>
                  </a:moveTo>
                  <a:cubicBezTo>
                    <a:pt x="0" y="10745"/>
                    <a:pt x="10074" y="0"/>
                    <a:pt x="225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22500" y="120000"/>
                  </a:lnTo>
                  <a:cubicBezTo>
                    <a:pt x="10074" y="120000"/>
                    <a:pt x="0" y="109255"/>
                    <a:pt x="0" y="96000"/>
                  </a:cubicBezTo>
                  <a:close/>
                </a:path>
              </a:pathLst>
            </a:custGeom>
            <a:solidFill>
              <a:srgbClr val="2D37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6"/>
            <p:cNvSpPr txBox="1"/>
            <p:nvPr/>
          </p:nvSpPr>
          <p:spPr>
            <a:xfrm>
              <a:off x="0" y="0"/>
              <a:ext cx="30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b="1" i="0" sz="82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00" name="Google Shape;300;p46"/>
            <p:cNvSpPr txBox="1"/>
            <p:nvPr/>
          </p:nvSpPr>
          <p:spPr>
            <a:xfrm>
              <a:off x="400050" y="0"/>
              <a:ext cx="1381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index.html</a:t>
              </a:r>
              <a:endParaRPr b="1" i="0" sz="825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1" name="Google Shape;301;p46"/>
          <p:cNvGrpSpPr/>
          <p:nvPr/>
        </p:nvGrpSpPr>
        <p:grpSpPr>
          <a:xfrm>
            <a:off x="4667250" y="1143000"/>
            <a:ext cx="1857300" cy="285900"/>
            <a:chOff x="0" y="0"/>
            <a:chExt cx="1857300" cy="285900"/>
          </a:xfrm>
        </p:grpSpPr>
        <p:sp>
          <p:nvSpPr>
            <p:cNvPr id="302" name="Google Shape;302;p46"/>
            <p:cNvSpPr/>
            <p:nvPr/>
          </p:nvSpPr>
          <p:spPr>
            <a:xfrm>
              <a:off x="0" y="0"/>
              <a:ext cx="1857300" cy="285900"/>
            </a:xfrm>
            <a:prstGeom prst="roundRect">
              <a:avLst>
                <a:gd fmla="val 20000" name="adj"/>
              </a:avLst>
            </a:prstGeom>
            <a:solidFill>
              <a:srgbClr val="11182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6"/>
            <p:cNvSpPr/>
            <p:nvPr/>
          </p:nvSpPr>
          <p:spPr>
            <a:xfrm>
              <a:off x="0" y="0"/>
              <a:ext cx="304800" cy="285900"/>
            </a:xfrm>
            <a:custGeom>
              <a:rect b="b" l="l" r="r" t="t"/>
              <a:pathLst>
                <a:path extrusionOk="0" h="120000" w="120000">
                  <a:moveTo>
                    <a:pt x="0" y="24000"/>
                  </a:moveTo>
                  <a:cubicBezTo>
                    <a:pt x="0" y="10745"/>
                    <a:pt x="10074" y="0"/>
                    <a:pt x="225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22500" y="120000"/>
                  </a:lnTo>
                  <a:cubicBezTo>
                    <a:pt x="10074" y="120000"/>
                    <a:pt x="0" y="109255"/>
                    <a:pt x="0" y="96000"/>
                  </a:cubicBezTo>
                  <a:close/>
                </a:path>
              </a:pathLst>
            </a:custGeom>
            <a:solidFill>
              <a:srgbClr val="2D37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6"/>
            <p:cNvSpPr txBox="1"/>
            <p:nvPr/>
          </p:nvSpPr>
          <p:spPr>
            <a:xfrm>
              <a:off x="0" y="0"/>
              <a:ext cx="30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b="1" i="0" sz="82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05" name="Google Shape;305;p46"/>
            <p:cNvSpPr txBox="1"/>
            <p:nvPr/>
          </p:nvSpPr>
          <p:spPr>
            <a:xfrm>
              <a:off x="400050" y="0"/>
              <a:ext cx="1381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Open in Editor</a:t>
              </a:r>
              <a:endParaRPr b="1" i="0" sz="825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6" name="Google Shape;306;p46"/>
          <p:cNvGrpSpPr/>
          <p:nvPr/>
        </p:nvGrpSpPr>
        <p:grpSpPr>
          <a:xfrm>
            <a:off x="6715125" y="1143000"/>
            <a:ext cx="1857300" cy="285900"/>
            <a:chOff x="0" y="0"/>
            <a:chExt cx="1857300" cy="285900"/>
          </a:xfrm>
        </p:grpSpPr>
        <p:sp>
          <p:nvSpPr>
            <p:cNvPr id="307" name="Google Shape;307;p46"/>
            <p:cNvSpPr/>
            <p:nvPr/>
          </p:nvSpPr>
          <p:spPr>
            <a:xfrm>
              <a:off x="0" y="0"/>
              <a:ext cx="1857300" cy="285900"/>
            </a:xfrm>
            <a:prstGeom prst="roundRect">
              <a:avLst>
                <a:gd fmla="val 20000" name="adj"/>
              </a:avLst>
            </a:prstGeom>
            <a:solidFill>
              <a:srgbClr val="201719"/>
            </a:solidFill>
            <a:ln cap="flat" cmpd="sng" w="14300">
              <a:solidFill>
                <a:srgbClr val="E34F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6"/>
            <p:cNvSpPr/>
            <p:nvPr/>
          </p:nvSpPr>
          <p:spPr>
            <a:xfrm>
              <a:off x="0" y="0"/>
              <a:ext cx="304800" cy="285900"/>
            </a:xfrm>
            <a:custGeom>
              <a:rect b="b" l="l" r="r" t="t"/>
              <a:pathLst>
                <a:path extrusionOk="0" h="120000" w="120000">
                  <a:moveTo>
                    <a:pt x="0" y="24000"/>
                  </a:moveTo>
                  <a:cubicBezTo>
                    <a:pt x="0" y="10745"/>
                    <a:pt x="10074" y="0"/>
                    <a:pt x="225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22500" y="120000"/>
                  </a:lnTo>
                  <a:cubicBezTo>
                    <a:pt x="10074" y="120000"/>
                    <a:pt x="0" y="109255"/>
                    <a:pt x="0" y="96000"/>
                  </a:cubicBezTo>
                  <a:close/>
                </a:path>
              </a:pathLst>
            </a:cu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6"/>
            <p:cNvSpPr txBox="1"/>
            <p:nvPr/>
          </p:nvSpPr>
          <p:spPr>
            <a:xfrm>
              <a:off x="0" y="0"/>
              <a:ext cx="30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b="1" i="0" sz="82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10" name="Google Shape;310;p46"/>
            <p:cNvSpPr txBox="1"/>
            <p:nvPr/>
          </p:nvSpPr>
          <p:spPr>
            <a:xfrm>
              <a:off x="400050" y="0"/>
              <a:ext cx="1381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E34F26"/>
                  </a:solidFill>
                  <a:latin typeface="Inter"/>
                  <a:ea typeface="Inter"/>
                  <a:cs typeface="Inter"/>
                  <a:sym typeface="Inter"/>
                </a:rPr>
                <a:t>Refresh Browser</a:t>
              </a:r>
              <a:endParaRPr b="1" i="0" sz="825" u="none" cap="none" strike="noStrike">
                <a:solidFill>
                  <a:srgbClr val="E34F2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1" name="Google Shape;311;p46"/>
          <p:cNvGrpSpPr/>
          <p:nvPr/>
        </p:nvGrpSpPr>
        <p:grpSpPr>
          <a:xfrm>
            <a:off x="476250" y="1571625"/>
            <a:ext cx="8191500" cy="2095500"/>
            <a:chOff x="0" y="0"/>
            <a:chExt cx="8191500" cy="2095500"/>
          </a:xfrm>
        </p:grpSpPr>
        <p:sp>
          <p:nvSpPr>
            <p:cNvPr id="312" name="Google Shape;312;p46"/>
            <p:cNvSpPr/>
            <p:nvPr/>
          </p:nvSpPr>
          <p:spPr>
            <a:xfrm>
              <a:off x="0" y="0"/>
              <a:ext cx="8191500" cy="2095500"/>
            </a:xfrm>
            <a:prstGeom prst="roundRect">
              <a:avLst>
                <a:gd fmla="val 3636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6"/>
            <p:cNvSpPr/>
            <p:nvPr/>
          </p:nvSpPr>
          <p:spPr>
            <a:xfrm>
              <a:off x="0" y="0"/>
              <a:ext cx="8191500" cy="304800"/>
            </a:xfrm>
            <a:prstGeom prst="roundRect">
              <a:avLst>
                <a:gd fmla="val 25000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6"/>
            <p:cNvSpPr/>
            <p:nvPr/>
          </p:nvSpPr>
          <p:spPr>
            <a:xfrm>
              <a:off x="0" y="190500"/>
              <a:ext cx="8191500" cy="114300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" name="Google Shape;315;p46"/>
            <p:cNvGrpSpPr/>
            <p:nvPr/>
          </p:nvGrpSpPr>
          <p:grpSpPr>
            <a:xfrm>
              <a:off x="171450" y="95250"/>
              <a:ext cx="495300" cy="114300"/>
              <a:chOff x="57150" y="57150"/>
              <a:chExt cx="495300" cy="114300"/>
            </a:xfrm>
          </p:grpSpPr>
          <p:sp>
            <p:nvSpPr>
              <p:cNvPr id="316" name="Google Shape;316;p46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46"/>
              <p:cNvSpPr/>
              <p:nvPr/>
            </p:nvSpPr>
            <p:spPr>
              <a:xfrm>
                <a:off x="247650" y="57150"/>
                <a:ext cx="114300" cy="1143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46"/>
              <p:cNvSpPr/>
              <p:nvPr/>
            </p:nvSpPr>
            <p:spPr>
              <a:xfrm>
                <a:off x="438150" y="57150"/>
                <a:ext cx="114300" cy="1143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9" name="Google Shape;319;p46"/>
            <p:cNvSpPr txBox="1"/>
            <p:nvPr/>
          </p:nvSpPr>
          <p:spPr>
            <a:xfrm>
              <a:off x="0" y="57150"/>
              <a:ext cx="819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A0AEC0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index.html</a:t>
              </a:r>
              <a:endParaRPr b="0" i="0" sz="825" u="none" cap="none" strike="noStrike">
                <a:solidFill>
                  <a:srgbClr val="A0AEC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320" name="Google Shape;320;p46"/>
            <p:cNvSpPr txBox="1"/>
            <p:nvPr/>
          </p:nvSpPr>
          <p:spPr>
            <a:xfrm>
              <a:off x="238125" y="428625"/>
              <a:ext cx="77154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2"/>
                <a:buFont typeface="Arial"/>
                <a:buNone/>
              </a:pP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&lt;!DOCTYPE</a:t>
              </a:r>
              <a:r>
                <a:rPr b="0" i="0" lang="en" sz="902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902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html</a:t>
              </a: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</a:t>
              </a:r>
              <a:endParaRPr b="0" i="0" sz="902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2"/>
                <a:buFont typeface="Arial"/>
                <a:buNone/>
              </a:pP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&lt;html</a:t>
              </a:r>
              <a:r>
                <a:rPr b="0" i="0" lang="en" sz="902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902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lang</a:t>
              </a:r>
              <a:r>
                <a:rPr b="0" i="0" lang="en" sz="902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902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"en"</a:t>
              </a: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</a:t>
              </a:r>
              <a:endParaRPr b="0" i="0" sz="902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2"/>
                <a:buFont typeface="Arial"/>
                <a:buNone/>
              </a:pP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&lt;head&gt;</a:t>
              </a:r>
              <a:endParaRPr b="0" i="0" sz="902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2"/>
                <a:buFont typeface="Arial"/>
                <a:buNone/>
              </a:pP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&lt;title&gt;</a:t>
              </a:r>
              <a:r>
                <a:rPr b="0" i="0" lang="en" sz="902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My First Website</a:t>
              </a: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&lt;/title&gt;</a:t>
              </a:r>
              <a:endParaRPr b="0" i="0" sz="902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2"/>
                <a:buFont typeface="Arial"/>
                <a:buNone/>
              </a:pP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&lt;/head&gt;</a:t>
              </a:r>
              <a:endParaRPr b="0" i="0" sz="902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2"/>
                <a:buFont typeface="Arial"/>
                <a:buNone/>
              </a:pP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&lt;body&gt;</a:t>
              </a:r>
              <a:endParaRPr b="0" i="0" sz="902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2"/>
                <a:buFont typeface="Arial"/>
                <a:buNone/>
              </a:pP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&lt;h1&gt;</a:t>
              </a:r>
              <a:r>
                <a:rPr b="0" i="0" lang="en" sz="902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Hello World!</a:t>
              </a: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&lt;/h1&gt;</a:t>
              </a:r>
              <a:endParaRPr b="0" i="0" sz="902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2"/>
                <a:buFont typeface="Arial"/>
                <a:buNone/>
              </a:pP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&lt;/body&gt;</a:t>
              </a:r>
              <a:endParaRPr b="0" i="0" sz="902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902"/>
                <a:buFont typeface="Arial"/>
                <a:buNone/>
              </a:pPr>
              <a:r>
                <a:rPr b="0" i="0" lang="en" sz="902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&lt;/html&gt;</a:t>
              </a:r>
              <a:endParaRPr b="0" i="0" sz="902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21" name="Google Shape;321;p46"/>
          <p:cNvGrpSpPr/>
          <p:nvPr/>
        </p:nvGrpSpPr>
        <p:grpSpPr>
          <a:xfrm>
            <a:off x="476250" y="3810000"/>
            <a:ext cx="8191500" cy="809700"/>
            <a:chOff x="0" y="0"/>
            <a:chExt cx="8191500" cy="809700"/>
          </a:xfrm>
        </p:grpSpPr>
        <p:sp>
          <p:nvSpPr>
            <p:cNvPr id="322" name="Google Shape;322;p46"/>
            <p:cNvSpPr/>
            <p:nvPr/>
          </p:nvSpPr>
          <p:spPr>
            <a:xfrm>
              <a:off x="0" y="0"/>
              <a:ext cx="8191500" cy="809700"/>
            </a:xfrm>
            <a:prstGeom prst="roundRect">
              <a:avLst>
                <a:gd fmla="val 9411" name="adj"/>
              </a:avLst>
            </a:prstGeom>
            <a:solidFill>
              <a:srgbClr val="201719"/>
            </a:solidFill>
            <a:ln cap="flat" cmpd="sng" w="14300">
              <a:solidFill>
                <a:srgbClr val="E34F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0" y="0"/>
              <a:ext cx="952500" cy="228600"/>
            </a:xfrm>
            <a:prstGeom prst="roundRect">
              <a:avLst>
                <a:gd fmla="val 25000" name="adj"/>
              </a:avLst>
            </a:pr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0" y="114300"/>
              <a:ext cx="952500" cy="114300"/>
            </a:xfrm>
            <a:prstGeom prst="rect">
              <a:avLst/>
            </a:pr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 txBox="1"/>
            <p:nvPr/>
          </p:nvSpPr>
          <p:spPr>
            <a:xfrm>
              <a:off x="0" y="38100"/>
              <a:ext cx="952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EXERCISE 1</a:t>
              </a:r>
              <a:endParaRPr b="1" i="0" sz="7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grpSp>
          <p:nvGrpSpPr>
            <p:cNvPr id="326" name="Google Shape;326;p46"/>
            <p:cNvGrpSpPr/>
            <p:nvPr/>
          </p:nvGrpSpPr>
          <p:grpSpPr>
            <a:xfrm>
              <a:off x="161925" y="381000"/>
              <a:ext cx="266700" cy="266700"/>
              <a:chOff x="19050" y="19050"/>
              <a:chExt cx="266700" cy="266700"/>
            </a:xfrm>
          </p:grpSpPr>
          <p:sp>
            <p:nvSpPr>
              <p:cNvPr id="327" name="Google Shape;327;p46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E34F26">
                  <a:alpha val="10196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46"/>
              <p:cNvSpPr/>
              <p:nvPr/>
            </p:nvSpPr>
            <p:spPr>
              <a:xfrm>
                <a:off x="57150" y="57150"/>
                <a:ext cx="190500" cy="180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78000" y="44211"/>
                    </a:lnTo>
                    <a:lnTo>
                      <a:pt x="120000" y="44211"/>
                    </a:lnTo>
                    <a:lnTo>
                      <a:pt x="84000" y="72632"/>
                    </a:lnTo>
                    <a:lnTo>
                      <a:pt x="96000" y="120000"/>
                    </a:lnTo>
                    <a:lnTo>
                      <a:pt x="60000" y="91579"/>
                    </a:lnTo>
                    <a:lnTo>
                      <a:pt x="24000" y="120000"/>
                    </a:lnTo>
                    <a:lnTo>
                      <a:pt x="36000" y="72632"/>
                    </a:lnTo>
                    <a:lnTo>
                      <a:pt x="0" y="44211"/>
                    </a:lnTo>
                    <a:lnTo>
                      <a:pt x="42000" y="44211"/>
                    </a:lnTo>
                    <a:lnTo>
                      <a:pt x="60000" y="0"/>
                    </a:lnTo>
                    <a:close/>
                  </a:path>
                </a:pathLst>
              </a:custGeom>
              <a:solidFill>
                <a:srgbClr val="E34F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9" name="Google Shape;329;p46"/>
            <p:cNvSpPr txBox="1"/>
            <p:nvPr/>
          </p:nvSpPr>
          <p:spPr>
            <a:xfrm>
              <a:off x="523875" y="304800"/>
              <a:ext cx="7429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Create your first HTML page using this template in VS Code and view it in Chrome!</a:t>
              </a:r>
              <a:endParaRPr b="1" i="0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30" name="Google Shape;330;p46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7"/>
          <p:cNvSpPr txBox="1"/>
          <p:nvPr/>
        </p:nvSpPr>
        <p:spPr>
          <a:xfrm>
            <a:off x="476250" y="381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" sz="2550" u="none" cap="none" strike="noStrike">
                <a:solidFill>
                  <a:srgbClr val="D4D4D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Document Structure</a:t>
            </a:r>
            <a:endParaRPr b="0" i="0" sz="2550" u="none" cap="none" strike="noStrike">
              <a:solidFill>
                <a:srgbClr val="2D374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Use structural tags for document flow.</a:t>
            </a:r>
            <a:endParaRPr b="0" i="0" sz="1350" u="none" cap="none" strike="noStrike">
              <a:solidFill>
                <a:srgbClr val="71809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337" name="Google Shape;337;p47"/>
          <p:cNvGrpSpPr/>
          <p:nvPr/>
        </p:nvGrpSpPr>
        <p:grpSpPr>
          <a:xfrm>
            <a:off x="476250" y="1333500"/>
            <a:ext cx="3905400" cy="2952900"/>
            <a:chOff x="0" y="0"/>
            <a:chExt cx="3905400" cy="2952900"/>
          </a:xfrm>
        </p:grpSpPr>
        <p:sp>
          <p:nvSpPr>
            <p:cNvPr id="338" name="Google Shape;338;p47"/>
            <p:cNvSpPr/>
            <p:nvPr/>
          </p:nvSpPr>
          <p:spPr>
            <a:xfrm>
              <a:off x="0" y="0"/>
              <a:ext cx="3905400" cy="2952900"/>
            </a:xfrm>
            <a:prstGeom prst="roundRect">
              <a:avLst>
                <a:gd fmla="val 2580" name="adj"/>
              </a:avLst>
            </a:prstGeom>
            <a:solidFill>
              <a:srgbClr val="111820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7"/>
            <p:cNvSpPr/>
            <p:nvPr/>
          </p:nvSpPr>
          <p:spPr>
            <a:xfrm>
              <a:off x="0" y="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264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7"/>
            <p:cNvSpPr txBox="1"/>
            <p:nvPr/>
          </p:nvSpPr>
          <p:spPr>
            <a:xfrm>
              <a:off x="238125" y="238125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" sz="1350" u="none" cap="none" strike="noStrike">
                  <a:solidFill>
                    <a:srgbClr val="264DE4"/>
                  </a:solidFill>
                  <a:latin typeface="Inter"/>
                  <a:ea typeface="Inter"/>
                  <a:cs typeface="Inter"/>
                  <a:sym typeface="Inter"/>
                </a:rPr>
                <a:t>Structural Elements</a:t>
              </a:r>
              <a:endParaRPr b="1" i="0" sz="1350" u="none" cap="none" strike="noStrike">
                <a:solidFill>
                  <a:srgbClr val="264DE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These foundational tags define block layout and layout separation:</a:t>
              </a:r>
              <a:endParaRPr b="0" i="0" sz="1050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264DE4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Headings: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" sz="1050" u="none" cap="none" strike="noStrike">
                  <a:solidFill>
                    <a:srgbClr val="264DE4"/>
                  </a:solidFill>
                  <a:highlight>
                    <a:srgbClr val="F0F4FF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&lt;h1&gt;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(main) to </a:t>
              </a:r>
              <a:r>
                <a:rPr b="0" i="0" lang="en" sz="1050" u="none" cap="none" strike="noStrike">
                  <a:solidFill>
                    <a:srgbClr val="264DE4"/>
                  </a:solidFill>
                  <a:highlight>
                    <a:srgbClr val="F0F4FF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&lt;h6&gt;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(smallest)</a:t>
              </a:r>
              <a:endParaRPr b="0" i="0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264DE4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Paragraphs: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" sz="1050" u="none" cap="none" strike="noStrike">
                  <a:solidFill>
                    <a:srgbClr val="264DE4"/>
                  </a:solidFill>
                  <a:highlight>
                    <a:srgbClr val="F0F4FF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&lt;p&gt;</a:t>
              </a:r>
              <a:endParaRPr b="0" i="0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264DE4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Spacing: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" sz="1050" u="none" cap="none" strike="noStrike">
                  <a:solidFill>
                    <a:srgbClr val="264DE4"/>
                  </a:solidFill>
                  <a:highlight>
                    <a:srgbClr val="F0F4FF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&lt;br&gt;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(line break), </a:t>
              </a:r>
              <a:r>
                <a:rPr b="0" i="0" lang="en" sz="1050" u="none" cap="none" strike="noStrike">
                  <a:solidFill>
                    <a:srgbClr val="264DE4"/>
                  </a:solidFill>
                  <a:highlight>
                    <a:srgbClr val="F0F4FF"/>
                  </a:highlight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&lt;hr&gt;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(horizontal rule)</a:t>
              </a:r>
              <a:endParaRPr b="0" i="0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1" name="Google Shape;341;p47"/>
          <p:cNvGrpSpPr/>
          <p:nvPr/>
        </p:nvGrpSpPr>
        <p:grpSpPr>
          <a:xfrm>
            <a:off x="4762500" y="1333500"/>
            <a:ext cx="3905400" cy="2952900"/>
            <a:chOff x="0" y="0"/>
            <a:chExt cx="3905400" cy="2952900"/>
          </a:xfrm>
        </p:grpSpPr>
        <p:sp>
          <p:nvSpPr>
            <p:cNvPr id="342" name="Google Shape;342;p47"/>
            <p:cNvSpPr/>
            <p:nvPr/>
          </p:nvSpPr>
          <p:spPr>
            <a:xfrm>
              <a:off x="0" y="0"/>
              <a:ext cx="3905400" cy="2952900"/>
            </a:xfrm>
            <a:prstGeom prst="roundRect">
              <a:avLst>
                <a:gd fmla="val 2580" name="adj"/>
              </a:avLst>
            </a:prstGeom>
            <a:solidFill>
              <a:srgbClr val="201719"/>
            </a:solidFill>
            <a:ln cap="flat" cmpd="sng" w="19050">
              <a:solidFill>
                <a:srgbClr val="E34F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3" name="Google Shape;343;p47"/>
            <p:cNvGrpSpPr/>
            <p:nvPr/>
          </p:nvGrpSpPr>
          <p:grpSpPr>
            <a:xfrm>
              <a:off x="0" y="0"/>
              <a:ext cx="1047900" cy="247800"/>
              <a:chOff x="0" y="0"/>
              <a:chExt cx="1047900" cy="247800"/>
            </a:xfrm>
          </p:grpSpPr>
          <p:sp>
            <p:nvSpPr>
              <p:cNvPr id="344" name="Google Shape;344;p47"/>
              <p:cNvSpPr/>
              <p:nvPr/>
            </p:nvSpPr>
            <p:spPr>
              <a:xfrm>
                <a:off x="0" y="0"/>
                <a:ext cx="1047900" cy="247800"/>
              </a:xfrm>
              <a:prstGeom prst="roundRect">
                <a:avLst>
                  <a:gd fmla="val 30769" name="adj"/>
                </a:avLst>
              </a:prstGeom>
              <a:solidFill>
                <a:srgbClr val="E34F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47"/>
              <p:cNvSpPr/>
              <p:nvPr/>
            </p:nvSpPr>
            <p:spPr>
              <a:xfrm>
                <a:off x="0" y="123825"/>
                <a:ext cx="1047900" cy="123900"/>
              </a:xfrm>
              <a:prstGeom prst="rect">
                <a:avLst/>
              </a:prstGeom>
              <a:solidFill>
                <a:srgbClr val="E34F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47"/>
              <p:cNvSpPr txBox="1"/>
              <p:nvPr/>
            </p:nvSpPr>
            <p:spPr>
              <a:xfrm>
                <a:off x="0" y="57150"/>
                <a:ext cx="1047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n" sz="825" u="none" cap="none" strike="noStrike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EXERCISE 2</a:t>
                </a:r>
                <a:endParaRPr b="1" i="0" sz="825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347" name="Google Shape;347;p47"/>
            <p:cNvGrpSpPr/>
            <p:nvPr/>
          </p:nvGrpSpPr>
          <p:grpSpPr>
            <a:xfrm>
              <a:off x="257175" y="542925"/>
              <a:ext cx="266700" cy="266700"/>
              <a:chOff x="19050" y="19050"/>
              <a:chExt cx="266700" cy="266700"/>
            </a:xfrm>
          </p:grpSpPr>
          <p:sp>
            <p:nvSpPr>
              <p:cNvPr id="348" name="Google Shape;348;p47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E34F26">
                  <a:alpha val="10196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47"/>
              <p:cNvSpPr/>
              <p:nvPr/>
            </p:nvSpPr>
            <p:spPr>
              <a:xfrm>
                <a:off x="57150" y="57150"/>
                <a:ext cx="190500" cy="180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78000" y="44211"/>
                    </a:lnTo>
                    <a:lnTo>
                      <a:pt x="120000" y="44211"/>
                    </a:lnTo>
                    <a:lnTo>
                      <a:pt x="84000" y="72632"/>
                    </a:lnTo>
                    <a:lnTo>
                      <a:pt x="96000" y="120000"/>
                    </a:lnTo>
                    <a:lnTo>
                      <a:pt x="60000" y="91579"/>
                    </a:lnTo>
                    <a:lnTo>
                      <a:pt x="24000" y="120000"/>
                    </a:lnTo>
                    <a:lnTo>
                      <a:pt x="36000" y="72632"/>
                    </a:lnTo>
                    <a:lnTo>
                      <a:pt x="0" y="44211"/>
                    </a:lnTo>
                    <a:lnTo>
                      <a:pt x="42000" y="44211"/>
                    </a:lnTo>
                    <a:lnTo>
                      <a:pt x="60000" y="0"/>
                    </a:lnTo>
                    <a:close/>
                  </a:path>
                </a:pathLst>
              </a:custGeom>
              <a:solidFill>
                <a:srgbClr val="E34F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0" name="Google Shape;350;p47"/>
            <p:cNvSpPr txBox="1"/>
            <p:nvPr/>
          </p:nvSpPr>
          <p:spPr>
            <a:xfrm>
              <a:off x="714375" y="476250"/>
              <a:ext cx="29529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" sz="1350" u="none" cap="none" strike="noStrike">
                  <a:solidFill>
                    <a:srgbClr val="E34F26"/>
                  </a:solidFill>
                  <a:latin typeface="Inter"/>
                  <a:ea typeface="Inter"/>
                  <a:cs typeface="Inter"/>
                  <a:sym typeface="Inter"/>
                </a:rPr>
                <a:t>Create a Personal Intro</a:t>
              </a:r>
              <a:endParaRPr b="1" i="0" sz="1350" u="none" cap="none" strike="noStrike">
                <a:solidFill>
                  <a:srgbClr val="E34F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Apply what you have learned to structure your first section of web content:</a:t>
              </a:r>
              <a:endParaRPr b="0" i="0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chemeClr val="dk1"/>
                  </a:solidFill>
                  <a:highlight>
                    <a:srgbClr val="FFF0F0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Create a personal intro with a title, 3 headings of different levels, and 3 paragraphs.</a:t>
              </a:r>
              <a:endParaRPr b="0" i="0" sz="975" u="none" cap="none" strike="noStrike">
                <a:solidFill>
                  <a:schemeClr val="dk1"/>
                </a:solidFill>
                <a:highlight>
                  <a:srgbClr val="FFF0F0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51" name="Google Shape;351;p47"/>
          <p:cNvGrpSpPr/>
          <p:nvPr/>
        </p:nvGrpSpPr>
        <p:grpSpPr>
          <a:xfrm>
            <a:off x="0" y="4762500"/>
            <a:ext cx="9144000" cy="428775"/>
            <a:chOff x="0" y="0"/>
            <a:chExt cx="9144000" cy="428775"/>
          </a:xfrm>
        </p:grpSpPr>
        <p:sp>
          <p:nvSpPr>
            <p:cNvPr id="352" name="Google Shape;352;p47"/>
            <p:cNvSpPr/>
            <p:nvPr/>
          </p:nvSpPr>
          <p:spPr>
            <a:xfrm>
              <a:off x="0" y="0"/>
              <a:ext cx="9144000" cy="9600"/>
            </a:xfrm>
            <a:prstGeom prst="rect">
              <a:avLst/>
            </a:prstGeom>
            <a:solidFill>
              <a:srgbClr val="2B36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7"/>
            <p:cNvSpPr txBox="1"/>
            <p:nvPr/>
          </p:nvSpPr>
          <p:spPr>
            <a:xfrm>
              <a:off x="476250" y="142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 DEVELOPMENT WORKSHOP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54" name="Google Shape;354;p47"/>
            <p:cNvSpPr txBox="1"/>
            <p:nvPr/>
          </p:nvSpPr>
          <p:spPr>
            <a:xfrm>
              <a:off x="7715250" y="142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HTML BASICS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355" name="Google Shape;355;p47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8"/>
          <p:cNvSpPr txBox="1"/>
          <p:nvPr/>
        </p:nvSpPr>
        <p:spPr>
          <a:xfrm>
            <a:off x="476250" y="381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D4D4D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Formatting Text &amp; Creating Links</a:t>
            </a:r>
            <a:endParaRPr b="0" i="0" sz="2700" u="none" cap="none" strike="noStrike">
              <a:solidFill>
                <a:srgbClr val="2D374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Semantic markup vs structure syntax in modern HTML</a:t>
            </a:r>
            <a:endParaRPr b="0" i="0" sz="1500" u="none" cap="none" strike="noStrike">
              <a:solidFill>
                <a:srgbClr val="71809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62" name="Google Shape;362;p48"/>
          <p:cNvSpPr txBox="1"/>
          <p:nvPr/>
        </p:nvSpPr>
        <p:spPr>
          <a:xfrm>
            <a:off x="476250" y="1333500"/>
            <a:ext cx="3714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9"/>
              <a:buFont typeface="Arial"/>
              <a:buNone/>
            </a:pPr>
            <a:r>
              <a:rPr b="1" i="0" lang="en" sz="1249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Semantic Inline Formatting</a:t>
            </a:r>
            <a:endParaRPr b="1" i="0" sz="1249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041"/>
              <a:buFont typeface="Arial"/>
              <a:buNone/>
            </a:pPr>
            <a:r>
              <a:rPr b="0" i="0" lang="en" sz="1041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Semantic elements convey the importance and meaning of content to both browsers and screen readers, whereas physical styling tags only alter visual appearance.</a:t>
            </a:r>
            <a:endParaRPr b="0" i="0" sz="1041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0833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Char char="●"/>
            </a:pPr>
            <a:r>
              <a:rPr b="0" i="0" lang="en" sz="971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&lt;strong&gt;</a:t>
            </a:r>
            <a:r>
              <a:rPr b="0" i="0" lang="en" sz="1041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vs </a:t>
            </a:r>
            <a:r>
              <a:rPr b="0" i="0" lang="en" sz="971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&lt;b&gt;</a:t>
            </a:r>
            <a:br>
              <a:rPr b="0" i="0" lang="en" sz="1041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Both render bold, but </a:t>
            </a:r>
            <a:r>
              <a:rPr b="0" i="0" lang="en" sz="833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&lt;strong&gt;</a:t>
            </a:r>
            <a:r>
              <a:rPr b="0" i="0" lang="en" sz="90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indicates heavy semantic importance.</a:t>
            </a:r>
            <a:endParaRPr b="0" i="0" sz="1041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0833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95"/>
              <a:buFont typeface="Arial"/>
              <a:buChar char="●"/>
            </a:pPr>
            <a:r>
              <a:rPr b="0" i="0" lang="en" sz="971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&lt;em&gt;</a:t>
            </a:r>
            <a:r>
              <a:rPr b="0" i="0" lang="en" sz="1041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vs </a:t>
            </a:r>
            <a:r>
              <a:rPr b="0" i="0" lang="en" sz="971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&lt;i&gt;</a:t>
            </a:r>
            <a:br>
              <a:rPr b="0" i="0" lang="en" sz="1041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Both italicize, but </a:t>
            </a:r>
            <a:r>
              <a:rPr b="0" i="0" lang="en" sz="833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&lt;em&gt;</a:t>
            </a:r>
            <a:r>
              <a:rPr b="0" i="0" lang="en" sz="90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adds structural verbal emphasis.</a:t>
            </a:r>
            <a:endParaRPr b="0" i="0" sz="1041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48"/>
          <p:cNvSpPr/>
          <p:nvPr/>
        </p:nvSpPr>
        <p:spPr>
          <a:xfrm>
            <a:off x="4562475" y="1333500"/>
            <a:ext cx="19200" cy="1809600"/>
          </a:xfrm>
          <a:prstGeom prst="rect">
            <a:avLst/>
          </a:prstGeom>
          <a:solidFill>
            <a:srgbClr val="2B364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8"/>
          <p:cNvSpPr txBox="1"/>
          <p:nvPr/>
        </p:nvSpPr>
        <p:spPr>
          <a:xfrm>
            <a:off x="4857750" y="13335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Anchor Links Syntax</a:t>
            </a:r>
            <a:endParaRPr b="1" i="0" sz="1350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Hyperlinks are built using the </a:t>
            </a:r>
            <a:r>
              <a:rPr b="0" i="0" lang="en" sz="105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&lt;a&gt;</a:t>
            </a:r>
            <a:r>
              <a:rPr b="0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tag. Key attributes like </a:t>
            </a:r>
            <a:r>
              <a:rPr b="0" i="0" lang="en" sz="105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specify the destination while </a:t>
            </a:r>
            <a:r>
              <a:rPr b="0" i="0" lang="en" sz="105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target</a:t>
            </a:r>
            <a:r>
              <a:rPr b="0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controls window behavior.</a:t>
            </a:r>
            <a:endParaRPr b="0" i="0" sz="1125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" sz="975" u="none" cap="none" strike="noStrike">
                <a:solidFill>
                  <a:srgbClr val="569CD6"/>
                </a:solidFill>
                <a:highlight>
                  <a:srgbClr val="1E1E1E"/>
                </a:highlight>
                <a:latin typeface="Roboto Mono"/>
                <a:ea typeface="Roboto Mono"/>
                <a:cs typeface="Roboto Mono"/>
                <a:sym typeface="Roboto Mono"/>
              </a:rPr>
              <a:t>&lt;a</a:t>
            </a:r>
            <a:r>
              <a:rPr b="0" i="0" lang="en" sz="975" u="none" cap="none" strike="noStrike">
                <a:solidFill>
                  <a:srgbClr val="D4D4D4"/>
                </a:solidFill>
                <a:highlight>
                  <a:srgbClr val="1E1E1E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9CDCFE"/>
                </a:solidFill>
                <a:highlight>
                  <a:srgbClr val="1E1E1E"/>
                </a:highlight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0" i="0" lang="en" sz="975" u="none" cap="none" strike="noStrike">
                <a:solidFill>
                  <a:srgbClr val="D4D4D4"/>
                </a:solidFill>
                <a:highlight>
                  <a:srgbClr val="1E1E1E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n" sz="975" u="none" cap="none" strike="noStrike">
                <a:solidFill>
                  <a:srgbClr val="CE9178"/>
                </a:solidFill>
                <a:highlight>
                  <a:srgbClr val="1E1E1E"/>
                </a:highlight>
                <a:latin typeface="Roboto Mono"/>
                <a:ea typeface="Roboto Mono"/>
                <a:cs typeface="Roboto Mono"/>
                <a:sym typeface="Roboto Mono"/>
              </a:rPr>
              <a:t>"url"</a:t>
            </a:r>
            <a:r>
              <a:rPr b="0" i="0" lang="en" sz="975" u="none" cap="none" strike="noStrike">
                <a:solidFill>
                  <a:srgbClr val="D4D4D4"/>
                </a:solidFill>
                <a:highlight>
                  <a:srgbClr val="1E1E1E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9CDCFE"/>
                </a:solidFill>
                <a:highlight>
                  <a:srgbClr val="1E1E1E"/>
                </a:highlight>
                <a:latin typeface="Roboto Mono"/>
                <a:ea typeface="Roboto Mono"/>
                <a:cs typeface="Roboto Mono"/>
                <a:sym typeface="Roboto Mono"/>
              </a:rPr>
              <a:t>target</a:t>
            </a:r>
            <a:r>
              <a:rPr b="0" i="0" lang="en" sz="975" u="none" cap="none" strike="noStrike">
                <a:solidFill>
                  <a:srgbClr val="D4D4D4"/>
                </a:solidFill>
                <a:highlight>
                  <a:srgbClr val="1E1E1E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n" sz="975" u="none" cap="none" strike="noStrike">
                <a:solidFill>
                  <a:srgbClr val="CE9178"/>
                </a:solidFill>
                <a:highlight>
                  <a:srgbClr val="1E1E1E"/>
                </a:highlight>
                <a:latin typeface="Roboto Mono"/>
                <a:ea typeface="Roboto Mono"/>
                <a:cs typeface="Roboto Mono"/>
                <a:sym typeface="Roboto Mono"/>
              </a:rPr>
              <a:t>"_blank"</a:t>
            </a:r>
            <a:r>
              <a:rPr b="0" i="0" lang="en" sz="975" u="none" cap="none" strike="noStrike">
                <a:solidFill>
                  <a:srgbClr val="569CD6"/>
                </a:solidFill>
                <a:highlight>
                  <a:srgbClr val="1E1E1E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b="0" i="0" lang="en" sz="975" u="none" cap="none" strike="noStrike">
                <a:solidFill>
                  <a:srgbClr val="D4D4D4"/>
                </a:solidFill>
                <a:highlight>
                  <a:srgbClr val="1E1E1E"/>
                </a:highlight>
                <a:latin typeface="Roboto Mono"/>
                <a:ea typeface="Roboto Mono"/>
                <a:cs typeface="Roboto Mono"/>
                <a:sym typeface="Roboto Mono"/>
              </a:rPr>
              <a:t>Link Text</a:t>
            </a:r>
            <a:r>
              <a:rPr b="0" i="0" lang="en" sz="975" u="none" cap="none" strike="noStrike">
                <a:solidFill>
                  <a:srgbClr val="569CD6"/>
                </a:solidFill>
                <a:highlight>
                  <a:srgbClr val="1E1E1E"/>
                </a:highlight>
                <a:latin typeface="Roboto Mono"/>
                <a:ea typeface="Roboto Mono"/>
                <a:cs typeface="Roboto Mono"/>
                <a:sym typeface="Roboto Mono"/>
              </a:rPr>
              <a:t>&lt;/a&gt;</a:t>
            </a:r>
            <a:endParaRPr b="0" i="0" sz="975" u="none" cap="none" strike="noStrike">
              <a:solidFill>
                <a:srgbClr val="D4D4D4"/>
              </a:solidFill>
              <a:highlight>
                <a:srgbClr val="1E1E1E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Common Link Types:</a:t>
            </a:r>
            <a:br>
              <a:rPr b="0" i="0" lang="en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External: </a:t>
            </a:r>
            <a:r>
              <a:rPr b="0" i="0" lang="en" sz="105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[link removed]</a:t>
            </a:r>
            <a:r>
              <a:rPr b="0" i="0" lang="en" sz="10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r>
              <a:rPr b="0" i="0" lang="en" sz="10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Internal Page: </a:t>
            </a:r>
            <a:r>
              <a:rPr b="0" i="0" lang="en" sz="105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#section-id</a:t>
            </a:r>
            <a:br>
              <a:rPr b="0" i="0" lang="en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• Email: </a:t>
            </a:r>
            <a:r>
              <a:rPr b="0" i="0" lang="en" sz="105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mailto:name@xyz.com</a:t>
            </a:r>
            <a:r>
              <a:rPr b="0" i="0" lang="en" sz="10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r>
              <a:rPr b="0" i="0" lang="en" sz="10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Phone: </a:t>
            </a:r>
            <a:r>
              <a:rPr b="0" i="0" lang="en" sz="105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tel:+1234...</a:t>
            </a:r>
            <a:endParaRPr b="0" i="0" sz="1050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65" name="Google Shape;365;p48"/>
          <p:cNvGrpSpPr/>
          <p:nvPr/>
        </p:nvGrpSpPr>
        <p:grpSpPr>
          <a:xfrm>
            <a:off x="476250" y="3381375"/>
            <a:ext cx="8191500" cy="1047900"/>
            <a:chOff x="0" y="0"/>
            <a:chExt cx="8191500" cy="1047900"/>
          </a:xfrm>
        </p:grpSpPr>
        <p:sp>
          <p:nvSpPr>
            <p:cNvPr id="366" name="Google Shape;366;p48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7272" name="adj"/>
              </a:avLst>
            </a:prstGeom>
            <a:solidFill>
              <a:srgbClr val="201719"/>
            </a:solidFill>
            <a:ln cap="flat" cmpd="sng" w="19050">
              <a:solidFill>
                <a:srgbClr val="E34F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8"/>
            <p:cNvSpPr/>
            <p:nvPr/>
          </p:nvSpPr>
          <p:spPr>
            <a:xfrm>
              <a:off x="0" y="0"/>
              <a:ext cx="1143000" cy="266700"/>
            </a:xfrm>
            <a:prstGeom prst="roundRect">
              <a:avLst>
                <a:gd fmla="val 28571" name="adj"/>
              </a:avLst>
            </a:pr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8"/>
            <p:cNvSpPr/>
            <p:nvPr/>
          </p:nvSpPr>
          <p:spPr>
            <a:xfrm>
              <a:off x="0" y="142875"/>
              <a:ext cx="1143000" cy="123900"/>
            </a:xfrm>
            <a:prstGeom prst="rect">
              <a:avLst/>
            </a:pr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8"/>
            <p:cNvSpPr txBox="1"/>
            <p:nvPr/>
          </p:nvSpPr>
          <p:spPr>
            <a:xfrm>
              <a:off x="0" y="47625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EXERCISE 3</a:t>
              </a:r>
              <a:endParaRPr b="1" i="0" sz="82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grpSp>
          <p:nvGrpSpPr>
            <p:cNvPr id="370" name="Google Shape;370;p48"/>
            <p:cNvGrpSpPr/>
            <p:nvPr/>
          </p:nvGrpSpPr>
          <p:grpSpPr>
            <a:xfrm>
              <a:off x="209550" y="476250"/>
              <a:ext cx="266700" cy="266700"/>
              <a:chOff x="19050" y="19050"/>
              <a:chExt cx="266700" cy="266700"/>
            </a:xfrm>
          </p:grpSpPr>
          <p:sp>
            <p:nvSpPr>
              <p:cNvPr id="371" name="Google Shape;371;p48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E34F26">
                  <a:alpha val="10196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48"/>
              <p:cNvSpPr/>
              <p:nvPr/>
            </p:nvSpPr>
            <p:spPr>
              <a:xfrm>
                <a:off x="57150" y="57150"/>
                <a:ext cx="190500" cy="180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78000" y="44211"/>
                    </a:lnTo>
                    <a:lnTo>
                      <a:pt x="120000" y="44211"/>
                    </a:lnTo>
                    <a:lnTo>
                      <a:pt x="84000" y="72632"/>
                    </a:lnTo>
                    <a:lnTo>
                      <a:pt x="96000" y="120000"/>
                    </a:lnTo>
                    <a:lnTo>
                      <a:pt x="60000" y="91579"/>
                    </a:lnTo>
                    <a:lnTo>
                      <a:pt x="24000" y="120000"/>
                    </a:lnTo>
                    <a:lnTo>
                      <a:pt x="36000" y="72632"/>
                    </a:lnTo>
                    <a:lnTo>
                      <a:pt x="0" y="44211"/>
                    </a:lnTo>
                    <a:lnTo>
                      <a:pt x="42000" y="44211"/>
                    </a:lnTo>
                    <a:lnTo>
                      <a:pt x="60000" y="0"/>
                    </a:lnTo>
                    <a:close/>
                  </a:path>
                </a:pathLst>
              </a:custGeom>
              <a:solidFill>
                <a:srgbClr val="E34F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3" name="Google Shape;373;p48"/>
            <p:cNvSpPr txBox="1"/>
            <p:nvPr/>
          </p:nvSpPr>
          <p:spPr>
            <a:xfrm>
              <a:off x="666750" y="361950"/>
              <a:ext cx="723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E34F26"/>
                  </a:solidFill>
                  <a:latin typeface="Inter"/>
                  <a:ea typeface="Inter"/>
                  <a:cs typeface="Inter"/>
                  <a:sym typeface="Inter"/>
                </a:rPr>
                <a:t>Add an external link and an email link to your introduction.</a:t>
              </a:r>
              <a:endParaRPr b="1" i="0" sz="1200" u="none" cap="none" strike="noStrike">
                <a:solidFill>
                  <a:srgbClr val="E34F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Incorporate an anchor tag linking to an outside resource and another using the </a:t>
              </a:r>
              <a:r>
                <a:rPr b="0" i="0" lang="en" sz="900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mailto:</a:t>
              </a:r>
              <a:r>
                <a:rPr b="0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protocol inside your main content intro block.</a:t>
              </a:r>
              <a:endParaRPr b="0" i="0" sz="1050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4" name="Google Shape;374;p48"/>
          <p:cNvGrpSpPr/>
          <p:nvPr/>
        </p:nvGrpSpPr>
        <p:grpSpPr>
          <a:xfrm>
            <a:off x="0" y="4762500"/>
            <a:ext cx="9144000" cy="428775"/>
            <a:chOff x="0" y="0"/>
            <a:chExt cx="9144000" cy="428775"/>
          </a:xfrm>
        </p:grpSpPr>
        <p:sp>
          <p:nvSpPr>
            <p:cNvPr id="375" name="Google Shape;375;p48"/>
            <p:cNvSpPr/>
            <p:nvPr/>
          </p:nvSpPr>
          <p:spPr>
            <a:xfrm>
              <a:off x="0" y="0"/>
              <a:ext cx="9144000" cy="9600"/>
            </a:xfrm>
            <a:prstGeom prst="rect">
              <a:avLst/>
            </a:prstGeom>
            <a:solidFill>
              <a:srgbClr val="2B36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8"/>
            <p:cNvSpPr txBox="1"/>
            <p:nvPr/>
          </p:nvSpPr>
          <p:spPr>
            <a:xfrm>
              <a:off x="476250" y="142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 DEVELOPMENT WORKSHOP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377" name="Google Shape;377;p48"/>
            <p:cNvSpPr txBox="1"/>
            <p:nvPr/>
          </p:nvSpPr>
          <p:spPr>
            <a:xfrm>
              <a:off x="7715250" y="142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HTML BASICS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378" name="Google Shape;378;p48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9"/>
          <p:cNvSpPr txBox="1"/>
          <p:nvPr/>
        </p:nvSpPr>
        <p:spPr>
          <a:xfrm>
            <a:off x="476250" y="428625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D4D4D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HTML Lists &amp; Images</a:t>
            </a:r>
            <a:endParaRPr b="0" i="0" sz="2700" u="none" cap="none" strike="noStrike">
              <a:solidFill>
                <a:srgbClr val="2D374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Structuring document lists and embedding visual media assets</a:t>
            </a:r>
            <a:endParaRPr b="0" i="0" sz="1500" u="none" cap="none" strike="noStrike">
              <a:solidFill>
                <a:srgbClr val="71809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385" name="Google Shape;385;p49"/>
          <p:cNvGrpSpPr/>
          <p:nvPr/>
        </p:nvGrpSpPr>
        <p:grpSpPr>
          <a:xfrm>
            <a:off x="476250" y="1381125"/>
            <a:ext cx="3952800" cy="2952900"/>
            <a:chOff x="476250" y="1381125"/>
            <a:chExt cx="3952800" cy="2952900"/>
          </a:xfrm>
        </p:grpSpPr>
        <p:sp>
          <p:nvSpPr>
            <p:cNvPr id="386" name="Google Shape;386;p49"/>
            <p:cNvSpPr/>
            <p:nvPr/>
          </p:nvSpPr>
          <p:spPr>
            <a:xfrm>
              <a:off x="476250" y="1381125"/>
              <a:ext cx="3952800" cy="2952900"/>
            </a:xfrm>
            <a:prstGeom prst="roundRect">
              <a:avLst>
                <a:gd fmla="val 2580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9"/>
            <p:cNvSpPr/>
            <p:nvPr/>
          </p:nvSpPr>
          <p:spPr>
            <a:xfrm>
              <a:off x="476250" y="1381125"/>
              <a:ext cx="3952800" cy="342900"/>
            </a:xfrm>
            <a:prstGeom prst="roundRect">
              <a:avLst>
                <a:gd fmla="val 22222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9"/>
            <p:cNvSpPr/>
            <p:nvPr/>
          </p:nvSpPr>
          <p:spPr>
            <a:xfrm>
              <a:off x="476250" y="1571625"/>
              <a:ext cx="3952800" cy="152400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9"/>
            <p:cNvSpPr/>
            <p:nvPr/>
          </p:nvSpPr>
          <p:spPr>
            <a:xfrm>
              <a:off x="619125" y="150495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9"/>
            <p:cNvSpPr/>
            <p:nvPr/>
          </p:nvSpPr>
          <p:spPr>
            <a:xfrm>
              <a:off x="771525" y="150495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9"/>
            <p:cNvSpPr/>
            <p:nvPr/>
          </p:nvSpPr>
          <p:spPr>
            <a:xfrm>
              <a:off x="923925" y="150495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9"/>
            <p:cNvSpPr txBox="1"/>
            <p:nvPr/>
          </p:nvSpPr>
          <p:spPr>
            <a:xfrm>
              <a:off x="1190625" y="1447800"/>
              <a:ext cx="190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94A3B8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index.html</a:t>
              </a:r>
              <a:endParaRPr b="0" i="0" sz="825" u="none" cap="none" strike="noStrike">
                <a:solidFill>
                  <a:srgbClr val="858585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393" name="Google Shape;393;p49"/>
            <p:cNvSpPr txBox="1"/>
            <p:nvPr/>
          </p:nvSpPr>
          <p:spPr>
            <a:xfrm>
              <a:off x="714375" y="1857375"/>
              <a:ext cx="34767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1" lang="en" sz="727" u="none" cap="none" strike="noStrike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&lt;!-- Unordered List --&gt;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&lt;ul&gt;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&lt;li&gt;</a:t>
              </a:r>
              <a:r>
                <a:rPr b="0" i="0" lang="en" sz="727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Unordered</a:t>
              </a: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&lt;/li&gt;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&lt;/ul&gt;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1" lang="en" sz="727" u="none" cap="none" strike="noStrike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&lt;!-- Ordered List --&gt;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&lt;ol&gt;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&lt;li&gt;</a:t>
              </a:r>
              <a:r>
                <a:rPr b="0" i="0" lang="en" sz="727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Ordered</a:t>
              </a: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&lt;/li&gt;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&lt;/ol&gt;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1" lang="en" sz="727" u="none" cap="none" strike="noStrike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&lt;!-- Description List --&gt;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&lt;dl&gt;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&lt;dt&gt;</a:t>
              </a:r>
              <a:r>
                <a:rPr b="0" i="0" lang="en" sz="727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Description</a:t>
              </a: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&lt;/dt&gt;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&lt;dd&gt;</a:t>
              </a:r>
              <a:r>
                <a:rPr b="0" i="0" lang="en" sz="727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Details</a:t>
              </a: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&lt;/dd&gt;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&lt;/dl&gt;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1" lang="en" sz="727" u="none" cap="none" strike="noStrike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&lt;!-- Embedding Images --&gt;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60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&lt;img</a:t>
              </a:r>
              <a:r>
                <a:rPr b="0" i="0" lang="en" sz="727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727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src</a:t>
              </a:r>
              <a:r>
                <a:rPr b="0" i="0" lang="en" sz="727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727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"image.jpg"</a:t>
              </a:r>
              <a:r>
                <a:rPr b="0" i="0" lang="en" sz="727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727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alt</a:t>
              </a:r>
              <a:r>
                <a:rPr b="0" i="0" lang="en" sz="727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727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"Description"</a:t>
              </a:r>
              <a:r>
                <a:rPr b="0" i="0" lang="en" sz="727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</a:t>
              </a:r>
              <a:endParaRPr b="0" i="0" sz="727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94" name="Google Shape;394;p49"/>
          <p:cNvGrpSpPr/>
          <p:nvPr/>
        </p:nvGrpSpPr>
        <p:grpSpPr>
          <a:xfrm>
            <a:off x="4714875" y="1381125"/>
            <a:ext cx="3952800" cy="2952900"/>
            <a:chOff x="4714875" y="1381125"/>
            <a:chExt cx="3952800" cy="2952900"/>
          </a:xfrm>
        </p:grpSpPr>
        <p:sp>
          <p:nvSpPr>
            <p:cNvPr id="395" name="Google Shape;395;p49"/>
            <p:cNvSpPr/>
            <p:nvPr/>
          </p:nvSpPr>
          <p:spPr>
            <a:xfrm>
              <a:off x="4714875" y="1381125"/>
              <a:ext cx="3952800" cy="2952900"/>
            </a:xfrm>
            <a:prstGeom prst="roundRect">
              <a:avLst>
                <a:gd fmla="val 2580" name="adj"/>
              </a:avLst>
            </a:prstGeom>
            <a:solidFill>
              <a:srgbClr val="111820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9"/>
            <p:cNvSpPr/>
            <p:nvPr/>
          </p:nvSpPr>
          <p:spPr>
            <a:xfrm>
              <a:off x="4714875" y="1381125"/>
              <a:ext cx="3952800" cy="342900"/>
            </a:xfrm>
            <a:prstGeom prst="roundRect">
              <a:avLst>
                <a:gd fmla="val 22222" name="adj"/>
              </a:avLst>
            </a:prstGeom>
            <a:solidFill>
              <a:srgbClr val="161D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9"/>
            <p:cNvSpPr/>
            <p:nvPr/>
          </p:nvSpPr>
          <p:spPr>
            <a:xfrm>
              <a:off x="4714875" y="1571625"/>
              <a:ext cx="3952800" cy="152400"/>
            </a:xfrm>
            <a:prstGeom prst="rect">
              <a:avLst/>
            </a:prstGeom>
            <a:solidFill>
              <a:srgbClr val="161D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9"/>
            <p:cNvSpPr/>
            <p:nvPr/>
          </p:nvSpPr>
          <p:spPr>
            <a:xfrm>
              <a:off x="4867275" y="1514475"/>
              <a:ext cx="76200" cy="76200"/>
            </a:xfrm>
            <a:prstGeom prst="ellipse">
              <a:avLst/>
            </a:prstGeom>
            <a:solidFill>
              <a:srgbClr val="3541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9"/>
            <p:cNvSpPr/>
            <p:nvPr/>
          </p:nvSpPr>
          <p:spPr>
            <a:xfrm>
              <a:off x="5010150" y="1514475"/>
              <a:ext cx="76200" cy="76200"/>
            </a:xfrm>
            <a:prstGeom prst="ellipse">
              <a:avLst/>
            </a:prstGeom>
            <a:solidFill>
              <a:srgbClr val="3541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9"/>
            <p:cNvSpPr/>
            <p:nvPr/>
          </p:nvSpPr>
          <p:spPr>
            <a:xfrm>
              <a:off x="5153025" y="1514475"/>
              <a:ext cx="76200" cy="76200"/>
            </a:xfrm>
            <a:prstGeom prst="ellipse">
              <a:avLst/>
            </a:prstGeom>
            <a:solidFill>
              <a:srgbClr val="3541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9"/>
            <p:cNvSpPr/>
            <p:nvPr/>
          </p:nvSpPr>
          <p:spPr>
            <a:xfrm>
              <a:off x="5381625" y="1457325"/>
              <a:ext cx="3095700" cy="190500"/>
            </a:xfrm>
            <a:prstGeom prst="roundRect">
              <a:avLst>
                <a:gd fmla="val 20000" name="adj"/>
              </a:avLst>
            </a:prstGeom>
            <a:solidFill>
              <a:srgbClr val="111820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9"/>
            <p:cNvSpPr txBox="1"/>
            <p:nvPr/>
          </p:nvSpPr>
          <p:spPr>
            <a:xfrm>
              <a:off x="5476875" y="1476375"/>
              <a:ext cx="2857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localhost:3000</a:t>
              </a:r>
              <a:endParaRPr b="0" i="0" sz="7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403" name="Google Shape;403;p49"/>
            <p:cNvSpPr txBox="1"/>
            <p:nvPr/>
          </p:nvSpPr>
          <p:spPr>
            <a:xfrm>
              <a:off x="4953000" y="1857375"/>
              <a:ext cx="34767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Lists Rendered Preview</a:t>
              </a:r>
              <a:endParaRPr b="1" i="0" sz="750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0513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2D3748"/>
                </a:buClr>
                <a:buSzPts val="975"/>
                <a:buFont typeface="Inter"/>
                <a:buChar char="●"/>
              </a:pPr>
              <a:r>
                <a:rPr b="0" i="0" lang="en" sz="900" u="none" cap="none" strike="noStrike">
                  <a:solidFill>
                    <a:srgbClr val="D4D4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Unordered list item</a:t>
              </a:r>
              <a:endParaRPr b="0" i="0" sz="900" u="none" cap="none" strike="noStrike">
                <a:solidFill>
                  <a:srgbClr val="2D374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0513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2D3748"/>
                </a:buClr>
                <a:buSzPts val="975"/>
                <a:buFont typeface="Inter"/>
                <a:buAutoNum type="arabicPeriod"/>
              </a:pPr>
              <a:r>
                <a:rPr b="0" i="0" lang="en" sz="900" u="none" cap="none" strike="noStrike">
                  <a:solidFill>
                    <a:srgbClr val="D4D4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Ordered list item</a:t>
              </a:r>
              <a:endParaRPr b="0" i="0" sz="900" u="none" cap="none" strike="noStrike">
                <a:solidFill>
                  <a:srgbClr val="2D374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47625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Description term Definition details</a:t>
              </a:r>
              <a:endParaRPr b="0" i="0" sz="975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04" name="Google Shape;404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43475" y="3228975"/>
              <a:ext cx="3495600" cy="87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49"/>
            <p:cNvSpPr/>
            <p:nvPr/>
          </p:nvSpPr>
          <p:spPr>
            <a:xfrm>
              <a:off x="5095875" y="3381375"/>
              <a:ext cx="762000" cy="571500"/>
            </a:xfrm>
            <a:prstGeom prst="roundRect">
              <a:avLst>
                <a:gd fmla="val 5000" name="adj"/>
              </a:avLst>
            </a:pr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9"/>
            <p:cNvSpPr/>
            <p:nvPr/>
          </p:nvSpPr>
          <p:spPr>
            <a:xfrm>
              <a:off x="5534025" y="3486150"/>
              <a:ext cx="76200" cy="76200"/>
            </a:xfrm>
            <a:prstGeom prst="ellipse">
              <a:avLst/>
            </a:prstGeom>
            <a:solidFill>
              <a:srgbClr val="1118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9"/>
            <p:cNvSpPr/>
            <p:nvPr/>
          </p:nvSpPr>
          <p:spPr>
            <a:xfrm>
              <a:off x="5191125" y="3667125"/>
              <a:ext cx="381000" cy="2859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111820">
                <a:alpha val="90196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9"/>
            <p:cNvSpPr/>
            <p:nvPr/>
          </p:nvSpPr>
          <p:spPr>
            <a:xfrm>
              <a:off x="5381625" y="3571875"/>
              <a:ext cx="381000" cy="3810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111820">
                <a:alpha val="74902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9"/>
            <p:cNvSpPr txBox="1"/>
            <p:nvPr/>
          </p:nvSpPr>
          <p:spPr>
            <a:xfrm>
              <a:off x="6000750" y="3409950"/>
              <a:ext cx="2286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1" i="0" lang="en" sz="97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image.jpg</a:t>
              </a:r>
              <a:endParaRPr b="1" i="0" sz="975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Alt tag: </a:t>
              </a:r>
              <a:r>
                <a:rPr b="0" i="0" lang="en" sz="825" u="none" cap="none" strike="noStrike">
                  <a:solidFill>
                    <a:srgbClr val="E34F2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"Description"</a:t>
              </a:r>
              <a:endParaRPr b="0" i="0" sz="825" u="none" cap="none" strike="noStrike">
                <a:solidFill>
                  <a:srgbClr val="718096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10" name="Google Shape;410;p49"/>
          <p:cNvGrpSpPr/>
          <p:nvPr/>
        </p:nvGrpSpPr>
        <p:grpSpPr>
          <a:xfrm>
            <a:off x="0" y="4762500"/>
            <a:ext cx="9144000" cy="428775"/>
            <a:chOff x="0" y="0"/>
            <a:chExt cx="9144000" cy="428775"/>
          </a:xfrm>
        </p:grpSpPr>
        <p:sp>
          <p:nvSpPr>
            <p:cNvPr id="411" name="Google Shape;411;p49"/>
            <p:cNvSpPr/>
            <p:nvPr/>
          </p:nvSpPr>
          <p:spPr>
            <a:xfrm>
              <a:off x="0" y="0"/>
              <a:ext cx="9144000" cy="9600"/>
            </a:xfrm>
            <a:prstGeom prst="rect">
              <a:avLst/>
            </a:prstGeom>
            <a:solidFill>
              <a:srgbClr val="2B36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9"/>
            <p:cNvSpPr txBox="1"/>
            <p:nvPr/>
          </p:nvSpPr>
          <p:spPr>
            <a:xfrm>
              <a:off x="476250" y="142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 DEVELOPMENT WORKSHOP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13" name="Google Shape;413;p49"/>
            <p:cNvSpPr txBox="1"/>
            <p:nvPr/>
          </p:nvSpPr>
          <p:spPr>
            <a:xfrm>
              <a:off x="7715250" y="142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HTML BASICS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414" name="Google Shape;414;p49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50"/>
          <p:cNvGrpSpPr/>
          <p:nvPr/>
        </p:nvGrpSpPr>
        <p:grpSpPr>
          <a:xfrm>
            <a:off x="476250" y="381000"/>
            <a:ext cx="7620000" cy="714525"/>
            <a:chOff x="0" y="0"/>
            <a:chExt cx="7620000" cy="714525"/>
          </a:xfrm>
        </p:grpSpPr>
        <p:sp>
          <p:nvSpPr>
            <p:cNvPr id="420" name="Google Shape;420;p50"/>
            <p:cNvSpPr txBox="1"/>
            <p:nvPr/>
          </p:nvSpPr>
          <p:spPr>
            <a:xfrm>
              <a:off x="0" y="0"/>
              <a:ext cx="7620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D4D4D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Tables &amp; Layout Containers</a:t>
              </a:r>
              <a:endParaRPr b="0" i="0" sz="2700" u="none" cap="none" strike="noStrike">
                <a:solidFill>
                  <a:srgbClr val="2D374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21" name="Google Shape;421;p50"/>
            <p:cNvSpPr txBox="1"/>
            <p:nvPr/>
          </p:nvSpPr>
          <p:spPr>
            <a:xfrm>
              <a:off x="0" y="428625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Structuring datasets with tables and grouping elements with div and span</a:t>
              </a:r>
              <a:endParaRPr b="0" i="0" sz="1500" u="none" cap="none" strike="noStrike">
                <a:solidFill>
                  <a:srgbClr val="718096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22" name="Google Shape;422;p50"/>
          <p:cNvGrpSpPr/>
          <p:nvPr/>
        </p:nvGrpSpPr>
        <p:grpSpPr>
          <a:xfrm>
            <a:off x="476250" y="1238250"/>
            <a:ext cx="3905400" cy="1714650"/>
            <a:chOff x="476250" y="1238250"/>
            <a:chExt cx="3905400" cy="1714650"/>
          </a:xfrm>
        </p:grpSpPr>
        <p:sp>
          <p:nvSpPr>
            <p:cNvPr id="423" name="Google Shape;423;p50"/>
            <p:cNvSpPr txBox="1"/>
            <p:nvPr/>
          </p:nvSpPr>
          <p:spPr>
            <a:xfrm>
              <a:off x="476250" y="1238250"/>
              <a:ext cx="390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E34F26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Data Structures: Tables</a:t>
              </a:r>
              <a:endParaRPr b="0" i="0" sz="900" u="none" cap="none" strike="noStrike">
                <a:solidFill>
                  <a:srgbClr val="E34F2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424" name="Google Shape;424;p50"/>
            <p:cNvSpPr/>
            <p:nvPr/>
          </p:nvSpPr>
          <p:spPr>
            <a:xfrm>
              <a:off x="476250" y="152400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11182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0"/>
            <p:cNvSpPr/>
            <p:nvPr/>
          </p:nvSpPr>
          <p:spPr>
            <a:xfrm>
              <a:off x="571500" y="1619250"/>
              <a:ext cx="3714900" cy="333300"/>
            </a:xfrm>
            <a:prstGeom prst="roundRect">
              <a:avLst>
                <a:gd fmla="val 11428" name="adj"/>
              </a:avLst>
            </a:prstGeom>
            <a:solidFill>
              <a:srgbClr val="2D37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50"/>
            <p:cNvSpPr txBox="1"/>
            <p:nvPr/>
          </p:nvSpPr>
          <p:spPr>
            <a:xfrm>
              <a:off x="714375" y="16859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&lt;th&gt; Tag</a:t>
              </a:r>
              <a:endParaRPr b="1" i="0" sz="82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427" name="Google Shape;427;p50"/>
            <p:cNvSpPr txBox="1"/>
            <p:nvPr/>
          </p:nvSpPr>
          <p:spPr>
            <a:xfrm>
              <a:off x="2333625" y="1685925"/>
              <a:ext cx="18096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&lt;th&gt; Purpose</a:t>
              </a:r>
              <a:endParaRPr b="1" i="0" sz="825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428" name="Google Shape;428;p50"/>
            <p:cNvSpPr/>
            <p:nvPr/>
          </p:nvSpPr>
          <p:spPr>
            <a:xfrm>
              <a:off x="571500" y="2000250"/>
              <a:ext cx="3714900" cy="333300"/>
            </a:xfrm>
            <a:prstGeom prst="roundRect">
              <a:avLst>
                <a:gd fmla="val 11428" name="adj"/>
              </a:avLst>
            </a:prstGeom>
            <a:solidFill>
              <a:srgbClr val="0B0F14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50"/>
            <p:cNvSpPr txBox="1"/>
            <p:nvPr/>
          </p:nvSpPr>
          <p:spPr>
            <a:xfrm>
              <a:off x="714375" y="207645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&lt;tr&gt;</a:t>
              </a:r>
              <a:endParaRPr b="0" i="0" sz="90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430" name="Google Shape;430;p50"/>
            <p:cNvSpPr txBox="1"/>
            <p:nvPr/>
          </p:nvSpPr>
          <p:spPr>
            <a:xfrm>
              <a:off x="2333625" y="2076450"/>
              <a:ext cx="18096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Table Row container</a:t>
              </a:r>
              <a:endParaRPr b="0" i="0" sz="90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1" name="Google Shape;431;p50"/>
            <p:cNvSpPr/>
            <p:nvPr/>
          </p:nvSpPr>
          <p:spPr>
            <a:xfrm>
              <a:off x="571500" y="2381250"/>
              <a:ext cx="3714900" cy="333300"/>
            </a:xfrm>
            <a:prstGeom prst="roundRect">
              <a:avLst>
                <a:gd fmla="val 11428" name="adj"/>
              </a:avLst>
            </a:prstGeom>
            <a:solidFill>
              <a:srgbClr val="111820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50"/>
            <p:cNvSpPr txBox="1"/>
            <p:nvPr/>
          </p:nvSpPr>
          <p:spPr>
            <a:xfrm>
              <a:off x="714375" y="245745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&lt;td&gt;</a:t>
              </a:r>
              <a:endParaRPr b="0" i="0" sz="90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433" name="Google Shape;433;p50"/>
            <p:cNvSpPr txBox="1"/>
            <p:nvPr/>
          </p:nvSpPr>
          <p:spPr>
            <a:xfrm>
              <a:off x="2333625" y="2457450"/>
              <a:ext cx="18096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Standard Data Cell</a:t>
              </a:r>
              <a:endParaRPr b="0" i="0" sz="90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4" name="Google Shape;434;p50"/>
          <p:cNvGrpSpPr/>
          <p:nvPr/>
        </p:nvGrpSpPr>
        <p:grpSpPr>
          <a:xfrm>
            <a:off x="4667250" y="1238250"/>
            <a:ext cx="4000500" cy="1714650"/>
            <a:chOff x="4667250" y="1238250"/>
            <a:chExt cx="4000500" cy="1714650"/>
          </a:xfrm>
        </p:grpSpPr>
        <p:sp>
          <p:nvSpPr>
            <p:cNvPr id="435" name="Google Shape;435;p50"/>
            <p:cNvSpPr txBox="1"/>
            <p:nvPr/>
          </p:nvSpPr>
          <p:spPr>
            <a:xfrm>
              <a:off x="4667250" y="1238250"/>
              <a:ext cx="400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264DE4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Layout Containers</a:t>
              </a:r>
              <a:endParaRPr b="0" i="0" sz="900" u="none" cap="none" strike="noStrike">
                <a:solidFill>
                  <a:srgbClr val="264DE4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436" name="Google Shape;436;p50"/>
            <p:cNvSpPr/>
            <p:nvPr/>
          </p:nvSpPr>
          <p:spPr>
            <a:xfrm>
              <a:off x="4667250" y="1524000"/>
              <a:ext cx="4000500" cy="1428900"/>
            </a:xfrm>
            <a:prstGeom prst="roundRect">
              <a:avLst>
                <a:gd fmla="val 5333" name="adj"/>
              </a:avLst>
            </a:prstGeom>
            <a:solidFill>
              <a:srgbClr val="111820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50"/>
            <p:cNvSpPr/>
            <p:nvPr/>
          </p:nvSpPr>
          <p:spPr>
            <a:xfrm>
              <a:off x="4810125" y="1619250"/>
              <a:ext cx="3714900" cy="571500"/>
            </a:xfrm>
            <a:prstGeom prst="roundRect">
              <a:avLst>
                <a:gd fmla="val 10000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50"/>
            <p:cNvSpPr txBox="1"/>
            <p:nvPr/>
          </p:nvSpPr>
          <p:spPr>
            <a:xfrm>
              <a:off x="4905375" y="1666875"/>
              <a:ext cx="3524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&lt;div&gt;</a:t>
              </a:r>
              <a:r>
                <a:rPr b="0" i="0" lang="en" sz="90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1" lang="en" sz="900" u="none" cap="none" strike="noStrike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&lt;!-- Block Element --&gt;</a:t>
              </a:r>
              <a:endParaRPr b="0" i="0" sz="900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Groups large sections; starts on a new line.</a:t>
              </a:r>
              <a:endParaRPr b="0" i="0" sz="900" u="none" cap="none" strike="noStrike">
                <a:solidFill>
                  <a:srgbClr val="A0AEC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439" name="Google Shape;439;p50"/>
            <p:cNvSpPr/>
            <p:nvPr/>
          </p:nvSpPr>
          <p:spPr>
            <a:xfrm>
              <a:off x="4810125" y="2286000"/>
              <a:ext cx="3714900" cy="571500"/>
            </a:xfrm>
            <a:prstGeom prst="roundRect">
              <a:avLst>
                <a:gd fmla="val 10000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0"/>
            <p:cNvSpPr txBox="1"/>
            <p:nvPr/>
          </p:nvSpPr>
          <p:spPr>
            <a:xfrm>
              <a:off x="4905375" y="2333625"/>
              <a:ext cx="3524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&lt;span&gt;</a:t>
              </a:r>
              <a:r>
                <a:rPr b="0" i="0" lang="en" sz="90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1" lang="en" sz="900" u="none" cap="none" strike="noStrike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&lt;!-- Inline Element --&gt;</a:t>
              </a:r>
              <a:endParaRPr b="0" i="0" sz="900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Styles small text segments; stays flow-inline.</a:t>
              </a:r>
              <a:endParaRPr b="0" i="0" sz="900" u="none" cap="none" strike="noStrike">
                <a:solidFill>
                  <a:srgbClr val="A0AEC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441" name="Google Shape;441;p50"/>
          <p:cNvGrpSpPr/>
          <p:nvPr/>
        </p:nvGrpSpPr>
        <p:grpSpPr>
          <a:xfrm>
            <a:off x="476250" y="3143250"/>
            <a:ext cx="8191500" cy="1285800"/>
            <a:chOff x="476250" y="3143250"/>
            <a:chExt cx="8191500" cy="1285800"/>
          </a:xfrm>
        </p:grpSpPr>
        <p:sp>
          <p:nvSpPr>
            <p:cNvPr id="442" name="Google Shape;442;p50"/>
            <p:cNvSpPr/>
            <p:nvPr/>
          </p:nvSpPr>
          <p:spPr>
            <a:xfrm>
              <a:off x="476250" y="3143250"/>
              <a:ext cx="8191500" cy="1285800"/>
            </a:xfrm>
            <a:prstGeom prst="roundRect">
              <a:avLst>
                <a:gd fmla="val 5925" name="adj"/>
              </a:avLst>
            </a:prstGeom>
            <a:solidFill>
              <a:srgbClr val="201719"/>
            </a:solidFill>
            <a:ln cap="flat" cmpd="sng" w="14300">
              <a:solidFill>
                <a:srgbClr val="E34F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0"/>
            <p:cNvSpPr/>
            <p:nvPr/>
          </p:nvSpPr>
          <p:spPr>
            <a:xfrm>
              <a:off x="666750" y="3286125"/>
              <a:ext cx="1047900" cy="247800"/>
            </a:xfrm>
            <a:prstGeom prst="roundRect">
              <a:avLst>
                <a:gd fmla="val 15384" name="adj"/>
              </a:avLst>
            </a:prstGeom>
            <a:solidFill>
              <a:srgbClr val="E34F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50"/>
            <p:cNvSpPr txBox="1"/>
            <p:nvPr/>
          </p:nvSpPr>
          <p:spPr>
            <a:xfrm>
              <a:off x="666750" y="3333750"/>
              <a:ext cx="1047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" sz="75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EXERCISE 4</a:t>
              </a:r>
              <a:endParaRPr b="1" i="0" sz="7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grpSp>
          <p:nvGrpSpPr>
            <p:cNvPr id="445" name="Google Shape;445;p50"/>
            <p:cNvGrpSpPr/>
            <p:nvPr/>
          </p:nvGrpSpPr>
          <p:grpSpPr>
            <a:xfrm>
              <a:off x="1047750" y="3686175"/>
              <a:ext cx="266700" cy="266700"/>
              <a:chOff x="19050" y="19050"/>
              <a:chExt cx="266700" cy="266700"/>
            </a:xfrm>
          </p:grpSpPr>
          <p:sp>
            <p:nvSpPr>
              <p:cNvPr id="446" name="Google Shape;446;p50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E34F26">
                  <a:alpha val="10196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50"/>
              <p:cNvSpPr/>
              <p:nvPr/>
            </p:nvSpPr>
            <p:spPr>
              <a:xfrm>
                <a:off x="57150" y="57150"/>
                <a:ext cx="190500" cy="180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78000" y="44211"/>
                    </a:lnTo>
                    <a:lnTo>
                      <a:pt x="120000" y="44211"/>
                    </a:lnTo>
                    <a:lnTo>
                      <a:pt x="84000" y="72632"/>
                    </a:lnTo>
                    <a:lnTo>
                      <a:pt x="96000" y="120000"/>
                    </a:lnTo>
                    <a:lnTo>
                      <a:pt x="60000" y="91579"/>
                    </a:lnTo>
                    <a:lnTo>
                      <a:pt x="24000" y="120000"/>
                    </a:lnTo>
                    <a:lnTo>
                      <a:pt x="36000" y="72632"/>
                    </a:lnTo>
                    <a:lnTo>
                      <a:pt x="0" y="44211"/>
                    </a:lnTo>
                    <a:lnTo>
                      <a:pt x="42000" y="44211"/>
                    </a:lnTo>
                    <a:lnTo>
                      <a:pt x="60000" y="0"/>
                    </a:lnTo>
                    <a:close/>
                  </a:path>
                </a:pathLst>
              </a:custGeom>
              <a:solidFill>
                <a:srgbClr val="E34F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8" name="Google Shape;448;p50"/>
            <p:cNvSpPr txBox="1"/>
            <p:nvPr/>
          </p:nvSpPr>
          <p:spPr>
            <a:xfrm>
              <a:off x="2000250" y="3286125"/>
              <a:ext cx="6381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Hands-on Portfolio Setup</a:t>
              </a:r>
              <a:endParaRPr b="1" i="0" sz="120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Add a cleanly structured </a:t>
              </a:r>
              <a:r>
                <a:rPr b="0" i="0" lang="en" sz="1125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&lt;ul&gt;</a:t>
              </a:r>
              <a:r>
                <a:rPr b="0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skills list and a 2-row </a:t>
              </a:r>
              <a:r>
                <a:rPr b="0" i="0" lang="en" sz="1125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&lt;table&gt;</a:t>
              </a:r>
              <a:r>
                <a:rPr b="0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summarizing your history.</a:t>
              </a:r>
              <a:endParaRPr b="0" i="0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9" name="Google Shape;449;p50"/>
          <p:cNvGrpSpPr/>
          <p:nvPr/>
        </p:nvGrpSpPr>
        <p:grpSpPr>
          <a:xfrm>
            <a:off x="0" y="4762500"/>
            <a:ext cx="9144000" cy="428775"/>
            <a:chOff x="0" y="0"/>
            <a:chExt cx="9144000" cy="428775"/>
          </a:xfrm>
        </p:grpSpPr>
        <p:sp>
          <p:nvSpPr>
            <p:cNvPr id="450" name="Google Shape;450;p50"/>
            <p:cNvSpPr/>
            <p:nvPr/>
          </p:nvSpPr>
          <p:spPr>
            <a:xfrm>
              <a:off x="0" y="0"/>
              <a:ext cx="9144000" cy="9600"/>
            </a:xfrm>
            <a:prstGeom prst="rect">
              <a:avLst/>
            </a:prstGeom>
            <a:solidFill>
              <a:srgbClr val="2B36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0"/>
            <p:cNvSpPr txBox="1"/>
            <p:nvPr/>
          </p:nvSpPr>
          <p:spPr>
            <a:xfrm>
              <a:off x="476250" y="142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 DEVELOPMENT WORKSHOP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452" name="Google Shape;452;p50"/>
            <p:cNvSpPr txBox="1"/>
            <p:nvPr/>
          </p:nvSpPr>
          <p:spPr>
            <a:xfrm>
              <a:off x="7715250" y="142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HTML BASICS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453" name="Google Shape;453;p50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1"/>
          <p:cNvSpPr txBox="1"/>
          <p:nvPr/>
        </p:nvSpPr>
        <p:spPr>
          <a:xfrm>
            <a:off x="476250" y="38100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D4D4D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Avoid "Div Soup"</a:t>
            </a:r>
            <a:endParaRPr b="0" i="0" sz="2700" u="none" cap="none" strike="noStrike">
              <a:solidFill>
                <a:srgbClr val="2D374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9" name="Google Shape;459;p51"/>
          <p:cNvSpPr txBox="1"/>
          <p:nvPr/>
        </p:nvSpPr>
        <p:spPr>
          <a:xfrm>
            <a:off x="476250" y="809625"/>
            <a:ext cx="7620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Use HTML5 semantic elements to improve structural hierarchy, accessibility, and SEO.</a:t>
            </a:r>
            <a:endParaRPr b="0" i="0" sz="1350" u="none" cap="none" strike="noStrike">
              <a:solidFill>
                <a:srgbClr val="71809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460" name="Google Shape;460;p51"/>
          <p:cNvGrpSpPr/>
          <p:nvPr/>
        </p:nvGrpSpPr>
        <p:grpSpPr>
          <a:xfrm>
            <a:off x="411480" y="1089660"/>
            <a:ext cx="3970170" cy="3482490"/>
            <a:chOff x="411480" y="1089660"/>
            <a:chExt cx="3970170" cy="3482490"/>
          </a:xfrm>
        </p:grpSpPr>
        <p:sp>
          <p:nvSpPr>
            <p:cNvPr id="461" name="Google Shape;461;p51"/>
            <p:cNvSpPr/>
            <p:nvPr/>
          </p:nvSpPr>
          <p:spPr>
            <a:xfrm>
              <a:off x="476250" y="1238250"/>
              <a:ext cx="3905400" cy="3333900"/>
            </a:xfrm>
            <a:prstGeom prst="roundRect">
              <a:avLst>
                <a:gd fmla="val 2285" name="adj"/>
              </a:avLst>
            </a:prstGeom>
            <a:solidFill>
              <a:srgbClr val="111820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51"/>
            <p:cNvSpPr/>
            <p:nvPr/>
          </p:nvSpPr>
          <p:spPr>
            <a:xfrm>
              <a:off x="476250" y="1238250"/>
              <a:ext cx="3905400" cy="333300"/>
            </a:xfrm>
            <a:prstGeom prst="roundRect">
              <a:avLst>
                <a:gd fmla="val 22857" name="adj"/>
              </a:avLst>
            </a:prstGeom>
            <a:solidFill>
              <a:srgbClr val="161D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51"/>
            <p:cNvSpPr/>
            <p:nvPr/>
          </p:nvSpPr>
          <p:spPr>
            <a:xfrm>
              <a:off x="476250" y="1428750"/>
              <a:ext cx="3905400" cy="142800"/>
            </a:xfrm>
            <a:prstGeom prst="rect">
              <a:avLst/>
            </a:prstGeom>
            <a:solidFill>
              <a:srgbClr val="161D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4" name="Google Shape;464;p51"/>
            <p:cNvGrpSpPr/>
            <p:nvPr/>
          </p:nvGrpSpPr>
          <p:grpSpPr>
            <a:xfrm>
              <a:off x="411480" y="1089660"/>
              <a:ext cx="396240" cy="91440"/>
              <a:chOff x="57150" y="57150"/>
              <a:chExt cx="495300" cy="114300"/>
            </a:xfrm>
          </p:grpSpPr>
          <p:sp>
            <p:nvSpPr>
              <p:cNvPr id="465" name="Google Shape;465;p51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51"/>
              <p:cNvSpPr/>
              <p:nvPr/>
            </p:nvSpPr>
            <p:spPr>
              <a:xfrm>
                <a:off x="247650" y="57150"/>
                <a:ext cx="114300" cy="1143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51"/>
              <p:cNvSpPr/>
              <p:nvPr/>
            </p:nvSpPr>
            <p:spPr>
              <a:xfrm>
                <a:off x="438150" y="57150"/>
                <a:ext cx="114300" cy="1143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" name="Google Shape;468;p51"/>
            <p:cNvSpPr txBox="1"/>
            <p:nvPr/>
          </p:nvSpPr>
          <p:spPr>
            <a:xfrm>
              <a:off x="1095375" y="1314450"/>
              <a:ext cx="3143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D4D4D4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semantic_structure.html</a:t>
              </a:r>
              <a:endParaRPr b="0" i="0" sz="825" u="none" cap="none" strike="noStrike">
                <a:solidFill>
                  <a:srgbClr val="2D3748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469" name="Google Shape;469;p51"/>
            <p:cNvSpPr/>
            <p:nvPr/>
          </p:nvSpPr>
          <p:spPr>
            <a:xfrm>
              <a:off x="2428875" y="2019300"/>
              <a:ext cx="0" cy="162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51"/>
            <p:cNvSpPr/>
            <p:nvPr/>
          </p:nvSpPr>
          <p:spPr>
            <a:xfrm>
              <a:off x="1000125" y="2181225"/>
              <a:ext cx="28575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51"/>
            <p:cNvSpPr/>
            <p:nvPr/>
          </p:nvSpPr>
          <p:spPr>
            <a:xfrm>
              <a:off x="1000125" y="2181225"/>
              <a:ext cx="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1"/>
            <p:cNvSpPr/>
            <p:nvPr/>
          </p:nvSpPr>
          <p:spPr>
            <a:xfrm>
              <a:off x="1952625" y="2181225"/>
              <a:ext cx="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1"/>
            <p:cNvSpPr/>
            <p:nvPr/>
          </p:nvSpPr>
          <p:spPr>
            <a:xfrm>
              <a:off x="2905125" y="2181225"/>
              <a:ext cx="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51"/>
            <p:cNvSpPr/>
            <p:nvPr/>
          </p:nvSpPr>
          <p:spPr>
            <a:xfrm>
              <a:off x="3857625" y="2181225"/>
              <a:ext cx="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1"/>
            <p:cNvSpPr/>
            <p:nvPr/>
          </p:nvSpPr>
          <p:spPr>
            <a:xfrm>
              <a:off x="1000125" y="2638425"/>
              <a:ext cx="0" cy="314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1"/>
            <p:cNvSpPr/>
            <p:nvPr/>
          </p:nvSpPr>
          <p:spPr>
            <a:xfrm>
              <a:off x="1952625" y="2638425"/>
              <a:ext cx="0" cy="314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1"/>
            <p:cNvSpPr/>
            <p:nvPr/>
          </p:nvSpPr>
          <p:spPr>
            <a:xfrm>
              <a:off x="1952625" y="3257550"/>
              <a:ext cx="0" cy="314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8" name="Google Shape;478;p51"/>
            <p:cNvGrpSpPr/>
            <p:nvPr/>
          </p:nvGrpSpPr>
          <p:grpSpPr>
            <a:xfrm>
              <a:off x="1857375" y="1714500"/>
              <a:ext cx="1143000" cy="304800"/>
              <a:chOff x="0" y="0"/>
              <a:chExt cx="1143000" cy="304800"/>
            </a:xfrm>
          </p:grpSpPr>
          <p:sp>
            <p:nvSpPr>
              <p:cNvPr id="479" name="Google Shape;479;p51"/>
              <p:cNvSpPr/>
              <p:nvPr/>
            </p:nvSpPr>
            <p:spPr>
              <a:xfrm>
                <a:off x="0" y="0"/>
                <a:ext cx="1143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2D374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51"/>
              <p:cNvSpPr txBox="1"/>
              <p:nvPr/>
            </p:nvSpPr>
            <p:spPr>
              <a:xfrm>
                <a:off x="0" y="0"/>
                <a:ext cx="1143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FFFFFF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&lt;body&gt;</a:t>
                </a:r>
                <a:endParaRPr b="0" i="0" sz="900" u="none" cap="none" strike="noStrike">
                  <a:solidFill>
                    <a:srgbClr val="FFFFFF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481" name="Google Shape;481;p51"/>
            <p:cNvGrpSpPr/>
            <p:nvPr/>
          </p:nvGrpSpPr>
          <p:grpSpPr>
            <a:xfrm>
              <a:off x="619125" y="2333625"/>
              <a:ext cx="762000" cy="304800"/>
              <a:chOff x="0" y="0"/>
              <a:chExt cx="762000" cy="304800"/>
            </a:xfrm>
          </p:grpSpPr>
          <p:sp>
            <p:nvSpPr>
              <p:cNvPr id="482" name="Google Shape;482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E34F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FFFFFF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&lt;header&gt;</a:t>
                </a:r>
                <a:endParaRPr b="0" i="0" sz="900" u="none" cap="none" strike="noStrike">
                  <a:solidFill>
                    <a:srgbClr val="FFFFFF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484" name="Google Shape;484;p51"/>
            <p:cNvGrpSpPr/>
            <p:nvPr/>
          </p:nvGrpSpPr>
          <p:grpSpPr>
            <a:xfrm>
              <a:off x="1571625" y="2333625"/>
              <a:ext cx="762000" cy="304800"/>
              <a:chOff x="0" y="0"/>
              <a:chExt cx="762000" cy="304800"/>
            </a:xfrm>
          </p:grpSpPr>
          <p:sp>
            <p:nvSpPr>
              <p:cNvPr id="485" name="Google Shape;485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E34F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FFFFFF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&lt;main&gt;</a:t>
                </a:r>
                <a:endParaRPr b="0" i="0" sz="900" u="none" cap="none" strike="noStrike">
                  <a:solidFill>
                    <a:srgbClr val="FFFFFF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487" name="Google Shape;487;p51"/>
            <p:cNvGrpSpPr/>
            <p:nvPr/>
          </p:nvGrpSpPr>
          <p:grpSpPr>
            <a:xfrm>
              <a:off x="2524125" y="2333625"/>
              <a:ext cx="762000" cy="304800"/>
              <a:chOff x="0" y="0"/>
              <a:chExt cx="762000" cy="304800"/>
            </a:xfrm>
          </p:grpSpPr>
          <p:sp>
            <p:nvSpPr>
              <p:cNvPr id="488" name="Google Shape;488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E34F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FFFFFF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&lt;aside&gt;</a:t>
                </a:r>
                <a:endParaRPr b="0" i="0" sz="900" u="none" cap="none" strike="noStrike">
                  <a:solidFill>
                    <a:srgbClr val="FFFFFF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490" name="Google Shape;490;p51"/>
            <p:cNvGrpSpPr/>
            <p:nvPr/>
          </p:nvGrpSpPr>
          <p:grpSpPr>
            <a:xfrm>
              <a:off x="3476625" y="2333625"/>
              <a:ext cx="762000" cy="304800"/>
              <a:chOff x="0" y="0"/>
              <a:chExt cx="762000" cy="304800"/>
            </a:xfrm>
          </p:grpSpPr>
          <p:sp>
            <p:nvSpPr>
              <p:cNvPr id="491" name="Google Shape;491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E34F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FFFFFF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&lt;footer&gt;</a:t>
                </a:r>
                <a:endParaRPr b="0" i="0" sz="900" u="none" cap="none" strike="noStrike">
                  <a:solidFill>
                    <a:srgbClr val="FFFFFF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493" name="Google Shape;493;p51"/>
            <p:cNvGrpSpPr/>
            <p:nvPr/>
          </p:nvGrpSpPr>
          <p:grpSpPr>
            <a:xfrm>
              <a:off x="619125" y="2952750"/>
              <a:ext cx="762000" cy="304800"/>
              <a:chOff x="0" y="0"/>
              <a:chExt cx="762000" cy="304800"/>
            </a:xfrm>
          </p:grpSpPr>
          <p:sp>
            <p:nvSpPr>
              <p:cNvPr id="494" name="Google Shape;494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264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FFFFFF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&lt;nav&gt;</a:t>
                </a:r>
                <a:endParaRPr b="0" i="0" sz="900" u="none" cap="none" strike="noStrike">
                  <a:solidFill>
                    <a:srgbClr val="FFFFFF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496" name="Google Shape;496;p51"/>
            <p:cNvGrpSpPr/>
            <p:nvPr/>
          </p:nvGrpSpPr>
          <p:grpSpPr>
            <a:xfrm>
              <a:off x="1571625" y="2952750"/>
              <a:ext cx="762000" cy="304800"/>
              <a:chOff x="0" y="0"/>
              <a:chExt cx="762000" cy="304800"/>
            </a:xfrm>
          </p:grpSpPr>
          <p:sp>
            <p:nvSpPr>
              <p:cNvPr id="497" name="Google Shape;497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264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FFFFFF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&lt;section&gt;</a:t>
                </a:r>
                <a:endParaRPr b="0" i="0" sz="900" u="none" cap="none" strike="noStrike">
                  <a:solidFill>
                    <a:srgbClr val="FFFFFF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499" name="Google Shape;499;p51"/>
            <p:cNvGrpSpPr/>
            <p:nvPr/>
          </p:nvGrpSpPr>
          <p:grpSpPr>
            <a:xfrm>
              <a:off x="1571625" y="3571875"/>
              <a:ext cx="762000" cy="304800"/>
              <a:chOff x="0" y="0"/>
              <a:chExt cx="762000" cy="304800"/>
            </a:xfrm>
          </p:grpSpPr>
          <p:sp>
            <p:nvSpPr>
              <p:cNvPr id="500" name="Google Shape;500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264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FFFFFF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&lt;article&gt;</a:t>
                </a:r>
                <a:endParaRPr b="0" i="0" sz="900" u="none" cap="none" strike="noStrike">
                  <a:solidFill>
                    <a:srgbClr val="FFFFFF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</p:grpSp>
      <p:grpSp>
        <p:nvGrpSpPr>
          <p:cNvPr id="502" name="Google Shape;502;p51"/>
          <p:cNvGrpSpPr/>
          <p:nvPr/>
        </p:nvGrpSpPr>
        <p:grpSpPr>
          <a:xfrm>
            <a:off x="4752975" y="1228725"/>
            <a:ext cx="3924300" cy="3352800"/>
            <a:chOff x="4752975" y="1228725"/>
            <a:chExt cx="3924300" cy="3352800"/>
          </a:xfrm>
        </p:grpSpPr>
        <p:pic>
          <p:nvPicPr>
            <p:cNvPr id="503" name="Google Shape;503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2975" y="1228725"/>
              <a:ext cx="3924300" cy="335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4" name="Google Shape;504;p51"/>
            <p:cNvSpPr/>
            <p:nvPr/>
          </p:nvSpPr>
          <p:spPr>
            <a:xfrm>
              <a:off x="4762500" y="1238250"/>
              <a:ext cx="3905400" cy="333300"/>
            </a:xfrm>
            <a:prstGeom prst="roundRect">
              <a:avLst>
                <a:gd fmla="val 22857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1"/>
            <p:cNvSpPr/>
            <p:nvPr/>
          </p:nvSpPr>
          <p:spPr>
            <a:xfrm>
              <a:off x="4762500" y="1428750"/>
              <a:ext cx="3905400" cy="142800"/>
            </a:xfrm>
            <a:prstGeom prst="rect">
              <a:avLst/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1"/>
            <p:cNvSpPr/>
            <p:nvPr/>
          </p:nvSpPr>
          <p:spPr>
            <a:xfrm>
              <a:off x="4876800" y="1371600"/>
              <a:ext cx="76200" cy="76200"/>
            </a:xfrm>
            <a:prstGeom prst="ellipse">
              <a:avLst/>
            </a:prstGeom>
            <a:solidFill>
              <a:srgbClr val="E53E3E">
                <a:alpha val="30196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1"/>
            <p:cNvSpPr/>
            <p:nvPr/>
          </p:nvSpPr>
          <p:spPr>
            <a:xfrm>
              <a:off x="4991100" y="1371600"/>
              <a:ext cx="76200" cy="76200"/>
            </a:xfrm>
            <a:prstGeom prst="ellipse">
              <a:avLst/>
            </a:prstGeom>
            <a:solidFill>
              <a:srgbClr val="E53E3E">
                <a:alpha val="30196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1"/>
            <p:cNvSpPr/>
            <p:nvPr/>
          </p:nvSpPr>
          <p:spPr>
            <a:xfrm>
              <a:off x="5105400" y="1371600"/>
              <a:ext cx="76200" cy="76200"/>
            </a:xfrm>
            <a:prstGeom prst="ellipse">
              <a:avLst/>
            </a:prstGeom>
            <a:solidFill>
              <a:srgbClr val="E53E3E">
                <a:alpha val="30196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1"/>
            <p:cNvSpPr txBox="1"/>
            <p:nvPr/>
          </p:nvSpPr>
          <p:spPr>
            <a:xfrm>
              <a:off x="5334000" y="1314450"/>
              <a:ext cx="3143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E53E3E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div_soup_nightmare.html</a:t>
              </a:r>
              <a:endParaRPr b="0" i="0" sz="825" u="none" cap="none" strike="noStrike">
                <a:solidFill>
                  <a:srgbClr val="E53E3E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510" name="Google Shape;510;p51"/>
            <p:cNvSpPr/>
            <p:nvPr/>
          </p:nvSpPr>
          <p:spPr>
            <a:xfrm>
              <a:off x="6715125" y="2019300"/>
              <a:ext cx="0" cy="162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1"/>
            <p:cNvSpPr/>
            <p:nvPr/>
          </p:nvSpPr>
          <p:spPr>
            <a:xfrm>
              <a:off x="5286375" y="2181225"/>
              <a:ext cx="28575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1"/>
            <p:cNvSpPr/>
            <p:nvPr/>
          </p:nvSpPr>
          <p:spPr>
            <a:xfrm>
              <a:off x="5286375" y="2181225"/>
              <a:ext cx="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1"/>
            <p:cNvSpPr/>
            <p:nvPr/>
          </p:nvSpPr>
          <p:spPr>
            <a:xfrm>
              <a:off x="6238875" y="2181225"/>
              <a:ext cx="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1"/>
            <p:cNvSpPr/>
            <p:nvPr/>
          </p:nvSpPr>
          <p:spPr>
            <a:xfrm>
              <a:off x="7191375" y="2181225"/>
              <a:ext cx="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1"/>
            <p:cNvSpPr/>
            <p:nvPr/>
          </p:nvSpPr>
          <p:spPr>
            <a:xfrm>
              <a:off x="8143875" y="2181225"/>
              <a:ext cx="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1"/>
            <p:cNvSpPr/>
            <p:nvPr/>
          </p:nvSpPr>
          <p:spPr>
            <a:xfrm>
              <a:off x="5286375" y="2638425"/>
              <a:ext cx="0" cy="314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1"/>
            <p:cNvSpPr/>
            <p:nvPr/>
          </p:nvSpPr>
          <p:spPr>
            <a:xfrm>
              <a:off x="6238875" y="2638425"/>
              <a:ext cx="0" cy="314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1"/>
            <p:cNvSpPr/>
            <p:nvPr/>
          </p:nvSpPr>
          <p:spPr>
            <a:xfrm>
              <a:off x="6238875" y="3257550"/>
              <a:ext cx="0" cy="314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E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9" name="Google Shape;519;p51"/>
            <p:cNvGrpSpPr/>
            <p:nvPr/>
          </p:nvGrpSpPr>
          <p:grpSpPr>
            <a:xfrm>
              <a:off x="6143625" y="1714500"/>
              <a:ext cx="1143000" cy="304800"/>
              <a:chOff x="0" y="0"/>
              <a:chExt cx="1143000" cy="304800"/>
            </a:xfrm>
          </p:grpSpPr>
          <p:sp>
            <p:nvSpPr>
              <p:cNvPr id="520" name="Google Shape;520;p51"/>
              <p:cNvSpPr/>
              <p:nvPr/>
            </p:nvSpPr>
            <p:spPr>
              <a:xfrm>
                <a:off x="0" y="0"/>
                <a:ext cx="1143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201719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51"/>
              <p:cNvSpPr txBox="1"/>
              <p:nvPr/>
            </p:nvSpPr>
            <p:spPr>
              <a:xfrm>
                <a:off x="0" y="0"/>
                <a:ext cx="1143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B91C1C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&lt;div&gt;</a:t>
                </a:r>
                <a:endParaRPr b="0" i="0" sz="900" u="none" cap="none" strike="noStrike">
                  <a:solidFill>
                    <a:srgbClr val="B91C1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522" name="Google Shape;522;p51"/>
            <p:cNvGrpSpPr/>
            <p:nvPr/>
          </p:nvGrpSpPr>
          <p:grpSpPr>
            <a:xfrm>
              <a:off x="4905375" y="2333625"/>
              <a:ext cx="762000" cy="304800"/>
              <a:chOff x="0" y="0"/>
              <a:chExt cx="762000" cy="304800"/>
            </a:xfrm>
          </p:grpSpPr>
          <p:sp>
            <p:nvSpPr>
              <p:cNvPr id="523" name="Google Shape;523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201719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B91C1C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&lt;div&gt;</a:t>
                </a:r>
                <a:endParaRPr b="0" i="0" sz="900" u="none" cap="none" strike="noStrike">
                  <a:solidFill>
                    <a:srgbClr val="B91C1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525" name="Google Shape;525;p51"/>
            <p:cNvGrpSpPr/>
            <p:nvPr/>
          </p:nvGrpSpPr>
          <p:grpSpPr>
            <a:xfrm>
              <a:off x="5857875" y="2333625"/>
              <a:ext cx="762000" cy="304800"/>
              <a:chOff x="0" y="0"/>
              <a:chExt cx="762000" cy="304800"/>
            </a:xfrm>
          </p:grpSpPr>
          <p:sp>
            <p:nvSpPr>
              <p:cNvPr id="526" name="Google Shape;526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201719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B91C1C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&lt;div&gt;</a:t>
                </a:r>
                <a:endParaRPr b="0" i="0" sz="900" u="none" cap="none" strike="noStrike">
                  <a:solidFill>
                    <a:srgbClr val="B91C1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528" name="Google Shape;528;p51"/>
            <p:cNvGrpSpPr/>
            <p:nvPr/>
          </p:nvGrpSpPr>
          <p:grpSpPr>
            <a:xfrm>
              <a:off x="6810375" y="2333625"/>
              <a:ext cx="762000" cy="304800"/>
              <a:chOff x="0" y="0"/>
              <a:chExt cx="762000" cy="304800"/>
            </a:xfrm>
          </p:grpSpPr>
          <p:sp>
            <p:nvSpPr>
              <p:cNvPr id="529" name="Google Shape;529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201719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B91C1C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&lt;div&gt;</a:t>
                </a:r>
                <a:endParaRPr b="0" i="0" sz="900" u="none" cap="none" strike="noStrike">
                  <a:solidFill>
                    <a:srgbClr val="B91C1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531" name="Google Shape;531;p51"/>
            <p:cNvGrpSpPr/>
            <p:nvPr/>
          </p:nvGrpSpPr>
          <p:grpSpPr>
            <a:xfrm>
              <a:off x="7762875" y="2333625"/>
              <a:ext cx="762000" cy="304800"/>
              <a:chOff x="0" y="0"/>
              <a:chExt cx="762000" cy="304800"/>
            </a:xfrm>
          </p:grpSpPr>
          <p:sp>
            <p:nvSpPr>
              <p:cNvPr id="532" name="Google Shape;532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201719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B91C1C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&lt;div&gt;</a:t>
                </a:r>
                <a:endParaRPr b="0" i="0" sz="900" u="none" cap="none" strike="noStrike">
                  <a:solidFill>
                    <a:srgbClr val="B91C1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534" name="Google Shape;534;p51"/>
            <p:cNvGrpSpPr/>
            <p:nvPr/>
          </p:nvGrpSpPr>
          <p:grpSpPr>
            <a:xfrm>
              <a:off x="4905375" y="2952750"/>
              <a:ext cx="762000" cy="304800"/>
              <a:chOff x="0" y="0"/>
              <a:chExt cx="762000" cy="304800"/>
            </a:xfrm>
          </p:grpSpPr>
          <p:sp>
            <p:nvSpPr>
              <p:cNvPr id="535" name="Google Shape;535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201719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B91C1C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&lt;div&gt;</a:t>
                </a:r>
                <a:endParaRPr b="0" i="0" sz="900" u="none" cap="none" strike="noStrike">
                  <a:solidFill>
                    <a:srgbClr val="B91C1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537" name="Google Shape;537;p51"/>
            <p:cNvGrpSpPr/>
            <p:nvPr/>
          </p:nvGrpSpPr>
          <p:grpSpPr>
            <a:xfrm>
              <a:off x="5857875" y="2952750"/>
              <a:ext cx="762000" cy="304800"/>
              <a:chOff x="0" y="0"/>
              <a:chExt cx="762000" cy="304800"/>
            </a:xfrm>
          </p:grpSpPr>
          <p:sp>
            <p:nvSpPr>
              <p:cNvPr id="538" name="Google Shape;538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201719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B91C1C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&lt;div&gt;</a:t>
                </a:r>
                <a:endParaRPr b="0" i="0" sz="900" u="none" cap="none" strike="noStrike">
                  <a:solidFill>
                    <a:srgbClr val="B91C1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  <p:grpSp>
          <p:nvGrpSpPr>
            <p:cNvPr id="540" name="Google Shape;540;p51"/>
            <p:cNvGrpSpPr/>
            <p:nvPr/>
          </p:nvGrpSpPr>
          <p:grpSpPr>
            <a:xfrm>
              <a:off x="5857875" y="3571875"/>
              <a:ext cx="762000" cy="304800"/>
              <a:chOff x="0" y="0"/>
              <a:chExt cx="762000" cy="304800"/>
            </a:xfrm>
          </p:grpSpPr>
          <p:sp>
            <p:nvSpPr>
              <p:cNvPr id="541" name="Google Shape;541;p51"/>
              <p:cNvSpPr/>
              <p:nvPr/>
            </p:nvSpPr>
            <p:spPr>
              <a:xfrm>
                <a:off x="0" y="0"/>
                <a:ext cx="762000" cy="304800"/>
              </a:xfrm>
              <a:prstGeom prst="roundRect">
                <a:avLst>
                  <a:gd fmla="val 12500" name="adj"/>
                </a:avLst>
              </a:prstGeom>
              <a:solidFill>
                <a:srgbClr val="201719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51"/>
              <p:cNvSpPr txBox="1"/>
              <p:nvPr/>
            </p:nvSpPr>
            <p:spPr>
              <a:xfrm>
                <a:off x="0" y="0"/>
                <a:ext cx="762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B91C1C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&lt;div&gt;</a:t>
                </a:r>
                <a:endParaRPr b="0" i="0" sz="900" u="none" cap="none" strike="noStrike">
                  <a:solidFill>
                    <a:srgbClr val="B91C1C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</p:grpSp>
      </p:grpSp>
      <p:grpSp>
        <p:nvGrpSpPr>
          <p:cNvPr id="543" name="Google Shape;543;p51"/>
          <p:cNvGrpSpPr/>
          <p:nvPr/>
        </p:nvGrpSpPr>
        <p:grpSpPr>
          <a:xfrm>
            <a:off x="0" y="4762500"/>
            <a:ext cx="9144000" cy="428775"/>
            <a:chOff x="0" y="0"/>
            <a:chExt cx="9144000" cy="428775"/>
          </a:xfrm>
        </p:grpSpPr>
        <p:sp>
          <p:nvSpPr>
            <p:cNvPr id="544" name="Google Shape;544;p51"/>
            <p:cNvSpPr/>
            <p:nvPr/>
          </p:nvSpPr>
          <p:spPr>
            <a:xfrm>
              <a:off x="0" y="0"/>
              <a:ext cx="9144000" cy="9600"/>
            </a:xfrm>
            <a:prstGeom prst="rect">
              <a:avLst/>
            </a:prstGeom>
            <a:solidFill>
              <a:srgbClr val="2B36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51"/>
            <p:cNvSpPr txBox="1"/>
            <p:nvPr/>
          </p:nvSpPr>
          <p:spPr>
            <a:xfrm>
              <a:off x="476250" y="142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 DEVELOPMENT WORKSHOP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546" name="Google Shape;546;p51"/>
            <p:cNvSpPr txBox="1"/>
            <p:nvPr/>
          </p:nvSpPr>
          <p:spPr>
            <a:xfrm>
              <a:off x="7715250" y="142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HTML BASICS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547" name="Google Shape;547;p51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2"/>
          <p:cNvSpPr/>
          <p:nvPr>
            <p:ph idx="2" type="pic"/>
          </p:nvPr>
        </p:nvSpPr>
        <p:spPr>
          <a:xfrm>
            <a:off x="471488" y="0"/>
            <a:ext cx="9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52"/>
          <p:cNvSpPr/>
          <p:nvPr>
            <p:ph idx="3" type="pic"/>
          </p:nvPr>
        </p:nvSpPr>
        <p:spPr>
          <a:xfrm>
            <a:off x="0" y="1138238"/>
            <a:ext cx="9144000" cy="96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52"/>
          <p:cNvSpPr/>
          <p:nvPr>
            <p:ph idx="4" type="pic"/>
          </p:nvPr>
        </p:nvSpPr>
        <p:spPr>
          <a:xfrm>
            <a:off x="0" y="4567238"/>
            <a:ext cx="9144000" cy="9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52"/>
          <p:cNvGrpSpPr/>
          <p:nvPr/>
        </p:nvGrpSpPr>
        <p:grpSpPr>
          <a:xfrm>
            <a:off x="476250" y="381000"/>
            <a:ext cx="7620000" cy="714525"/>
            <a:chOff x="476250" y="381000"/>
            <a:chExt cx="7620000" cy="714525"/>
          </a:xfrm>
        </p:grpSpPr>
        <p:sp>
          <p:nvSpPr>
            <p:cNvPr id="556" name="Google Shape;556;p52"/>
            <p:cNvSpPr txBox="1"/>
            <p:nvPr/>
          </p:nvSpPr>
          <p:spPr>
            <a:xfrm>
              <a:off x="476250" y="381000"/>
              <a:ext cx="7620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" sz="2700" u="none" cap="none" strike="noStrike">
                  <a:solidFill>
                    <a:srgbClr val="D4D4D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Forms &amp; Media Elements</a:t>
              </a:r>
              <a:endParaRPr b="0" i="0" sz="2700" u="none" cap="none" strike="noStrike">
                <a:solidFill>
                  <a:srgbClr val="2D374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557" name="Google Shape;557;p52"/>
            <p:cNvSpPr txBox="1"/>
            <p:nvPr/>
          </p:nvSpPr>
          <p:spPr>
            <a:xfrm>
              <a:off x="476250" y="809625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Building interactive user inputs and embedding multimedia players</a:t>
              </a:r>
              <a:endParaRPr b="0" i="0" sz="1500" u="none" cap="none" strike="noStrike">
                <a:solidFill>
                  <a:srgbClr val="718096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58" name="Google Shape;558;p52"/>
          <p:cNvGrpSpPr/>
          <p:nvPr/>
        </p:nvGrpSpPr>
        <p:grpSpPr>
          <a:xfrm>
            <a:off x="476250" y="1238250"/>
            <a:ext cx="3810000" cy="3190950"/>
            <a:chOff x="476250" y="1238250"/>
            <a:chExt cx="3810000" cy="3190950"/>
          </a:xfrm>
        </p:grpSpPr>
        <p:sp>
          <p:nvSpPr>
            <p:cNvPr id="559" name="Google Shape;559;p52"/>
            <p:cNvSpPr txBox="1"/>
            <p:nvPr/>
          </p:nvSpPr>
          <p:spPr>
            <a:xfrm>
              <a:off x="476250" y="1238250"/>
              <a:ext cx="3810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1" i="0" lang="en" sz="1125" u="none" cap="none" strike="noStrike">
                  <a:solidFill>
                    <a:srgbClr val="E34F26"/>
                  </a:solidFill>
                  <a:latin typeface="Inter"/>
                  <a:ea typeface="Inter"/>
                  <a:cs typeface="Inter"/>
                  <a:sym typeface="Inter"/>
                </a:rPr>
                <a:t>User Input &amp; Forms</a:t>
              </a:r>
              <a:endParaRPr b="1" i="0" sz="1125" u="none" cap="none" strike="noStrike">
                <a:solidFill>
                  <a:srgbClr val="E34F2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Collect details via </a:t>
              </a:r>
              <a:r>
                <a:rPr b="0" i="0" lang="en" sz="900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&lt;form&gt;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i="0" lang="en" sz="900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&lt;label&gt;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, and </a:t>
              </a:r>
              <a:r>
                <a:rPr b="0" i="0" lang="en" sz="900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&lt;input&gt;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tags. </a:t>
              </a:r>
              <a:br>
                <a:rPr b="0" i="0" lang="en" sz="1050" u="none" cap="none" strike="noStrike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1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Core Types: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text, email, password, radio, checkbox.</a:t>
              </a:r>
              <a:endParaRPr b="0" i="0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1" i="0" lang="en" sz="1125" u="none" cap="none" strike="noStrike">
                  <a:solidFill>
                    <a:srgbClr val="264DE4"/>
                  </a:solidFill>
                  <a:latin typeface="Inter"/>
                  <a:ea typeface="Inter"/>
                  <a:cs typeface="Inter"/>
                  <a:sym typeface="Inter"/>
                </a:rPr>
                <a:t>Multimedia &amp; Embeds</a:t>
              </a:r>
              <a:endParaRPr b="1" i="0" sz="1125" u="none" cap="none" strike="noStrike">
                <a:solidFill>
                  <a:srgbClr val="264DE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Integrate video/audio players or external widgets seamlessly. </a:t>
              </a:r>
              <a:br>
                <a:rPr b="0" i="0" lang="en" sz="1050" u="none" cap="none" strike="noStrike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1" i="0" lang="en" sz="105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Core Tags: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" sz="900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&lt;audio&gt;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i="0" lang="en" sz="900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&lt;video&gt;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, and </a:t>
              </a:r>
              <a:r>
                <a:rPr b="0" i="0" lang="en" sz="900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&lt;iframe&gt;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i="0" sz="1050" u="none" cap="none" strike="noStrike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60" name="Google Shape;560;p52"/>
            <p:cNvGrpSpPr/>
            <p:nvPr/>
          </p:nvGrpSpPr>
          <p:grpSpPr>
            <a:xfrm>
              <a:off x="476250" y="3238500"/>
              <a:ext cx="3810000" cy="1190700"/>
              <a:chOff x="0" y="0"/>
              <a:chExt cx="3810000" cy="1190700"/>
            </a:xfrm>
          </p:grpSpPr>
          <p:sp>
            <p:nvSpPr>
              <p:cNvPr id="561" name="Google Shape;561;p52"/>
              <p:cNvSpPr/>
              <p:nvPr/>
            </p:nvSpPr>
            <p:spPr>
              <a:xfrm>
                <a:off x="0" y="0"/>
                <a:ext cx="3810000" cy="1190700"/>
              </a:xfrm>
              <a:prstGeom prst="roundRect">
                <a:avLst>
                  <a:gd fmla="val 6400" name="adj"/>
                </a:avLst>
              </a:prstGeom>
              <a:solidFill>
                <a:srgbClr val="201719"/>
              </a:solidFill>
              <a:ln cap="flat" cmpd="sng" w="14300">
                <a:solidFill>
                  <a:srgbClr val="E34F2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52"/>
              <p:cNvSpPr/>
              <p:nvPr/>
            </p:nvSpPr>
            <p:spPr>
              <a:xfrm>
                <a:off x="0" y="0"/>
                <a:ext cx="952500" cy="228600"/>
              </a:xfrm>
              <a:prstGeom prst="roundRect">
                <a:avLst>
                  <a:gd fmla="val 33333" name="adj"/>
                </a:avLst>
              </a:prstGeom>
              <a:solidFill>
                <a:srgbClr val="E34F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52"/>
              <p:cNvSpPr/>
              <p:nvPr/>
            </p:nvSpPr>
            <p:spPr>
              <a:xfrm>
                <a:off x="0" y="114300"/>
                <a:ext cx="952500" cy="114300"/>
              </a:xfrm>
              <a:prstGeom prst="rect">
                <a:avLst/>
              </a:prstGeom>
              <a:solidFill>
                <a:srgbClr val="E34F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52"/>
              <p:cNvSpPr txBox="1"/>
              <p:nvPr/>
            </p:nvSpPr>
            <p:spPr>
              <a:xfrm>
                <a:off x="0" y="3810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Arial"/>
                  <a:buNone/>
                </a:pPr>
                <a:r>
                  <a:rPr b="1" i="0" lang="en" sz="750" u="none" cap="none" strike="noStrike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EXERCISE 5</a:t>
                </a:r>
                <a:endParaRPr b="1" i="0" sz="750" u="none" cap="none" strike="noStrike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grpSp>
            <p:nvGrpSpPr>
              <p:cNvPr id="565" name="Google Shape;565;p52"/>
              <p:cNvGrpSpPr/>
              <p:nvPr/>
            </p:nvGrpSpPr>
            <p:grpSpPr>
              <a:xfrm>
                <a:off x="161925" y="419100"/>
                <a:ext cx="266700" cy="266700"/>
                <a:chOff x="19050" y="19050"/>
                <a:chExt cx="266700" cy="266700"/>
              </a:xfrm>
            </p:grpSpPr>
            <p:sp>
              <p:nvSpPr>
                <p:cNvPr id="566" name="Google Shape;566;p52"/>
                <p:cNvSpPr/>
                <p:nvPr/>
              </p:nvSpPr>
              <p:spPr>
                <a:xfrm>
                  <a:off x="19050" y="19050"/>
                  <a:ext cx="266700" cy="266700"/>
                </a:xfrm>
                <a:prstGeom prst="ellipse">
                  <a:avLst/>
                </a:prstGeom>
                <a:solidFill>
                  <a:srgbClr val="E34F26">
                    <a:alpha val="10196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" name="Google Shape;567;p52"/>
                <p:cNvSpPr/>
                <p:nvPr/>
              </p:nvSpPr>
              <p:spPr>
                <a:xfrm>
                  <a:off x="57150" y="57150"/>
                  <a:ext cx="190500" cy="1809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0"/>
                      </a:moveTo>
                      <a:lnTo>
                        <a:pt x="78000" y="44211"/>
                      </a:lnTo>
                      <a:lnTo>
                        <a:pt x="120000" y="44211"/>
                      </a:lnTo>
                      <a:lnTo>
                        <a:pt x="84000" y="72632"/>
                      </a:lnTo>
                      <a:lnTo>
                        <a:pt x="96000" y="120000"/>
                      </a:lnTo>
                      <a:lnTo>
                        <a:pt x="60000" y="91579"/>
                      </a:lnTo>
                      <a:lnTo>
                        <a:pt x="24000" y="120000"/>
                      </a:lnTo>
                      <a:lnTo>
                        <a:pt x="36000" y="72632"/>
                      </a:lnTo>
                      <a:lnTo>
                        <a:pt x="0" y="44211"/>
                      </a:lnTo>
                      <a:lnTo>
                        <a:pt x="42000" y="44211"/>
                      </a:lnTo>
                      <a:lnTo>
                        <a:pt x="60000" y="0"/>
                      </a:lnTo>
                      <a:close/>
                    </a:path>
                  </a:pathLst>
                </a:custGeom>
                <a:solidFill>
                  <a:srgbClr val="E34F2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68" name="Google Shape;568;p52"/>
              <p:cNvSpPr txBox="1"/>
              <p:nvPr/>
            </p:nvSpPr>
            <p:spPr>
              <a:xfrm>
                <a:off x="571500" y="342900"/>
                <a:ext cx="3048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25"/>
                  <a:buFont typeface="Arial"/>
                  <a:buNone/>
                </a:pPr>
                <a:r>
                  <a:rPr b="1" i="0" lang="en" sz="1125" u="none" cap="none" strike="noStrike">
                    <a:solidFill>
                      <a:srgbClr val="F1F5F9"/>
                    </a:solidFill>
                    <a:latin typeface="Arial"/>
                    <a:ea typeface="Arial"/>
                    <a:cs typeface="Arial"/>
                    <a:sym typeface="Arial"/>
                  </a:rPr>
                  <a:t>Newsletter Sign-Up</a:t>
                </a:r>
                <a:endParaRPr b="1" i="0" sz="1125" u="none" cap="none" strike="noStrike">
                  <a:solidFill>
                    <a:srgbClr val="1A202C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Design a subscription form featuring instant client-side email validation using basic browser constraints.</a:t>
                </a:r>
                <a:endParaRPr b="0" i="0" sz="975" u="none" cap="none" strike="noStrike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69" name="Google Shape;569;p52"/>
          <p:cNvGrpSpPr/>
          <p:nvPr/>
        </p:nvGrpSpPr>
        <p:grpSpPr>
          <a:xfrm>
            <a:off x="4572000" y="1238250"/>
            <a:ext cx="4095900" cy="3190800"/>
            <a:chOff x="4572000" y="1238250"/>
            <a:chExt cx="4095900" cy="3190800"/>
          </a:xfrm>
        </p:grpSpPr>
        <p:sp>
          <p:nvSpPr>
            <p:cNvPr id="570" name="Google Shape;570;p52"/>
            <p:cNvSpPr/>
            <p:nvPr/>
          </p:nvSpPr>
          <p:spPr>
            <a:xfrm>
              <a:off x="4572000" y="1238250"/>
              <a:ext cx="4095900" cy="3190800"/>
            </a:xfrm>
            <a:prstGeom prst="roundRect">
              <a:avLst>
                <a:gd fmla="val 2388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52"/>
            <p:cNvSpPr/>
            <p:nvPr/>
          </p:nvSpPr>
          <p:spPr>
            <a:xfrm>
              <a:off x="4572000" y="1238250"/>
              <a:ext cx="4095900" cy="342900"/>
            </a:xfrm>
            <a:prstGeom prst="roundRect">
              <a:avLst>
                <a:gd fmla="val 22222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52"/>
            <p:cNvSpPr/>
            <p:nvPr/>
          </p:nvSpPr>
          <p:spPr>
            <a:xfrm>
              <a:off x="4572000" y="1428750"/>
              <a:ext cx="4095900" cy="152400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3" name="Google Shape;573;p52"/>
            <p:cNvGrpSpPr/>
            <p:nvPr/>
          </p:nvGrpSpPr>
          <p:grpSpPr>
            <a:xfrm>
              <a:off x="4743450" y="1409700"/>
              <a:ext cx="495300" cy="114300"/>
              <a:chOff x="57150" y="57150"/>
              <a:chExt cx="495300" cy="114300"/>
            </a:xfrm>
          </p:grpSpPr>
          <p:sp>
            <p:nvSpPr>
              <p:cNvPr id="574" name="Google Shape;574;p52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52"/>
              <p:cNvSpPr/>
              <p:nvPr/>
            </p:nvSpPr>
            <p:spPr>
              <a:xfrm>
                <a:off x="247650" y="57150"/>
                <a:ext cx="114300" cy="1143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52"/>
              <p:cNvSpPr/>
              <p:nvPr/>
            </p:nvSpPr>
            <p:spPr>
              <a:xfrm>
                <a:off x="438150" y="57150"/>
                <a:ext cx="114300" cy="1143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7" name="Google Shape;577;p52"/>
            <p:cNvSpPr txBox="1"/>
            <p:nvPr/>
          </p:nvSpPr>
          <p:spPr>
            <a:xfrm>
              <a:off x="4572000" y="1314450"/>
              <a:ext cx="4095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94A3B8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form-media.html</a:t>
              </a:r>
              <a:endParaRPr b="0" i="0" sz="825" u="none" cap="none" strike="noStrike">
                <a:solidFill>
                  <a:srgbClr val="858585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578" name="Google Shape;578;p52"/>
            <p:cNvSpPr txBox="1"/>
            <p:nvPr/>
          </p:nvSpPr>
          <p:spPr>
            <a:xfrm>
              <a:off x="4762500" y="1762125"/>
              <a:ext cx="3714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1" lang="en" sz="1050" u="none" cap="none" strike="noStrike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&lt;!-- Interactive Form Markup --&gt;</a:t>
              </a:r>
              <a:endParaRPr b="0" i="0" sz="1050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&lt;form&gt;</a:t>
              </a:r>
              <a:endParaRPr b="0" i="0" sz="1050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&lt;label&gt;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Email Address</a:t>
              </a: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&lt;/label&gt;</a:t>
              </a:r>
              <a:endParaRPr b="0" i="0" sz="1050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&lt;input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type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1050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"email"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required</a:t>
              </a: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</a:t>
              </a:r>
              <a:endParaRPr b="0" i="0" sz="1050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&lt;button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type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1050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"submit"</a:t>
              </a: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Subscribe</a:t>
              </a: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&lt;/button&gt;</a:t>
              </a:r>
              <a:endParaRPr b="0" i="0" sz="1050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&lt;/form&gt;</a:t>
              </a:r>
              <a:endParaRPr b="0" i="0" sz="1050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1" lang="en" sz="1050" u="none" cap="none" strike="noStrike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&lt;!-- Multimedia &amp; Widgets --&gt;</a:t>
              </a:r>
              <a:endParaRPr b="0" i="0" sz="1050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&lt;video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src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1050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"intro.mp4"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controls</a:t>
              </a: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&gt;&lt;/video&gt;</a:t>
              </a:r>
              <a:endParaRPr b="0" i="0" sz="1050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&lt;iframe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src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i="0" lang="en" sz="1050" u="none" cap="none" strike="noStrike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"map_embed"</a:t>
              </a:r>
              <a:r>
                <a:rPr b="0" i="0" lang="en" sz="1050" u="none" cap="none" strike="noStrike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&gt;&lt;/iframe&gt;</a:t>
              </a:r>
              <a:endParaRPr b="0" i="0" sz="1050" u="none" cap="none" strike="noStrike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579" name="Google Shape;579;p52"/>
          <p:cNvGrpSpPr/>
          <p:nvPr/>
        </p:nvGrpSpPr>
        <p:grpSpPr>
          <a:xfrm>
            <a:off x="0" y="4762500"/>
            <a:ext cx="9144000" cy="428775"/>
            <a:chOff x="0" y="0"/>
            <a:chExt cx="9144000" cy="428775"/>
          </a:xfrm>
        </p:grpSpPr>
        <p:sp>
          <p:nvSpPr>
            <p:cNvPr id="580" name="Google Shape;580;p52"/>
            <p:cNvSpPr/>
            <p:nvPr/>
          </p:nvSpPr>
          <p:spPr>
            <a:xfrm>
              <a:off x="0" y="0"/>
              <a:ext cx="9144000" cy="9600"/>
            </a:xfrm>
            <a:prstGeom prst="rect">
              <a:avLst/>
            </a:prstGeom>
            <a:solidFill>
              <a:srgbClr val="2B36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2"/>
            <p:cNvSpPr txBox="1"/>
            <p:nvPr/>
          </p:nvSpPr>
          <p:spPr>
            <a:xfrm>
              <a:off x="476250" y="142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 DEVELOPMENT WORKSHOP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582" name="Google Shape;582;p52"/>
            <p:cNvSpPr txBox="1"/>
            <p:nvPr/>
          </p:nvSpPr>
          <p:spPr>
            <a:xfrm>
              <a:off x="7715250" y="142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HTML BASICS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583" name="Google Shape;583;p52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53"/>
          <p:cNvSpPr txBox="1"/>
          <p:nvPr/>
        </p:nvSpPr>
        <p:spPr>
          <a:xfrm>
            <a:off x="476250" y="333375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D4D4D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Best Practices &amp; Mistakes</a:t>
            </a:r>
            <a:endParaRPr b="0" i="0" sz="2700" u="none" cap="none" strike="noStrike">
              <a:solidFill>
                <a:srgbClr val="2D374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Structural alignment guidelines for robust markup</a:t>
            </a:r>
            <a:endParaRPr b="0" i="0" sz="1500" u="none" cap="none" strike="noStrike">
              <a:solidFill>
                <a:srgbClr val="71809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590" name="Google Shape;590;p53"/>
          <p:cNvGrpSpPr/>
          <p:nvPr/>
        </p:nvGrpSpPr>
        <p:grpSpPr>
          <a:xfrm>
            <a:off x="476250" y="1238250"/>
            <a:ext cx="3905400" cy="3238500"/>
            <a:chOff x="476250" y="1238250"/>
            <a:chExt cx="3905400" cy="3238500"/>
          </a:xfrm>
        </p:grpSpPr>
        <p:sp>
          <p:nvSpPr>
            <p:cNvPr id="591" name="Google Shape;591;p53"/>
            <p:cNvSpPr/>
            <p:nvPr/>
          </p:nvSpPr>
          <p:spPr>
            <a:xfrm>
              <a:off x="476250" y="123825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111820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53"/>
            <p:cNvSpPr/>
            <p:nvPr/>
          </p:nvSpPr>
          <p:spPr>
            <a:xfrm>
              <a:off x="476250" y="123825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264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3"/>
            <p:cNvSpPr txBox="1"/>
            <p:nvPr/>
          </p:nvSpPr>
          <p:spPr>
            <a:xfrm>
              <a:off x="714375" y="1476375"/>
              <a:ext cx="3429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" sz="1350" u="none" cap="none" strike="noStrike">
                  <a:solidFill>
                    <a:srgbClr val="264DE4"/>
                  </a:solidFill>
                  <a:latin typeface="Inter"/>
                  <a:ea typeface="Inter"/>
                  <a:cs typeface="Inter"/>
                  <a:sym typeface="Inter"/>
                </a:rPr>
                <a:t>RECOMMENDED PRACTICES</a:t>
              </a:r>
              <a:endParaRPr b="1" i="0" sz="1350" u="none" cap="none" strike="noStrike">
                <a:solidFill>
                  <a:srgbClr val="264DE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1" i="0" lang="en" sz="1125" u="none" cap="none" strike="noStrike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Comments</a:t>
              </a:r>
              <a:r>
                <a:rPr b="0" i="0" lang="en" sz="1400" u="none" cap="none" strike="noStrike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1" lang="en" sz="1125" u="none" cap="none" strike="noStrike">
                  <a:solidFill>
                    <a:srgbClr val="6A9955"/>
                  </a:solidFill>
                  <a:highlight>
                    <a:srgbClr val="1E1E1E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&lt;!-- Hidden Note --&gt;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1" i="0" lang="en" sz="1125" u="none" cap="none" strike="noStrike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Entities</a:t>
              </a:r>
              <a:r>
                <a:rPr b="0" i="0" lang="en" sz="1400" u="none" cap="none" strike="noStrike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" sz="1125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&amp;nbsp;</a:t>
              </a:r>
              <a:r>
                <a:rPr b="0" i="0" lang="en" sz="1400" u="none" cap="none" strike="noStrike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b="0" i="0" lang="en" sz="1125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&amp;copy;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150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1" i="0" lang="en" sz="1125" u="none" cap="none" strike="noStrike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Globals</a:t>
              </a:r>
              <a:r>
                <a:rPr b="0" i="0" lang="en" sz="1400" u="none" cap="none" strike="noStrike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" sz="1125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id</a:t>
              </a:r>
              <a:r>
                <a:rPr b="0" i="0" lang="en" sz="1400" u="none" cap="none" strike="noStrike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b="0" i="0" lang="en" sz="1125" u="none" cap="none" strike="noStrike">
                  <a:solidFill>
                    <a:srgbClr val="E34F2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4" name="Google Shape;594;p53"/>
          <p:cNvSpPr/>
          <p:nvPr/>
        </p:nvSpPr>
        <p:spPr>
          <a:xfrm>
            <a:off x="4667250" y="1238250"/>
            <a:ext cx="57300" cy="3238500"/>
          </a:xfrm>
          <a:prstGeom prst="roundRect">
            <a:avLst>
              <a:gd fmla="val 50000" name="adj"/>
            </a:avLst>
          </a:prstGeom>
          <a:solidFill>
            <a:srgbClr val="E53E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3"/>
          <p:cNvSpPr txBox="1"/>
          <p:nvPr/>
        </p:nvSpPr>
        <p:spPr>
          <a:xfrm>
            <a:off x="4905375" y="1476375"/>
            <a:ext cx="3524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E53E3E"/>
                </a:solidFill>
                <a:latin typeface="Inter"/>
                <a:ea typeface="Inter"/>
                <a:cs typeface="Inter"/>
                <a:sym typeface="Inter"/>
              </a:rPr>
              <a:t>MISTAKES TO AVOID</a:t>
            </a:r>
            <a:endParaRPr b="1" i="0" sz="1350" u="none" cap="none" strike="noStrike">
              <a:solidFill>
                <a:srgbClr val="E53E3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Forgetting closing tags</a:t>
            </a:r>
            <a:endParaRPr b="1" i="0" sz="1125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9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Always balance structural elements correctly.</a:t>
            </a:r>
            <a:endParaRPr b="0" i="0" sz="975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Incorrect nesting</a:t>
            </a:r>
            <a:endParaRPr b="1" i="0" sz="1125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9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Avoid overlap: </a:t>
            </a:r>
            <a:r>
              <a:rPr b="0" i="0" lang="en" sz="900" u="none" cap="none" strike="noStrike">
                <a:solidFill>
                  <a:srgbClr val="E53E3E"/>
                </a:solidFill>
                <a:latin typeface="Roboto Mono"/>
                <a:ea typeface="Roboto Mono"/>
                <a:cs typeface="Roboto Mono"/>
                <a:sym typeface="Roboto Mono"/>
              </a:rPr>
              <a:t>&lt;strong&gt;&lt;em&gt;text&lt;/strong&gt;&lt;/em&gt;</a:t>
            </a:r>
            <a:endParaRPr b="0" i="0" sz="975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Missing mandatory tags</a:t>
            </a:r>
            <a:endParaRPr b="1" i="0" sz="1125" u="none" cap="none" strike="noStrike">
              <a:solidFill>
                <a:srgbClr val="2D37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135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9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Failing to include required </a:t>
            </a:r>
            <a:r>
              <a:rPr b="0" i="0" lang="en" sz="900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alt</a:t>
            </a:r>
            <a:r>
              <a:rPr b="0" i="0" lang="en" sz="9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attributes on images.</a:t>
            </a:r>
            <a:endParaRPr b="0" i="0" sz="975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6" name="Google Shape;596;p53"/>
          <p:cNvGrpSpPr/>
          <p:nvPr/>
        </p:nvGrpSpPr>
        <p:grpSpPr>
          <a:xfrm>
            <a:off x="0" y="4762500"/>
            <a:ext cx="9144000" cy="428775"/>
            <a:chOff x="0" y="0"/>
            <a:chExt cx="9144000" cy="428775"/>
          </a:xfrm>
        </p:grpSpPr>
        <p:sp>
          <p:nvSpPr>
            <p:cNvPr id="597" name="Google Shape;597;p53"/>
            <p:cNvSpPr/>
            <p:nvPr/>
          </p:nvSpPr>
          <p:spPr>
            <a:xfrm>
              <a:off x="0" y="0"/>
              <a:ext cx="9144000" cy="9600"/>
            </a:xfrm>
            <a:prstGeom prst="rect">
              <a:avLst/>
            </a:prstGeom>
            <a:solidFill>
              <a:srgbClr val="2B36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53"/>
            <p:cNvSpPr txBox="1"/>
            <p:nvPr/>
          </p:nvSpPr>
          <p:spPr>
            <a:xfrm>
              <a:off x="476250" y="142875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 DEVELOPMENT WORKSHOP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599" name="Google Shape;599;p53"/>
            <p:cNvSpPr txBox="1"/>
            <p:nvPr/>
          </p:nvSpPr>
          <p:spPr>
            <a:xfrm>
              <a:off x="7715250" y="142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A0AEC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HTML BASICS</a:t>
              </a:r>
              <a:endParaRPr b="0" i="0" sz="900" u="none" cap="none" strike="noStrike">
                <a:solidFill>
                  <a:srgbClr val="A0AEC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600" name="Google Shape;600;p53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54"/>
          <p:cNvGrpSpPr/>
          <p:nvPr/>
        </p:nvGrpSpPr>
        <p:grpSpPr>
          <a:xfrm>
            <a:off x="466725" y="466725"/>
            <a:ext cx="742950" cy="171450"/>
            <a:chOff x="57150" y="57150"/>
            <a:chExt cx="495300" cy="114300"/>
          </a:xfrm>
        </p:grpSpPr>
        <p:sp>
          <p:nvSpPr>
            <p:cNvPr id="606" name="Google Shape;606;p54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4"/>
            <p:cNvSpPr/>
            <p:nvPr/>
          </p:nvSpPr>
          <p:spPr>
            <a:xfrm>
              <a:off x="247650" y="57150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54"/>
            <p:cNvSpPr/>
            <p:nvPr/>
          </p:nvSpPr>
          <p:spPr>
            <a:xfrm>
              <a:off x="438150" y="57150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9" name="Google Shape;609;p54"/>
          <p:cNvSpPr txBox="1"/>
          <p:nvPr/>
        </p:nvSpPr>
        <p:spPr>
          <a:xfrm>
            <a:off x="904875" y="742950"/>
            <a:ext cx="7858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" sz="1950" u="none" cap="none" strike="noStrike">
                <a:solidFill>
                  <a:srgbClr val="E34F2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Capstone Challenge</a:t>
            </a:r>
            <a:endParaRPr b="0" i="0" sz="1950" u="none" cap="none" strike="noStrike">
              <a:solidFill>
                <a:srgbClr val="E34F2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Build a semantic Student Portfolio Website (HTML only!)</a:t>
            </a:r>
            <a:endParaRPr b="0" i="0" sz="1200" u="none" cap="none" strike="noStrike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10" name="Google Shape;610;p54"/>
          <p:cNvSpPr/>
          <p:nvPr/>
        </p:nvSpPr>
        <p:spPr>
          <a:xfrm>
            <a:off x="285750" y="1476375"/>
            <a:ext cx="4095900" cy="2333700"/>
          </a:xfrm>
          <a:prstGeom prst="roundRect">
            <a:avLst>
              <a:gd fmla="val 2448" name="adj"/>
            </a:avLst>
          </a:prstGeom>
          <a:solidFill>
            <a:srgbClr val="2525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4"/>
          <p:cNvSpPr txBox="1"/>
          <p:nvPr/>
        </p:nvSpPr>
        <p:spPr>
          <a:xfrm>
            <a:off x="476250" y="1619250"/>
            <a:ext cx="37149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A0AEC0"/>
                </a:solidFill>
                <a:latin typeface="Roboto Mono"/>
                <a:ea typeface="Roboto Mono"/>
                <a:cs typeface="Roboto Mono"/>
                <a:sym typeface="Roboto Mono"/>
              </a:rPr>
              <a:t>Project Specifications</a:t>
            </a:r>
            <a:endParaRPr b="1" i="0" sz="825" u="none" cap="none" strike="noStrike">
              <a:solidFill>
                <a:srgbClr val="A0AE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r>
              <a:rPr b="1" i="0" lang="en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Semantic Structure</a:t>
            </a:r>
            <a:endParaRPr b="1" i="0" sz="975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38125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Organize layout using structural elements.</a:t>
            </a:r>
            <a:endParaRPr b="0" i="0" sz="900" u="none" cap="none" strike="noStrike">
              <a:solidFill>
                <a:srgbClr val="A0AEC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r>
              <a:rPr b="1" i="0" lang="en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Professional Skills List</a:t>
            </a:r>
            <a:endParaRPr b="1" i="0" sz="975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38125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Display developer capabilities using lists.</a:t>
            </a:r>
            <a:endParaRPr b="0" i="0" sz="900" u="none" cap="none" strike="noStrike">
              <a:solidFill>
                <a:srgbClr val="A0AEC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r>
              <a:rPr b="1" i="0" lang="en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Education Credentials</a:t>
            </a:r>
            <a:endParaRPr b="1" i="0" sz="975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38125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Present schools and degrees in a table grid.</a:t>
            </a:r>
            <a:endParaRPr b="0" i="0" sz="900" u="none" cap="none" strike="noStrike">
              <a:solidFill>
                <a:srgbClr val="A0AEC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" sz="975" u="none" cap="none" strike="noStrike">
                <a:solidFill>
                  <a:srgbClr val="E34F26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r>
              <a:rPr b="1" i="0" lang="en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Interactive Contact Form</a:t>
            </a:r>
            <a:endParaRPr b="1" i="0" sz="975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38125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Enable user outreach with input fields &amp; buttons.</a:t>
            </a:r>
            <a:endParaRPr b="0" i="0" sz="900" u="none" cap="none" strike="noStrike">
              <a:solidFill>
                <a:srgbClr val="A0AE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2" name="Google Shape;612;p54"/>
          <p:cNvSpPr/>
          <p:nvPr/>
        </p:nvSpPr>
        <p:spPr>
          <a:xfrm>
            <a:off x="4572000" y="1476375"/>
            <a:ext cx="4286400" cy="2333700"/>
          </a:xfrm>
          <a:prstGeom prst="roundRect">
            <a:avLst>
              <a:gd fmla="val 2448" name="adj"/>
            </a:avLst>
          </a:prstGeom>
          <a:solidFill>
            <a:srgbClr val="2525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4"/>
          <p:cNvSpPr txBox="1"/>
          <p:nvPr/>
        </p:nvSpPr>
        <p:spPr>
          <a:xfrm>
            <a:off x="4762500" y="1619250"/>
            <a:ext cx="39054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A0AEC0"/>
                </a:solidFill>
                <a:latin typeface="Roboto Mono"/>
                <a:ea typeface="Roboto Mono"/>
                <a:cs typeface="Roboto Mono"/>
                <a:sym typeface="Roboto Mono"/>
              </a:rPr>
              <a:t>HTML Cheat Sheet</a:t>
            </a:r>
            <a:endParaRPr b="1" i="0" sz="825" u="none" cap="none" strike="noStrike">
              <a:solidFill>
                <a:srgbClr val="A0AEC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Structure</a:t>
            </a:r>
            <a:endParaRPr b="1" i="0" sz="825" u="none" cap="none" strike="noStrike">
              <a:solidFill>
                <a:srgbClr val="71809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&lt;html&gt;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endParaRPr b="0" i="0" sz="975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Text Formatting</a:t>
            </a:r>
            <a:endParaRPr b="1" i="0" sz="825" u="none" cap="none" strike="noStrike">
              <a:solidFill>
                <a:srgbClr val="71809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&lt;h1-h6&gt;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&lt;p&gt;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&lt;br&gt;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&lt;strong&gt;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&lt;em&gt;</a:t>
            </a:r>
            <a:endParaRPr b="0" i="0" sz="975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Links &amp; Media</a:t>
            </a:r>
            <a:endParaRPr b="1" i="0" sz="825" u="none" cap="none" strike="noStrike">
              <a:solidFill>
                <a:srgbClr val="71809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&lt;a&gt;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&lt;img&gt;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&lt;iframe&gt;</a:t>
            </a:r>
            <a:endParaRPr b="0" i="0" sz="975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Lists &amp; Tables</a:t>
            </a:r>
            <a:endParaRPr b="1" i="0" sz="825" u="none" cap="none" strike="noStrike">
              <a:solidFill>
                <a:srgbClr val="71809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&lt;ul&gt;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&lt;ol&gt;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&lt;table&gt;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&lt;tr&gt;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&lt;td&gt;</a:t>
            </a:r>
            <a:endParaRPr b="0" i="0" sz="975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Forms</a:t>
            </a:r>
            <a:endParaRPr b="1" i="0" sz="825" u="none" cap="none" strike="noStrike">
              <a:solidFill>
                <a:srgbClr val="71809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&lt;form&gt;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&lt;input&gt;</a:t>
            </a:r>
            <a:r>
              <a:rPr b="0" i="0" lang="en" sz="975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" sz="975" u="none" cap="none" strike="noStrik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&lt;button&gt;</a:t>
            </a:r>
            <a:endParaRPr b="0" i="0" sz="975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4" name="Google Shape;614;p54"/>
          <p:cNvSpPr/>
          <p:nvPr/>
        </p:nvSpPr>
        <p:spPr>
          <a:xfrm>
            <a:off x="285750" y="3924300"/>
            <a:ext cx="8572500" cy="266700"/>
          </a:xfrm>
          <a:prstGeom prst="roundRect">
            <a:avLst>
              <a:gd fmla="val 14285" name="adj"/>
            </a:avLst>
          </a:prstGeom>
          <a:solidFill>
            <a:srgbClr val="264D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4"/>
          <p:cNvSpPr txBox="1"/>
          <p:nvPr/>
        </p:nvSpPr>
        <p:spPr>
          <a:xfrm>
            <a:off x="285750" y="3924300"/>
            <a:ext cx="857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9EBDFF"/>
                </a:solidFill>
                <a:latin typeface="Roboto Mono"/>
                <a:ea typeface="Roboto Mono"/>
                <a:cs typeface="Roboto Mono"/>
                <a:sym typeface="Roboto Mono"/>
              </a:rPr>
              <a:t>UP NEXT:</a:t>
            </a:r>
            <a:r>
              <a:rPr b="1" i="0" lang="en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CSS — Making Our HTML Beautiful</a:t>
            </a:r>
            <a:endParaRPr b="1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Google Shape;616;p54"/>
          <p:cNvSpPr/>
          <p:nvPr/>
        </p:nvSpPr>
        <p:spPr>
          <a:xfrm>
            <a:off x="381000" y="4333875"/>
            <a:ext cx="83820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4"/>
          <p:cNvSpPr txBox="1"/>
          <p:nvPr/>
        </p:nvSpPr>
        <p:spPr>
          <a:xfrm>
            <a:off x="381000" y="44767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WEB DEVELOPMENT WORKSHOP</a:t>
            </a:r>
            <a:endParaRPr b="0" i="0" sz="825" u="none" cap="none" strike="noStrike">
              <a:solidFill>
                <a:srgbClr val="858585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18" name="Google Shape;618;p54"/>
          <p:cNvSpPr txBox="1"/>
          <p:nvPr/>
        </p:nvSpPr>
        <p:spPr>
          <a:xfrm>
            <a:off x="6858000" y="4476750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" sz="825" u="none" cap="none" strike="noStrike">
                <a:solidFill>
                  <a:srgbClr val="94A3B8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MODULE 01: HTML5</a:t>
            </a:r>
            <a:endParaRPr b="0" i="0" sz="825" u="none" cap="none" strike="noStrike">
              <a:solidFill>
                <a:srgbClr val="858585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619" name="Google Shape;61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00" y="638175"/>
            <a:ext cx="67627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54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55"/>
          <p:cNvGrpSpPr/>
          <p:nvPr/>
        </p:nvGrpSpPr>
        <p:grpSpPr>
          <a:xfrm>
            <a:off x="0" y="1190625"/>
            <a:ext cx="9144000" cy="3952900"/>
            <a:chOff x="0" y="1190625"/>
            <a:chExt cx="9144000" cy="3952900"/>
          </a:xfrm>
        </p:grpSpPr>
        <p:sp>
          <p:nvSpPr>
            <p:cNvPr id="627" name="Google Shape;627;p55"/>
            <p:cNvSpPr/>
            <p:nvPr/>
          </p:nvSpPr>
          <p:spPr>
            <a:xfrm>
              <a:off x="0" y="1492525"/>
              <a:ext cx="9144000" cy="365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55"/>
            <p:cNvSpPr/>
            <p:nvPr/>
          </p:nvSpPr>
          <p:spPr>
            <a:xfrm>
              <a:off x="4429125" y="1190625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0" y="60000"/>
                  </a:lnTo>
                  <a:lnTo>
                    <a:pt x="40000" y="12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569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9" name="Google Shape;629;p55"/>
          <p:cNvSpPr txBox="1"/>
          <p:nvPr/>
        </p:nvSpPr>
        <p:spPr>
          <a:xfrm>
            <a:off x="476250" y="619125"/>
            <a:ext cx="3905400" cy="4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569CD6"/>
                </a:solidFill>
                <a:highlight>
                  <a:srgbClr val="2D2D2D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Web Development Workshop — CSS Basics</a:t>
            </a:r>
            <a:endParaRPr b="0" sz="825">
              <a:solidFill>
                <a:srgbClr val="569CD6"/>
              </a:solidFill>
              <a:highlight>
                <a:srgbClr val="2D2D2D"/>
              </a:highlight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" sz="34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CSS</a:t>
            </a:r>
            <a:endParaRPr b="1" sz="34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69CD6"/>
                </a:solidFill>
                <a:latin typeface="Inter"/>
                <a:ea typeface="Inter"/>
                <a:cs typeface="Inter"/>
                <a:sym typeface="Inter"/>
              </a:rPr>
              <a:t>Cascading Style Sheets</a:t>
            </a:r>
            <a:endParaRPr b="1" sz="2400">
              <a:solidFill>
                <a:srgbClr val="569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CSS dictates the presentation of web pages. </a:t>
            </a:r>
            <a:r>
              <a:rPr b="0" lang="en" sz="1125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HTML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provides the structural foundation, </a:t>
            </a:r>
            <a:r>
              <a:rPr b="0" lang="en" sz="1125">
                <a:solidFill>
                  <a:srgbClr val="C586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CSS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applies the visual styling, and </a:t>
            </a:r>
            <a:r>
              <a:rPr b="0" i="1" lang="en" sz="1125">
                <a:solidFill>
                  <a:srgbClr val="6A9955"/>
                </a:solidFill>
                <a:latin typeface="Inter"/>
                <a:ea typeface="Inter"/>
                <a:cs typeface="Inter"/>
                <a:sym typeface="Inter"/>
              </a:rPr>
              <a:t>JavaScript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adds interactive behavior.</a:t>
            </a:r>
            <a:endParaRPr b="0" sz="112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Think of </a:t>
            </a:r>
            <a:r>
              <a:rPr b="0" lang="en" sz="112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as the skeleton and </a:t>
            </a:r>
            <a:r>
              <a:rPr b="0" lang="en" sz="1125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CSS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as the skin and clothing.</a:t>
            </a:r>
            <a:endParaRPr b="0" sz="112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tells the browser </a:t>
            </a:r>
            <a:r>
              <a:rPr b="0" lang="en" sz="1125">
                <a:solidFill>
                  <a:srgbClr val="CE917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is on the page, while </a:t>
            </a:r>
            <a:r>
              <a:rPr b="0" lang="en" sz="1125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CSS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tells it </a:t>
            </a:r>
            <a:r>
              <a:rPr b="0" lang="en" sz="1125">
                <a:solidFill>
                  <a:srgbClr val="CE917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it should look.</a:t>
            </a:r>
            <a:endParaRPr b="0" sz="112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0" name="Google Shape;630;p55"/>
          <p:cNvPicPr preferRelativeResize="0"/>
          <p:nvPr/>
        </p:nvPicPr>
        <p:blipFill rotWithShape="1">
          <a:blip r:embed="rId3">
            <a:alphaModFix/>
          </a:blip>
          <a:srcRect b="60" l="0" r="0" t="50"/>
          <a:stretch/>
        </p:blipFill>
        <p:spPr>
          <a:xfrm>
            <a:off x="4667250" y="1714500"/>
            <a:ext cx="400050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55"/>
          <p:cNvSpPr txBox="1"/>
          <p:nvPr/>
        </p:nvSpPr>
        <p:spPr>
          <a:xfrm>
            <a:off x="4667250" y="40576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75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/* Figure 1: HTML Structure vs. CSS Styling */</a:t>
            </a:r>
            <a:endParaRPr b="0" i="1" sz="975">
              <a:solidFill>
                <a:srgbClr val="6A995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32" name="Google Shape;632;p55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8" name="Google Shape;63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56"/>
          <p:cNvSpPr/>
          <p:nvPr/>
        </p:nvSpPr>
        <p:spPr>
          <a:xfrm>
            <a:off x="476250" y="1095375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6"/>
          <p:cNvSpPr/>
          <p:nvPr/>
        </p:nvSpPr>
        <p:spPr>
          <a:xfrm>
            <a:off x="8334375" y="476250"/>
            <a:ext cx="285900" cy="190500"/>
          </a:xfrm>
          <a:custGeom>
            <a:rect b="b" l="l" r="r" t="t"/>
            <a:pathLst>
              <a:path extrusionOk="0" h="120000" w="120000">
                <a:moveTo>
                  <a:pt x="40000" y="0"/>
                </a:moveTo>
                <a:lnTo>
                  <a:pt x="0" y="60000"/>
                </a:lnTo>
                <a:lnTo>
                  <a:pt x="40000" y="120000"/>
                </a:lnTo>
                <a:moveTo>
                  <a:pt x="80000" y="0"/>
                </a:moveTo>
                <a:lnTo>
                  <a:pt x="120000" y="60000"/>
                </a:lnTo>
                <a:lnTo>
                  <a:pt x="8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8100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6"/>
          <p:cNvSpPr txBox="1"/>
          <p:nvPr/>
        </p:nvSpPr>
        <p:spPr>
          <a:xfrm>
            <a:off x="476250" y="381000"/>
            <a:ext cx="7620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CSS Works</a:t>
            </a:r>
            <a:endParaRPr b="1" sz="3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Google Shape;642;p56"/>
          <p:cNvSpPr txBox="1"/>
          <p:nvPr/>
        </p:nvSpPr>
        <p:spPr>
          <a:xfrm>
            <a:off x="476250" y="1381125"/>
            <a:ext cx="39054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CSS operates through a </a:t>
            </a:r>
            <a:r>
              <a:rPr b="0" lang="en" sz="1275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rule-based structure</a:t>
            </a: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. A CSS rule consists of a selector and a declaration block.</a:t>
            </a:r>
            <a:endParaRPr b="0" sz="127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In the example, </a:t>
            </a:r>
            <a:r>
              <a:rPr b="1" lang="en" sz="120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is the </a:t>
            </a:r>
            <a:r>
              <a:rPr b="0" lang="en" sz="1275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selector</a:t>
            </a: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targeting paragraph elements. The </a:t>
            </a:r>
            <a:r>
              <a:rPr b="0" lang="en" sz="1275">
                <a:solidFill>
                  <a:srgbClr val="C586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declaration block</a:t>
            </a: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is enclosed in braces </a:t>
            </a:r>
            <a:r>
              <a:rPr b="0" lang="en" sz="12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{}</a:t>
            </a: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27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Inside, declarations pair a </a:t>
            </a:r>
            <a:r>
              <a:rPr b="0" lang="en" sz="1275">
                <a:solidFill>
                  <a:srgbClr val="DCDC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property</a:t>
            </a: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(like </a:t>
            </a:r>
            <a:r>
              <a:rPr b="0" lang="en" sz="12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) with a </a:t>
            </a:r>
            <a:r>
              <a:rPr b="0" lang="en" sz="1275">
                <a:solidFill>
                  <a:srgbClr val="CE917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value</a:t>
            </a: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(like </a:t>
            </a:r>
            <a:r>
              <a:rPr b="0" lang="en" sz="120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blue</a:t>
            </a: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), separated by a colon </a:t>
            </a:r>
            <a:r>
              <a:rPr b="0" lang="en" sz="12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and ending with a semicolon </a:t>
            </a:r>
            <a:r>
              <a:rPr b="0" lang="en" sz="12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27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0" lang="en" sz="12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The browser reads these rules and applies the specified styles to the matching HTML elements.</a:t>
            </a:r>
            <a:endParaRPr b="0" sz="127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43" name="Google Shape;643;p56"/>
          <p:cNvGrpSpPr/>
          <p:nvPr/>
        </p:nvGrpSpPr>
        <p:grpSpPr>
          <a:xfrm>
            <a:off x="4762500" y="1381125"/>
            <a:ext cx="3905400" cy="3238500"/>
            <a:chOff x="0" y="0"/>
            <a:chExt cx="3905400" cy="3238500"/>
          </a:xfrm>
        </p:grpSpPr>
        <p:sp>
          <p:nvSpPr>
            <p:cNvPr id="644" name="Google Shape;644;p56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56"/>
            <p:cNvSpPr/>
            <p:nvPr/>
          </p:nvSpPr>
          <p:spPr>
            <a:xfrm>
              <a:off x="0" y="0"/>
              <a:ext cx="3905400" cy="2859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quadBezTo>
                    <a:pt x="0" y="0"/>
                    <a:pt x="2341" y="0"/>
                  </a:quadBezTo>
                  <a:lnTo>
                    <a:pt x="117659" y="0"/>
                  </a:lnTo>
                  <a:quadBezTo>
                    <a:pt x="120000" y="0"/>
                    <a:pt x="120000" y="32000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6" name="Google Shape;646;p56"/>
            <p:cNvGrpSpPr/>
            <p:nvPr/>
          </p:nvGrpSpPr>
          <p:grpSpPr>
            <a:xfrm>
              <a:off x="142875" y="95250"/>
              <a:ext cx="400200" cy="95400"/>
              <a:chOff x="47625" y="47625"/>
              <a:chExt cx="400200" cy="95400"/>
            </a:xfrm>
          </p:grpSpPr>
          <p:sp>
            <p:nvSpPr>
              <p:cNvPr id="647" name="Google Shape;647;p56"/>
              <p:cNvSpPr/>
              <p:nvPr/>
            </p:nvSpPr>
            <p:spPr>
              <a:xfrm>
                <a:off x="47625" y="47625"/>
                <a:ext cx="95400" cy="954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56"/>
              <p:cNvSpPr/>
              <p:nvPr/>
            </p:nvSpPr>
            <p:spPr>
              <a:xfrm>
                <a:off x="200025" y="47625"/>
                <a:ext cx="95400" cy="954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56"/>
              <p:cNvSpPr/>
              <p:nvPr/>
            </p:nvSpPr>
            <p:spPr>
              <a:xfrm>
                <a:off x="352425" y="47625"/>
                <a:ext cx="95400" cy="954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0" name="Google Shape;650;p56"/>
            <p:cNvSpPr txBox="1"/>
            <p:nvPr/>
          </p:nvSpPr>
          <p:spPr>
            <a:xfrm>
              <a:off x="0" y="0"/>
              <a:ext cx="390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858585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style.css</a:t>
              </a:r>
              <a:endParaRPr b="0" sz="825">
                <a:solidFill>
                  <a:srgbClr val="858585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651" name="Google Shape;651;p56"/>
            <p:cNvSpPr txBox="1"/>
            <p:nvPr/>
          </p:nvSpPr>
          <p:spPr>
            <a:xfrm>
              <a:off x="285750" y="523875"/>
              <a:ext cx="3333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50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CSS Rule-Based Snippet */</a:t>
              </a:r>
              <a:endParaRPr sz="13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</a:t>
              </a:r>
              <a:r>
                <a:rPr lang="en" sz="135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</a:t>
              </a:r>
              <a:endParaRPr sz="13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color</a:t>
              </a:r>
              <a:r>
                <a:rPr lang="en" sz="135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lang="en" sz="1350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blue</a:t>
              </a:r>
              <a:r>
                <a:rPr lang="en" sz="135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sz="13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font-size</a:t>
              </a:r>
              <a:r>
                <a:rPr lang="en" sz="135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lang="en" sz="1350">
                  <a:solidFill>
                    <a:srgbClr val="B5CEA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20px</a:t>
              </a:r>
              <a:r>
                <a:rPr lang="en" sz="135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sz="13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}</a:t>
              </a:r>
              <a:endParaRPr sz="135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652" name="Google Shape;652;p56"/>
            <p:cNvCxnSpPr/>
            <p:nvPr/>
          </p:nvCxnSpPr>
          <p:spPr>
            <a:xfrm>
              <a:off x="190500" y="2047875"/>
              <a:ext cx="352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3" name="Google Shape;653;p56"/>
            <p:cNvSpPr txBox="1"/>
            <p:nvPr/>
          </p:nvSpPr>
          <p:spPr>
            <a:xfrm>
              <a:off x="190500" y="2124075"/>
              <a:ext cx="3524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rPr>
                <a:t>Anatomy of a CSS Rule</a:t>
              </a:r>
              <a:endParaRPr b="1" sz="825">
                <a:solidFill>
                  <a:srgbClr val="85858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54" name="Google Shape;654;p56"/>
            <p:cNvGrpSpPr/>
            <p:nvPr/>
          </p:nvGrpSpPr>
          <p:grpSpPr>
            <a:xfrm>
              <a:off x="190500" y="2400300"/>
              <a:ext cx="1095300" cy="476400"/>
              <a:chOff x="0" y="0"/>
              <a:chExt cx="1095300" cy="476400"/>
            </a:xfrm>
          </p:grpSpPr>
          <p:sp>
            <p:nvSpPr>
              <p:cNvPr id="655" name="Google Shape;655;p56"/>
              <p:cNvSpPr/>
              <p:nvPr/>
            </p:nvSpPr>
            <p:spPr>
              <a:xfrm>
                <a:off x="0" y="0"/>
                <a:ext cx="10953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1E1E1E"/>
              </a:solidFill>
              <a:ln cap="flat" cmpd="sng" w="9525">
                <a:solidFill>
                  <a:srgbClr val="569C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56"/>
              <p:cNvSpPr txBox="1"/>
              <p:nvPr/>
            </p:nvSpPr>
            <p:spPr>
              <a:xfrm>
                <a:off x="0" y="0"/>
                <a:ext cx="10953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569C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p</a:t>
                </a:r>
                <a:endParaRPr b="1" sz="97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85858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Selector</a:t>
                </a:r>
                <a:endParaRPr b="0" sz="825">
                  <a:solidFill>
                    <a:srgbClr val="85858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57" name="Google Shape;657;p56"/>
            <p:cNvGrpSpPr/>
            <p:nvPr/>
          </p:nvGrpSpPr>
          <p:grpSpPr>
            <a:xfrm>
              <a:off x="1400175" y="2400300"/>
              <a:ext cx="1095300" cy="476400"/>
              <a:chOff x="0" y="0"/>
              <a:chExt cx="1095300" cy="476400"/>
            </a:xfrm>
          </p:grpSpPr>
          <p:sp>
            <p:nvSpPr>
              <p:cNvPr id="658" name="Google Shape;658;p56"/>
              <p:cNvSpPr/>
              <p:nvPr/>
            </p:nvSpPr>
            <p:spPr>
              <a:xfrm>
                <a:off x="0" y="0"/>
                <a:ext cx="10953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1E1E1E"/>
              </a:solidFill>
              <a:ln cap="flat" cmpd="sng" w="9525">
                <a:solidFill>
                  <a:srgbClr val="9CDC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56"/>
              <p:cNvSpPr txBox="1"/>
              <p:nvPr/>
            </p:nvSpPr>
            <p:spPr>
              <a:xfrm>
                <a:off x="0" y="0"/>
                <a:ext cx="10953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9CDCF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color</a:t>
                </a:r>
                <a:endParaRPr b="1" sz="975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85858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Property</a:t>
                </a:r>
                <a:endParaRPr b="0" sz="825">
                  <a:solidFill>
                    <a:srgbClr val="85858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60" name="Google Shape;660;p56"/>
            <p:cNvGrpSpPr/>
            <p:nvPr/>
          </p:nvGrpSpPr>
          <p:grpSpPr>
            <a:xfrm>
              <a:off x="2619375" y="2400300"/>
              <a:ext cx="1095300" cy="476400"/>
              <a:chOff x="0" y="0"/>
              <a:chExt cx="1095300" cy="476400"/>
            </a:xfrm>
          </p:grpSpPr>
          <p:sp>
            <p:nvSpPr>
              <p:cNvPr id="661" name="Google Shape;661;p56"/>
              <p:cNvSpPr/>
              <p:nvPr/>
            </p:nvSpPr>
            <p:spPr>
              <a:xfrm>
                <a:off x="0" y="0"/>
                <a:ext cx="10953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1E1E1E"/>
              </a:solidFill>
              <a:ln cap="flat" cmpd="sng" w="9525">
                <a:solidFill>
                  <a:srgbClr val="CE917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56"/>
              <p:cNvSpPr txBox="1"/>
              <p:nvPr/>
            </p:nvSpPr>
            <p:spPr>
              <a:xfrm>
                <a:off x="0" y="0"/>
                <a:ext cx="10953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75">
                    <a:solidFill>
                      <a:srgbClr val="CE917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blue</a:t>
                </a:r>
                <a:endParaRPr b="1" sz="975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85858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Value</a:t>
                </a:r>
                <a:endParaRPr b="0" sz="825">
                  <a:solidFill>
                    <a:srgbClr val="85858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pic>
        <p:nvPicPr>
          <p:cNvPr id="663" name="Google Shape;663;p56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9799" y="221400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57"/>
          <p:cNvSpPr/>
          <p:nvPr/>
        </p:nvSpPr>
        <p:spPr>
          <a:xfrm>
            <a:off x="476250" y="1047750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7"/>
          <p:cNvSpPr/>
          <p:nvPr/>
        </p:nvSpPr>
        <p:spPr>
          <a:xfrm>
            <a:off x="8334375" y="381000"/>
            <a:ext cx="285900" cy="190500"/>
          </a:xfrm>
          <a:custGeom>
            <a:rect b="b" l="l" r="r" t="t"/>
            <a:pathLst>
              <a:path extrusionOk="0" h="120000" w="120000">
                <a:moveTo>
                  <a:pt x="40000" y="0"/>
                </a:moveTo>
                <a:lnTo>
                  <a:pt x="0" y="60000"/>
                </a:lnTo>
                <a:lnTo>
                  <a:pt x="40000" y="120000"/>
                </a:lnTo>
                <a:moveTo>
                  <a:pt x="80000" y="0"/>
                </a:moveTo>
                <a:lnTo>
                  <a:pt x="120000" y="60000"/>
                </a:lnTo>
                <a:lnTo>
                  <a:pt x="8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8100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7"/>
          <p:cNvSpPr txBox="1"/>
          <p:nvPr/>
        </p:nvSpPr>
        <p:spPr>
          <a:xfrm>
            <a:off x="476250" y="333375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Ways to Add CSS</a:t>
            </a:r>
            <a:endParaRPr b="1"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72" name="Google Shape;672;p57"/>
          <p:cNvGrpSpPr/>
          <p:nvPr/>
        </p:nvGrpSpPr>
        <p:grpSpPr>
          <a:xfrm>
            <a:off x="476250" y="1238250"/>
            <a:ext cx="2571900" cy="2381400"/>
            <a:chOff x="476250" y="1238250"/>
            <a:chExt cx="2571900" cy="2381400"/>
          </a:xfrm>
        </p:grpSpPr>
        <p:sp>
          <p:nvSpPr>
            <p:cNvPr id="673" name="Google Shape;673;p57"/>
            <p:cNvSpPr/>
            <p:nvPr/>
          </p:nvSpPr>
          <p:spPr>
            <a:xfrm>
              <a:off x="476250" y="1238250"/>
              <a:ext cx="2571900" cy="2381400"/>
            </a:xfrm>
            <a:prstGeom prst="roundRect">
              <a:avLst>
                <a:gd fmla="val 3200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57"/>
            <p:cNvSpPr txBox="1"/>
            <p:nvPr/>
          </p:nvSpPr>
          <p:spPr>
            <a:xfrm>
              <a:off x="666750" y="1428750"/>
              <a:ext cx="2190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69CD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 // INLINE CSS</a:t>
              </a:r>
              <a:endParaRPr b="0" sz="900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Inline CSS uses the </a:t>
              </a:r>
              <a:r>
                <a:rPr b="0" lang="en" sz="900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style</a:t>
              </a:r>
              <a:r>
                <a:rPr b="0" lang="en" sz="1050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attribute directly on HTML elements.</a:t>
              </a:r>
              <a:endParaRPr b="0" sz="105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75" name="Google Shape;675;p57"/>
            <p:cNvSpPr/>
            <p:nvPr/>
          </p:nvSpPr>
          <p:spPr>
            <a:xfrm>
              <a:off x="619125" y="2476500"/>
              <a:ext cx="2286000" cy="952500"/>
            </a:xfrm>
            <a:prstGeom prst="roundRect">
              <a:avLst>
                <a:gd fmla="val 4000" name="adj"/>
              </a:avLst>
            </a:prstGeom>
            <a:solidFill>
              <a:srgbClr val="1E1E1E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57"/>
            <p:cNvSpPr txBox="1"/>
            <p:nvPr/>
          </p:nvSpPr>
          <p:spPr>
            <a:xfrm>
              <a:off x="714375" y="25717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&lt;p</a:t>
              </a:r>
              <a:r>
                <a:rPr b="0" lang="en" sz="82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1" lang="en" sz="82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style</a:t>
              </a:r>
              <a:r>
                <a:rPr b="0" lang="en" sz="82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lang="en" sz="825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"color: red;"</a:t>
              </a:r>
              <a:r>
                <a:rPr b="0" lang="en" sz="8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</a:t>
              </a:r>
              <a:r>
                <a:rPr b="0" lang="en" sz="82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Hello</a:t>
              </a:r>
              <a:r>
                <a:rPr b="0" lang="en" sz="8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&lt;/p&gt;</a:t>
              </a:r>
              <a:endParaRPr b="0" sz="82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677" name="Google Shape;677;p57"/>
          <p:cNvGrpSpPr/>
          <p:nvPr/>
        </p:nvGrpSpPr>
        <p:grpSpPr>
          <a:xfrm>
            <a:off x="3286125" y="1238250"/>
            <a:ext cx="2571900" cy="2381400"/>
            <a:chOff x="3286125" y="1238250"/>
            <a:chExt cx="2571900" cy="2381400"/>
          </a:xfrm>
        </p:grpSpPr>
        <p:sp>
          <p:nvSpPr>
            <p:cNvPr id="678" name="Google Shape;678;p57"/>
            <p:cNvSpPr/>
            <p:nvPr/>
          </p:nvSpPr>
          <p:spPr>
            <a:xfrm>
              <a:off x="3286125" y="1238250"/>
              <a:ext cx="2571900" cy="2381400"/>
            </a:xfrm>
            <a:prstGeom prst="roundRect">
              <a:avLst>
                <a:gd fmla="val 3200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57"/>
            <p:cNvSpPr txBox="1"/>
            <p:nvPr/>
          </p:nvSpPr>
          <p:spPr>
            <a:xfrm>
              <a:off x="3476625" y="1428750"/>
              <a:ext cx="2190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DCDCA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 // INTERNAL CSS</a:t>
              </a:r>
              <a:endParaRPr b="0" sz="900">
                <a:solidFill>
                  <a:srgbClr val="DCDCA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Internal CSS places rules within a </a:t>
              </a:r>
              <a:r>
                <a:rPr b="0" lang="en" sz="90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&lt;style&gt;</a:t>
              </a:r>
              <a:r>
                <a:rPr b="0" lang="en" sz="1050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tag in the HTML head section.</a:t>
              </a:r>
              <a:endParaRPr b="0" sz="105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80" name="Google Shape;680;p57"/>
            <p:cNvSpPr/>
            <p:nvPr/>
          </p:nvSpPr>
          <p:spPr>
            <a:xfrm>
              <a:off x="3429000" y="2476500"/>
              <a:ext cx="2286000" cy="952500"/>
            </a:xfrm>
            <a:prstGeom prst="roundRect">
              <a:avLst>
                <a:gd fmla="val 4000" name="adj"/>
              </a:avLst>
            </a:prstGeom>
            <a:solidFill>
              <a:srgbClr val="1E1E1E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57"/>
            <p:cNvSpPr txBox="1"/>
            <p:nvPr/>
          </p:nvSpPr>
          <p:spPr>
            <a:xfrm>
              <a:off x="3524250" y="25717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&lt;style&gt;</a:t>
              </a:r>
              <a:endParaRPr b="0" sz="82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</a:t>
              </a:r>
              <a:r>
                <a:rPr b="0" lang="en" sz="82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 </a:t>
              </a:r>
              <a:r>
                <a:rPr b="1" lang="en" sz="82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color</a:t>
              </a:r>
              <a:r>
                <a:rPr b="0" lang="en" sz="82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825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red</a:t>
              </a:r>
              <a:r>
                <a:rPr b="0" lang="en" sz="82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}</a:t>
              </a:r>
              <a:endParaRPr b="0" sz="82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&lt;/style&gt;</a:t>
              </a:r>
              <a:endParaRPr b="0" sz="82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682" name="Google Shape;682;p57"/>
          <p:cNvGrpSpPr/>
          <p:nvPr/>
        </p:nvGrpSpPr>
        <p:grpSpPr>
          <a:xfrm>
            <a:off x="6096000" y="1238250"/>
            <a:ext cx="2571900" cy="2381400"/>
            <a:chOff x="6096000" y="1238250"/>
            <a:chExt cx="2571900" cy="2381400"/>
          </a:xfrm>
        </p:grpSpPr>
        <p:sp>
          <p:nvSpPr>
            <p:cNvPr id="683" name="Google Shape;683;p57"/>
            <p:cNvSpPr/>
            <p:nvPr/>
          </p:nvSpPr>
          <p:spPr>
            <a:xfrm>
              <a:off x="6096000" y="1238250"/>
              <a:ext cx="2571900" cy="2381400"/>
            </a:xfrm>
            <a:prstGeom prst="roundRect">
              <a:avLst>
                <a:gd fmla="val 3200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57"/>
            <p:cNvSpPr txBox="1"/>
            <p:nvPr/>
          </p:nvSpPr>
          <p:spPr>
            <a:xfrm>
              <a:off x="6286500" y="1428750"/>
              <a:ext cx="2190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03 // EXTERNAL CSS</a:t>
              </a:r>
              <a:endParaRPr b="0" sz="900">
                <a:solidFill>
                  <a:srgbClr val="C586C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External CSS links an independent stylesheet using the HTML </a:t>
              </a: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&lt;link&gt;</a:t>
              </a:r>
              <a:r>
                <a:rPr b="0" lang="en" sz="1050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tag.</a:t>
              </a:r>
              <a:endParaRPr b="0" sz="105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85" name="Google Shape;685;p57"/>
            <p:cNvSpPr/>
            <p:nvPr/>
          </p:nvSpPr>
          <p:spPr>
            <a:xfrm>
              <a:off x="6238875" y="2476500"/>
              <a:ext cx="2286000" cy="952500"/>
            </a:xfrm>
            <a:prstGeom prst="roundRect">
              <a:avLst>
                <a:gd fmla="val 4000" name="adj"/>
              </a:avLst>
            </a:prstGeom>
            <a:solidFill>
              <a:srgbClr val="1E1E1E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57"/>
            <p:cNvSpPr txBox="1"/>
            <p:nvPr/>
          </p:nvSpPr>
          <p:spPr>
            <a:xfrm>
              <a:off x="6334125" y="25717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88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&lt;link</a:t>
              </a:r>
              <a:r>
                <a:rPr b="0" lang="en" sz="78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1" lang="en" sz="788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rel</a:t>
              </a:r>
              <a:r>
                <a:rPr b="0" lang="en" sz="78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lang="en" sz="788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"stylesheet"</a:t>
              </a:r>
              <a:endParaRPr b="0" sz="788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788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href</a:t>
              </a:r>
              <a:r>
                <a:rPr b="0" lang="en" sz="78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=</a:t>
              </a:r>
              <a:r>
                <a:rPr b="0" lang="en" sz="788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"style.css"</a:t>
              </a:r>
              <a:r>
                <a:rPr b="0" lang="en" sz="788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</a:t>
              </a:r>
              <a:endParaRPr b="0" sz="788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687" name="Google Shape;687;p57"/>
          <p:cNvGrpSpPr/>
          <p:nvPr/>
        </p:nvGrpSpPr>
        <p:grpSpPr>
          <a:xfrm>
            <a:off x="476250" y="3762375"/>
            <a:ext cx="8191500" cy="904800"/>
            <a:chOff x="476250" y="3762375"/>
            <a:chExt cx="8191500" cy="904800"/>
          </a:xfrm>
        </p:grpSpPr>
        <p:sp>
          <p:nvSpPr>
            <p:cNvPr id="688" name="Google Shape;688;p57"/>
            <p:cNvSpPr/>
            <p:nvPr/>
          </p:nvSpPr>
          <p:spPr>
            <a:xfrm>
              <a:off x="476250" y="3762375"/>
              <a:ext cx="8191500" cy="904800"/>
            </a:xfrm>
            <a:prstGeom prst="roundRect">
              <a:avLst>
                <a:gd fmla="val 8421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57"/>
            <p:cNvSpPr/>
            <p:nvPr/>
          </p:nvSpPr>
          <p:spPr>
            <a:xfrm>
              <a:off x="476250" y="3762375"/>
              <a:ext cx="57300" cy="904800"/>
            </a:xfrm>
            <a:prstGeom prst="roundRect">
              <a:avLst>
                <a:gd fmla="val 50000" name="adj"/>
              </a:avLst>
            </a:prstGeom>
            <a:solidFill>
              <a:srgbClr val="569C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57"/>
            <p:cNvSpPr txBox="1"/>
            <p:nvPr/>
          </p:nvSpPr>
          <p:spPr>
            <a:xfrm>
              <a:off x="723900" y="3876675"/>
              <a:ext cx="7696200" cy="6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69CD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INDUSTRY BEST PRACTICE</a:t>
              </a:r>
              <a:endParaRPr b="0" sz="900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13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External stylesheets are the industry standard because they separate content from design, allowing you to style multiple pages from a single file, which improves maintainability and page load speed.</a:t>
              </a:r>
              <a:endParaRPr b="0" sz="1013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691" name="Google Shape;691;p57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6249" y="166650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8"/>
          <p:cNvSpPr/>
          <p:nvPr/>
        </p:nvSpPr>
        <p:spPr>
          <a:xfrm>
            <a:off x="476250" y="1143000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8"/>
          <p:cNvSpPr/>
          <p:nvPr/>
        </p:nvSpPr>
        <p:spPr>
          <a:xfrm>
            <a:off x="8324850" y="466725"/>
            <a:ext cx="228600" cy="152400"/>
          </a:xfrm>
          <a:custGeom>
            <a:rect b="b" l="l" r="r" t="t"/>
            <a:pathLst>
              <a:path extrusionOk="0" h="120000" w="120000">
                <a:moveTo>
                  <a:pt x="40000" y="0"/>
                </a:moveTo>
                <a:lnTo>
                  <a:pt x="0" y="60000"/>
                </a:lnTo>
                <a:lnTo>
                  <a:pt x="40000" y="120000"/>
                </a:lnTo>
                <a:moveTo>
                  <a:pt x="80000" y="0"/>
                </a:moveTo>
                <a:lnTo>
                  <a:pt x="120000" y="60000"/>
                </a:lnTo>
                <a:lnTo>
                  <a:pt x="8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8"/>
          <p:cNvSpPr txBox="1"/>
          <p:nvPr/>
        </p:nvSpPr>
        <p:spPr>
          <a:xfrm>
            <a:off x="476250" y="381000"/>
            <a:ext cx="7620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85858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CSS Foundations</a:t>
            </a:r>
            <a:endParaRPr b="0" sz="825">
              <a:solidFill>
                <a:srgbClr val="85858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CSS Selectors</a:t>
            </a:r>
            <a:endParaRPr b="1" sz="2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1" name="Google Shape;701;p58"/>
          <p:cNvSpPr txBox="1"/>
          <p:nvPr/>
        </p:nvSpPr>
        <p:spPr>
          <a:xfrm>
            <a:off x="476250" y="1381125"/>
            <a:ext cx="39054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Selectors determine which HTML elements receive styling.</a:t>
            </a:r>
            <a:endParaRPr b="0" sz="105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Universal selector</a:t>
            </a:r>
            <a:r>
              <a:rPr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targets everything (e.g., </a:t>
            </a:r>
            <a:r>
              <a:rPr lang="en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* { margin: 0; }</a:t>
            </a:r>
            <a:r>
              <a:rPr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97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Element selectors</a:t>
            </a:r>
            <a:r>
              <a:rPr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target all instances of a tag (e.g., </a:t>
            </a:r>
            <a:r>
              <a:rPr lang="en" sz="975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p { color: blue; }</a:t>
            </a:r>
            <a:r>
              <a:rPr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97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.class</a:t>
            </a:r>
            <a:r>
              <a:rPr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Class selectors</a:t>
            </a:r>
            <a:r>
              <a:rPr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, prefixed with a dot, target elements with a specific class attribute (</a:t>
            </a:r>
            <a:r>
              <a:rPr lang="en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.card { background: white; }</a:t>
            </a:r>
            <a:r>
              <a:rPr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) and are highly reusable.</a:t>
            </a:r>
            <a:endParaRPr sz="97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#id</a:t>
            </a:r>
            <a:r>
              <a:rPr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ID selectors</a:t>
            </a:r>
            <a:r>
              <a:rPr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, prefixed with a hash, target a single, unique element (</a:t>
            </a:r>
            <a:r>
              <a:rPr lang="en" sz="975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#title { color: red; }</a:t>
            </a:r>
            <a:r>
              <a:rPr lang="en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97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0" lang="en" sz="750">
                <a:solidFill>
                  <a:srgbClr val="85858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Guideline</a:t>
            </a:r>
            <a:endParaRPr b="0" sz="750">
              <a:solidFill>
                <a:srgbClr val="85858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classes for general styling and IDs for unique page sections.</a:t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02" name="Google Shape;702;p58"/>
          <p:cNvGrpSpPr/>
          <p:nvPr/>
        </p:nvGrpSpPr>
        <p:grpSpPr>
          <a:xfrm>
            <a:off x="4667250" y="1381125"/>
            <a:ext cx="4000500" cy="3333900"/>
            <a:chOff x="0" y="0"/>
            <a:chExt cx="4000500" cy="3333900"/>
          </a:xfrm>
        </p:grpSpPr>
        <p:sp>
          <p:nvSpPr>
            <p:cNvPr id="703" name="Google Shape;703;p58"/>
            <p:cNvSpPr/>
            <p:nvPr/>
          </p:nvSpPr>
          <p:spPr>
            <a:xfrm>
              <a:off x="0" y="0"/>
              <a:ext cx="4000500" cy="3333900"/>
            </a:xfrm>
            <a:prstGeom prst="roundRect">
              <a:avLst>
                <a:gd fmla="val 2285" name="adj"/>
              </a:avLst>
            </a:prstGeom>
            <a:solidFill>
              <a:srgbClr val="181818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58"/>
            <p:cNvSpPr/>
            <p:nvPr/>
          </p:nvSpPr>
          <p:spPr>
            <a:xfrm>
              <a:off x="0" y="0"/>
              <a:ext cx="4000500" cy="2859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quadBezTo>
                    <a:pt x="0" y="0"/>
                    <a:pt x="2286" y="0"/>
                  </a:quadBezTo>
                  <a:lnTo>
                    <a:pt x="117714" y="0"/>
                  </a:lnTo>
                  <a:quadBezTo>
                    <a:pt x="120000" y="0"/>
                    <a:pt x="120000" y="32000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5" name="Google Shape;705;p58"/>
            <p:cNvGrpSpPr/>
            <p:nvPr/>
          </p:nvGrpSpPr>
          <p:grpSpPr>
            <a:xfrm>
              <a:off x="161925" y="104775"/>
              <a:ext cx="304800" cy="76200"/>
              <a:chOff x="19050" y="19050"/>
              <a:chExt cx="304800" cy="76200"/>
            </a:xfrm>
          </p:grpSpPr>
          <p:sp>
            <p:nvSpPr>
              <p:cNvPr id="706" name="Google Shape;706;p58"/>
              <p:cNvSpPr/>
              <p:nvPr/>
            </p:nvSpPr>
            <p:spPr>
              <a:xfrm>
                <a:off x="19050" y="1905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58"/>
              <p:cNvSpPr/>
              <p:nvPr/>
            </p:nvSpPr>
            <p:spPr>
              <a:xfrm>
                <a:off x="133350" y="1905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58"/>
              <p:cNvSpPr/>
              <p:nvPr/>
            </p:nvSpPr>
            <p:spPr>
              <a:xfrm>
                <a:off x="247650" y="1905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9" name="Google Shape;709;p58"/>
            <p:cNvSpPr txBox="1"/>
            <p:nvPr/>
          </p:nvSpPr>
          <p:spPr>
            <a:xfrm>
              <a:off x="0" y="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858585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style.css</a:t>
              </a:r>
              <a:endParaRPr b="0" sz="825">
                <a:solidFill>
                  <a:srgbClr val="858585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710" name="Google Shape;710;p58"/>
            <p:cNvSpPr txBox="1"/>
            <p:nvPr/>
          </p:nvSpPr>
          <p:spPr>
            <a:xfrm>
              <a:off x="238125" y="457200"/>
              <a:ext cx="3524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Universal - targets everything */</a:t>
              </a:r>
              <a:endParaRPr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</a:t>
              </a:r>
              <a:r>
                <a:rPr lang="en" sz="90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 </a:t>
              </a:r>
              <a:r>
                <a:rPr lang="en" sz="900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margin</a:t>
              </a:r>
              <a:r>
                <a:rPr lang="en" sz="90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lang="en" sz="900">
                  <a:solidFill>
                    <a:srgbClr val="B5CEA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</a:t>
              </a:r>
              <a:r>
                <a:rPr lang="en" sz="90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}</a:t>
              </a:r>
              <a:endParaRPr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Element - targets tag instances */</a:t>
              </a:r>
              <a:endParaRPr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</a:t>
              </a:r>
              <a:r>
                <a:rPr lang="en" sz="90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 </a:t>
              </a:r>
              <a:r>
                <a:rPr lang="en" sz="900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color</a:t>
              </a:r>
              <a:r>
                <a:rPr lang="en" sz="90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lang="en" sz="900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blue</a:t>
              </a:r>
              <a:r>
                <a:rPr lang="en" sz="90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}</a:t>
              </a:r>
              <a:endParaRPr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Class - highly reusable target */</a:t>
              </a:r>
              <a:endParaRPr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.card</a:t>
              </a:r>
              <a:r>
                <a:rPr lang="en" sz="90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 </a:t>
              </a:r>
              <a:r>
                <a:rPr lang="en" sz="900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background</a:t>
              </a:r>
              <a:r>
                <a:rPr lang="en" sz="90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lang="en" sz="900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white</a:t>
              </a:r>
              <a:r>
                <a:rPr lang="en" sz="90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}</a:t>
              </a:r>
              <a:endParaRPr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ID - single unique element */</a:t>
              </a:r>
              <a:endParaRPr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#title</a:t>
              </a:r>
              <a:r>
                <a:rPr lang="en" sz="90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 </a:t>
              </a:r>
              <a:r>
                <a:rPr lang="en" sz="900">
                  <a:solidFill>
                    <a:srgbClr val="9CDCF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color</a:t>
              </a:r>
              <a:r>
                <a:rPr lang="en" sz="90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lang="en" sz="900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red</a:t>
              </a:r>
              <a:r>
                <a:rPr lang="en" sz="900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}</a:t>
              </a:r>
              <a:endParaRPr sz="900">
                <a:solidFill>
                  <a:srgbClr val="D4D4D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711" name="Google Shape;711;p58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0569" y="19282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7" name="Google Shape;71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9"/>
          <p:cNvSpPr/>
          <p:nvPr/>
        </p:nvSpPr>
        <p:spPr>
          <a:xfrm>
            <a:off x="476250" y="1047750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9"/>
          <p:cNvSpPr/>
          <p:nvPr/>
        </p:nvSpPr>
        <p:spPr>
          <a:xfrm>
            <a:off x="8334375" y="428625"/>
            <a:ext cx="285900" cy="190500"/>
          </a:xfrm>
          <a:custGeom>
            <a:rect b="b" l="l" r="r" t="t"/>
            <a:pathLst>
              <a:path extrusionOk="0" h="120000" w="120000">
                <a:moveTo>
                  <a:pt x="40000" y="0"/>
                </a:moveTo>
                <a:lnTo>
                  <a:pt x="0" y="60000"/>
                </a:lnTo>
                <a:lnTo>
                  <a:pt x="40000" y="120000"/>
                </a:lnTo>
                <a:moveTo>
                  <a:pt x="80000" y="0"/>
                </a:moveTo>
                <a:lnTo>
                  <a:pt x="120000" y="60000"/>
                </a:lnTo>
                <a:lnTo>
                  <a:pt x="8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8100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9"/>
          <p:cNvSpPr txBox="1"/>
          <p:nvPr/>
        </p:nvSpPr>
        <p:spPr>
          <a:xfrm>
            <a:off x="476250" y="333375"/>
            <a:ext cx="76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Colors &amp; Backgrounds</a:t>
            </a:r>
            <a:endParaRPr b="1" sz="3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21" name="Google Shape;721;p59"/>
          <p:cNvGrpSpPr/>
          <p:nvPr/>
        </p:nvGrpSpPr>
        <p:grpSpPr>
          <a:xfrm>
            <a:off x="476250" y="1285875"/>
            <a:ext cx="3905400" cy="3381300"/>
            <a:chOff x="476250" y="1285875"/>
            <a:chExt cx="3905400" cy="3381300"/>
          </a:xfrm>
        </p:grpSpPr>
        <p:sp>
          <p:nvSpPr>
            <p:cNvPr id="722" name="Google Shape;722;p59"/>
            <p:cNvSpPr txBox="1"/>
            <p:nvPr/>
          </p:nvSpPr>
          <p:spPr>
            <a:xfrm>
              <a:off x="476250" y="1285875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D4D4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CSS controls visual depth through properties like </a:t>
              </a:r>
              <a:r>
                <a:rPr b="0" lang="en" sz="1125">
                  <a:solidFill>
                    <a:srgbClr val="569CD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color</a:t>
              </a:r>
              <a:r>
                <a:rPr b="0" lang="en" sz="1125">
                  <a:solidFill>
                    <a:srgbClr val="D4D4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</a:t>
              </a:r>
              <a:r>
                <a:rPr b="0" lang="en" sz="1125">
                  <a:solidFill>
                    <a:srgbClr val="569CD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background-color</a:t>
              </a:r>
              <a:r>
                <a:rPr b="0" lang="en" sz="1125">
                  <a:solidFill>
                    <a:srgbClr val="D4D4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and </a:t>
              </a:r>
              <a:r>
                <a:rPr b="0" lang="en" sz="1125">
                  <a:solidFill>
                    <a:srgbClr val="569CD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background-image</a:t>
              </a:r>
              <a:r>
                <a:rPr b="0" lang="en" sz="1125">
                  <a:solidFill>
                    <a:srgbClr val="D4D4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  <a:endParaRPr b="0" sz="1125">
                <a:solidFill>
                  <a:srgbClr val="D4D4D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rPr>
                <a:t>Scale background layers using 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background-size</a:t>
              </a:r>
              <a:r>
                <a:rPr b="0" lang="en" sz="975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rPr>
                <a:t> and anchor alignments using 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background-position</a:t>
              </a:r>
              <a:r>
                <a:rPr b="0" lang="en" sz="975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rPr>
                <a:t> inside their containers.</a:t>
              </a:r>
              <a:endParaRPr b="0" sz="975">
                <a:solidFill>
                  <a:srgbClr val="85858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23" name="Google Shape;723;p59"/>
            <p:cNvGrpSpPr/>
            <p:nvPr/>
          </p:nvGrpSpPr>
          <p:grpSpPr>
            <a:xfrm>
              <a:off x="476250" y="2428875"/>
              <a:ext cx="3905400" cy="2238300"/>
              <a:chOff x="0" y="0"/>
              <a:chExt cx="3905400" cy="2238300"/>
            </a:xfrm>
          </p:grpSpPr>
          <p:sp>
            <p:nvSpPr>
              <p:cNvPr id="724" name="Google Shape;724;p59"/>
              <p:cNvSpPr/>
              <p:nvPr/>
            </p:nvSpPr>
            <p:spPr>
              <a:xfrm>
                <a:off x="0" y="0"/>
                <a:ext cx="3905400" cy="2238300"/>
              </a:xfrm>
              <a:prstGeom prst="roundRect">
                <a:avLst>
                  <a:gd fmla="val 3404" name="adj"/>
                </a:avLst>
              </a:prstGeom>
              <a:solidFill>
                <a:srgbClr val="2D2D2D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59"/>
              <p:cNvSpPr/>
              <p:nvPr/>
            </p:nvSpPr>
            <p:spPr>
              <a:xfrm>
                <a:off x="0" y="0"/>
                <a:ext cx="3905400" cy="285900"/>
              </a:xfrm>
              <a:custGeom>
                <a:rect b="b" l="l" r="r" t="t"/>
                <a:pathLst>
                  <a:path extrusionOk="0" h="120000" w="120000">
                    <a:moveTo>
                      <a:pt x="0" y="32000"/>
                    </a:moveTo>
                    <a:quadBezTo>
                      <a:pt x="0" y="0"/>
                      <a:pt x="2341" y="0"/>
                    </a:quadBezTo>
                    <a:lnTo>
                      <a:pt x="117659" y="0"/>
                    </a:lnTo>
                    <a:quadBezTo>
                      <a:pt x="120000" y="0"/>
                      <a:pt x="120000" y="32000"/>
                    </a:quad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26" name="Google Shape;726;p59"/>
              <p:cNvGrpSpPr/>
              <p:nvPr/>
            </p:nvGrpSpPr>
            <p:grpSpPr>
              <a:xfrm>
                <a:off x="142875" y="95250"/>
                <a:ext cx="400200" cy="95400"/>
                <a:chOff x="47625" y="47625"/>
                <a:chExt cx="400200" cy="95400"/>
              </a:xfrm>
            </p:grpSpPr>
            <p:sp>
              <p:nvSpPr>
                <p:cNvPr id="727" name="Google Shape;727;p59"/>
                <p:cNvSpPr/>
                <p:nvPr/>
              </p:nvSpPr>
              <p:spPr>
                <a:xfrm>
                  <a:off x="47625" y="47625"/>
                  <a:ext cx="95400" cy="95400"/>
                </a:xfrm>
                <a:prstGeom prst="ellipse">
                  <a:avLst/>
                </a:prstGeom>
                <a:solidFill>
                  <a:srgbClr val="FF5F5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59"/>
                <p:cNvSpPr/>
                <p:nvPr/>
              </p:nvSpPr>
              <p:spPr>
                <a:xfrm>
                  <a:off x="200025" y="47625"/>
                  <a:ext cx="95400" cy="95400"/>
                </a:xfrm>
                <a:prstGeom prst="ellipse">
                  <a:avLst/>
                </a:prstGeom>
                <a:solidFill>
                  <a:srgbClr val="FFBD2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9" name="Google Shape;729;p59"/>
                <p:cNvSpPr/>
                <p:nvPr/>
              </p:nvSpPr>
              <p:spPr>
                <a:xfrm>
                  <a:off x="352425" y="47625"/>
                  <a:ext cx="95400" cy="95400"/>
                </a:xfrm>
                <a:prstGeom prst="ellipse">
                  <a:avLst/>
                </a:prstGeom>
                <a:solidFill>
                  <a:srgbClr val="27C93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30" name="Google Shape;730;p59"/>
              <p:cNvSpPr txBox="1"/>
              <p:nvPr/>
            </p:nvSpPr>
            <p:spPr>
              <a:xfrm>
                <a:off x="0" y="0"/>
                <a:ext cx="3905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85858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style.css</a:t>
                </a:r>
                <a:endParaRPr b="0" sz="825">
                  <a:solidFill>
                    <a:srgbClr val="85858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731" name="Google Shape;731;p59"/>
              <p:cNvSpPr txBox="1"/>
              <p:nvPr/>
            </p:nvSpPr>
            <p:spPr>
              <a:xfrm>
                <a:off x="190500" y="428625"/>
                <a:ext cx="35244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569C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.hero-card</a:t>
                </a:r>
                <a:r>
                  <a:rPr b="0" lang="en" sz="1050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{</a:t>
                </a:r>
                <a:endParaRPr b="0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color</a:t>
                </a:r>
                <a:r>
                  <a:rPr b="0" lang="en" sz="1050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1050">
                    <a:solidFill>
                      <a:srgbClr val="6A995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#569cd6</a:t>
                </a:r>
                <a:r>
                  <a:rPr b="0" lang="en" sz="1050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 </a:t>
                </a:r>
                <a:r>
                  <a:rPr b="0" i="1" lang="en" sz="1050">
                    <a:solidFill>
                      <a:srgbClr val="85858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/* HEX format */</a:t>
                </a:r>
                <a:endParaRPr b="0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background-color</a:t>
                </a:r>
                <a:r>
                  <a:rPr b="0" lang="en" sz="1050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1050">
                    <a:solidFill>
                      <a:srgbClr val="6A995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rgba(197, 134, 192, 0.6)</a:t>
                </a:r>
                <a:r>
                  <a:rPr b="0" lang="en" sz="1050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</a:t>
                </a:r>
                <a:endParaRPr b="0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background-size</a:t>
                </a:r>
                <a:r>
                  <a:rPr b="0" lang="en" sz="1050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1050">
                    <a:solidFill>
                      <a:srgbClr val="6A995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cover</a:t>
                </a:r>
                <a:r>
                  <a:rPr b="0" lang="en" sz="1050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</a:t>
                </a:r>
                <a:endParaRPr b="0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background-position</a:t>
                </a:r>
                <a:r>
                  <a:rPr b="0" lang="en" sz="1050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1050">
                    <a:solidFill>
                      <a:srgbClr val="6A995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center</a:t>
                </a:r>
                <a:r>
                  <a:rPr b="0" lang="en" sz="1050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</a:t>
                </a:r>
                <a:endParaRPr b="0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}</a:t>
                </a:r>
                <a:endParaRPr b="0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grpSp>
        <p:nvGrpSpPr>
          <p:cNvPr id="732" name="Google Shape;732;p59"/>
          <p:cNvGrpSpPr/>
          <p:nvPr/>
        </p:nvGrpSpPr>
        <p:grpSpPr>
          <a:xfrm>
            <a:off x="4762500" y="1285875"/>
            <a:ext cx="3905400" cy="2476500"/>
            <a:chOff x="4762500" y="1285875"/>
            <a:chExt cx="3905400" cy="2476500"/>
          </a:xfrm>
        </p:grpSpPr>
        <p:sp>
          <p:nvSpPr>
            <p:cNvPr id="733" name="Google Shape;733;p59"/>
            <p:cNvSpPr txBox="1"/>
            <p:nvPr/>
          </p:nvSpPr>
          <p:spPr>
            <a:xfrm>
              <a:off x="4762500" y="1285875"/>
              <a:ext cx="3905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69CD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Blending &amp; Alpha Opacities</a:t>
              </a:r>
              <a:endParaRPr b="0" sz="900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734" name="Google Shape;734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62500" y="1666875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35" name="Google Shape;735;p59"/>
            <p:cNvGrpSpPr/>
            <p:nvPr/>
          </p:nvGrpSpPr>
          <p:grpSpPr>
            <a:xfrm>
              <a:off x="7048500" y="1666875"/>
              <a:ext cx="1143000" cy="2095500"/>
              <a:chOff x="0" y="0"/>
              <a:chExt cx="1143000" cy="2095500"/>
            </a:xfrm>
          </p:grpSpPr>
          <p:sp>
            <p:nvSpPr>
              <p:cNvPr id="736" name="Google Shape;736;p59"/>
              <p:cNvSpPr/>
              <p:nvPr/>
            </p:nvSpPr>
            <p:spPr>
              <a:xfrm>
                <a:off x="0" y="0"/>
                <a:ext cx="1143000" cy="2095500"/>
              </a:xfrm>
              <a:prstGeom prst="roundRect">
                <a:avLst>
                  <a:gd fmla="val 6666" name="adj"/>
                </a:avLst>
              </a:prstGeom>
              <a:solidFill>
                <a:srgbClr val="1E1E1E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37" name="Google Shape;737;p59"/>
              <p:cNvGrpSpPr/>
              <p:nvPr/>
            </p:nvGrpSpPr>
            <p:grpSpPr>
              <a:xfrm>
                <a:off x="47625" y="47625"/>
                <a:ext cx="1047900" cy="438300"/>
                <a:chOff x="0" y="0"/>
                <a:chExt cx="1047900" cy="438300"/>
              </a:xfrm>
            </p:grpSpPr>
            <p:sp>
              <p:nvSpPr>
                <p:cNvPr id="738" name="Google Shape;738;p59"/>
                <p:cNvSpPr/>
                <p:nvPr/>
              </p:nvSpPr>
              <p:spPr>
                <a:xfrm>
                  <a:off x="0" y="0"/>
                  <a:ext cx="1047900" cy="438300"/>
                </a:xfrm>
                <a:prstGeom prst="roundRect">
                  <a:avLst>
                    <a:gd fmla="val 8695" name="adj"/>
                  </a:avLst>
                </a:prstGeom>
                <a:solidFill>
                  <a:srgbClr val="569CD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9" name="Google Shape;739;p59"/>
                <p:cNvSpPr txBox="1"/>
                <p:nvPr/>
              </p:nvSpPr>
              <p:spPr>
                <a:xfrm>
                  <a:off x="0" y="0"/>
                  <a:ext cx="1047900" cy="438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50">
                      <a:solidFill>
                        <a:srgbClr val="1E1E1E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HEX FORMAT</a:t>
                  </a:r>
                  <a:endParaRPr b="1" sz="750">
                    <a:solidFill>
                      <a:srgbClr val="1E1E1E"/>
                    </a:solidFill>
                    <a:latin typeface="Roboto Mono"/>
                    <a:ea typeface="Roboto Mono"/>
                    <a:cs typeface="Roboto Mono"/>
                    <a:sym typeface="Roboto Mono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1" lang="en" sz="825">
                      <a:solidFill>
                        <a:srgbClr val="1E1E1E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#569cd6</a:t>
                  </a:r>
                  <a:endParaRPr b="1" sz="825">
                    <a:solidFill>
                      <a:srgbClr val="1E1E1E"/>
                    </a:solidFill>
                    <a:latin typeface="Roboto Mono"/>
                    <a:ea typeface="Roboto Mono"/>
                    <a:cs typeface="Roboto Mono"/>
                    <a:sym typeface="Roboto Mono"/>
                  </a:endParaRPr>
                </a:p>
              </p:txBody>
            </p:sp>
          </p:grpSp>
          <p:grpSp>
            <p:nvGrpSpPr>
              <p:cNvPr id="740" name="Google Shape;740;p59"/>
              <p:cNvGrpSpPr/>
              <p:nvPr/>
            </p:nvGrpSpPr>
            <p:grpSpPr>
              <a:xfrm>
                <a:off x="47625" y="552450"/>
                <a:ext cx="1047900" cy="438300"/>
                <a:chOff x="0" y="0"/>
                <a:chExt cx="1047900" cy="438300"/>
              </a:xfrm>
            </p:grpSpPr>
            <p:sp>
              <p:nvSpPr>
                <p:cNvPr id="741" name="Google Shape;741;p59"/>
                <p:cNvSpPr/>
                <p:nvPr/>
              </p:nvSpPr>
              <p:spPr>
                <a:xfrm>
                  <a:off x="0" y="0"/>
                  <a:ext cx="1047900" cy="438300"/>
                </a:xfrm>
                <a:prstGeom prst="roundRect">
                  <a:avLst>
                    <a:gd fmla="val 8695" name="adj"/>
                  </a:avLst>
                </a:prstGeom>
                <a:solidFill>
                  <a:srgbClr val="DCDCA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2" name="Google Shape;742;p59"/>
                <p:cNvSpPr txBox="1"/>
                <p:nvPr/>
              </p:nvSpPr>
              <p:spPr>
                <a:xfrm>
                  <a:off x="0" y="0"/>
                  <a:ext cx="1047900" cy="438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50">
                      <a:solidFill>
                        <a:srgbClr val="1E1E1E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RGB FORMAT</a:t>
                  </a:r>
                  <a:endParaRPr b="1" sz="750">
                    <a:solidFill>
                      <a:srgbClr val="1E1E1E"/>
                    </a:solidFill>
                    <a:latin typeface="Roboto Mono"/>
                    <a:ea typeface="Roboto Mono"/>
                    <a:cs typeface="Roboto Mono"/>
                    <a:sym typeface="Roboto Mono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1" lang="en" sz="675">
                      <a:solidFill>
                        <a:srgbClr val="1E1E1E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rgb(220,220,170)</a:t>
                  </a:r>
                  <a:endParaRPr b="1" sz="675">
                    <a:solidFill>
                      <a:srgbClr val="1E1E1E"/>
                    </a:solidFill>
                    <a:latin typeface="Roboto Mono"/>
                    <a:ea typeface="Roboto Mono"/>
                    <a:cs typeface="Roboto Mono"/>
                    <a:sym typeface="Roboto Mono"/>
                  </a:endParaRPr>
                </a:p>
              </p:txBody>
            </p:sp>
          </p:grpSp>
          <p:grpSp>
            <p:nvGrpSpPr>
              <p:cNvPr id="743" name="Google Shape;743;p59"/>
              <p:cNvGrpSpPr/>
              <p:nvPr/>
            </p:nvGrpSpPr>
            <p:grpSpPr>
              <a:xfrm>
                <a:off x="47625" y="1057275"/>
                <a:ext cx="1047900" cy="438300"/>
                <a:chOff x="0" y="0"/>
                <a:chExt cx="1047900" cy="438300"/>
              </a:xfrm>
            </p:grpSpPr>
            <p:pic>
              <p:nvPicPr>
                <p:cNvPr id="744" name="Google Shape;744;p59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0" y="0"/>
                  <a:ext cx="1047900" cy="4383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45" name="Google Shape;745;p59"/>
                <p:cNvSpPr/>
                <p:nvPr/>
              </p:nvSpPr>
              <p:spPr>
                <a:xfrm>
                  <a:off x="0" y="0"/>
                  <a:ext cx="1047900" cy="438300"/>
                </a:xfrm>
                <a:prstGeom prst="roundRect">
                  <a:avLst>
                    <a:gd fmla="val 8695" name="adj"/>
                  </a:avLst>
                </a:prstGeom>
                <a:solidFill>
                  <a:srgbClr val="C586C0">
                    <a:alpha val="6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6" name="Google Shape;746;p59"/>
                <p:cNvSpPr txBox="1"/>
                <p:nvPr/>
              </p:nvSpPr>
              <p:spPr>
                <a:xfrm>
                  <a:off x="0" y="0"/>
                  <a:ext cx="1047900" cy="438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50">
                      <a:solidFill>
                        <a:srgbClr val="FFFFFF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RGBA - 60%</a:t>
                  </a:r>
                  <a:endParaRPr b="1" sz="75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600">
                      <a:solidFill>
                        <a:srgbClr val="FFFFFF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rgba(197,134,192,0.6)</a:t>
                  </a:r>
                  <a:endParaRPr b="0" sz="6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endParaRPr>
                </a:p>
              </p:txBody>
            </p:sp>
          </p:grpSp>
          <p:grpSp>
            <p:nvGrpSpPr>
              <p:cNvPr id="747" name="Google Shape;747;p59"/>
              <p:cNvGrpSpPr/>
              <p:nvPr/>
            </p:nvGrpSpPr>
            <p:grpSpPr>
              <a:xfrm>
                <a:off x="47625" y="1562100"/>
                <a:ext cx="1047900" cy="438300"/>
                <a:chOff x="0" y="0"/>
                <a:chExt cx="1047900" cy="438300"/>
              </a:xfrm>
            </p:grpSpPr>
            <p:pic>
              <p:nvPicPr>
                <p:cNvPr id="748" name="Google Shape;748;p59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0" y="0"/>
                  <a:ext cx="1047900" cy="4383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49" name="Google Shape;749;p59"/>
                <p:cNvSpPr/>
                <p:nvPr/>
              </p:nvSpPr>
              <p:spPr>
                <a:xfrm>
                  <a:off x="0" y="0"/>
                  <a:ext cx="1047900" cy="438300"/>
                </a:xfrm>
                <a:prstGeom prst="roundRect">
                  <a:avLst>
                    <a:gd fmla="val 8695" name="adj"/>
                  </a:avLst>
                </a:prstGeom>
                <a:solidFill>
                  <a:srgbClr val="6A9955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0" name="Google Shape;750;p59"/>
                <p:cNvSpPr txBox="1"/>
                <p:nvPr/>
              </p:nvSpPr>
              <p:spPr>
                <a:xfrm>
                  <a:off x="0" y="0"/>
                  <a:ext cx="1047900" cy="438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50">
                      <a:solidFill>
                        <a:srgbClr val="FFFFFF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RGBA - 30%</a:t>
                  </a:r>
                  <a:endParaRPr b="1" sz="75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600">
                      <a:solidFill>
                        <a:srgbClr val="FFFFFF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rgba(106,153,85,0.3)</a:t>
                  </a:r>
                  <a:endParaRPr b="0" sz="6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endParaRPr>
                </a:p>
              </p:txBody>
            </p:sp>
          </p:grpSp>
        </p:grpSp>
      </p:grpSp>
      <p:pic>
        <p:nvPicPr>
          <p:cNvPr id="751" name="Google Shape;751;p59" title="Technical Council Orientation Presentation 202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28744" y="1737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7" name="Google Shape;757;p60"/>
          <p:cNvGrpSpPr/>
          <p:nvPr/>
        </p:nvGrpSpPr>
        <p:grpSpPr>
          <a:xfrm>
            <a:off x="476250" y="381000"/>
            <a:ext cx="8244083" cy="723975"/>
            <a:chOff x="476250" y="381000"/>
            <a:chExt cx="8244083" cy="723975"/>
          </a:xfrm>
        </p:grpSpPr>
        <p:sp>
          <p:nvSpPr>
            <p:cNvPr id="758" name="Google Shape;758;p60"/>
            <p:cNvSpPr txBox="1"/>
            <p:nvPr/>
          </p:nvSpPr>
          <p:spPr>
            <a:xfrm>
              <a:off x="476250" y="38100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Typography</a:t>
              </a:r>
              <a:endParaRPr b="1" sz="3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9" name="Google Shape;759;p60"/>
            <p:cNvSpPr/>
            <p:nvPr/>
          </p:nvSpPr>
          <p:spPr>
            <a:xfrm>
              <a:off x="8348663" y="557213"/>
              <a:ext cx="371670" cy="24765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0" y="60000"/>
                  </a:lnTo>
                  <a:lnTo>
                    <a:pt x="40000" y="12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569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60"/>
            <p:cNvSpPr/>
            <p:nvPr/>
          </p:nvSpPr>
          <p:spPr>
            <a:xfrm>
              <a:off x="476250" y="1095375"/>
              <a:ext cx="8191500" cy="960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1" name="Google Shape;761;p60"/>
          <p:cNvGrpSpPr/>
          <p:nvPr/>
        </p:nvGrpSpPr>
        <p:grpSpPr>
          <a:xfrm>
            <a:off x="476250" y="1381125"/>
            <a:ext cx="8191650" cy="3286200"/>
            <a:chOff x="476250" y="1381125"/>
            <a:chExt cx="8191650" cy="3286200"/>
          </a:xfrm>
        </p:grpSpPr>
        <p:sp>
          <p:nvSpPr>
            <p:cNvPr id="762" name="Google Shape;762;p60"/>
            <p:cNvSpPr txBox="1"/>
            <p:nvPr/>
          </p:nvSpPr>
          <p:spPr>
            <a:xfrm>
              <a:off x="476250" y="1381125"/>
              <a:ext cx="3905400" cy="32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69CD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Documentation // Text styling</a:t>
              </a:r>
              <a:endParaRPr b="0" sz="900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Typography properties control text appearance. The </a:t>
              </a:r>
              <a:r>
                <a:rPr b="0" lang="en" sz="11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font-family</a:t>
              </a: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property defines the typeface (e.g., </a:t>
              </a:r>
              <a:r>
                <a:rPr b="0" lang="en" sz="1125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h1 { font-family: Arial, sans-serif; }</a:t>
              </a: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Use </a:t>
              </a:r>
              <a:r>
                <a:rPr b="0" lang="en" sz="11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font-size</a:t>
              </a: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for text scale and </a:t>
              </a:r>
              <a:r>
                <a:rPr b="0" lang="en" sz="11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font-weight</a:t>
              </a: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for thickness.</a:t>
              </a:r>
              <a:endParaRPr b="0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Adjust readability using </a:t>
              </a:r>
              <a:r>
                <a:rPr b="0" lang="en" sz="11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line-height</a:t>
              </a: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for vertical spacing and </a:t>
              </a:r>
              <a:r>
                <a:rPr b="0" lang="en" sz="11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letter-spacing</a:t>
              </a: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for horizontal gaps.</a:t>
              </a:r>
              <a:endParaRPr b="0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Additional styling includes </a:t>
              </a:r>
              <a:r>
                <a:rPr b="0" lang="en" sz="11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text-align</a:t>
              </a: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for alignment, </a:t>
              </a:r>
              <a:r>
                <a:rPr b="0" lang="en" sz="11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text-decoration</a:t>
              </a: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for underlines, and </a:t>
              </a:r>
              <a:r>
                <a:rPr b="0" lang="en" sz="112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text-transform</a:t>
              </a: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for casing.</a:t>
              </a:r>
              <a:endParaRPr b="0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External libraries like </a:t>
              </a:r>
              <a:r>
                <a:rPr b="0" lang="en" sz="1125">
                  <a:solidFill>
                    <a:srgbClr val="DCDCA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Google Fonts</a:t>
              </a: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allow developers to easily import and apply custom typefaces to enhance web design.</a:t>
              </a:r>
              <a:endParaRPr b="0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63" name="Google Shape;763;p60"/>
            <p:cNvGrpSpPr/>
            <p:nvPr/>
          </p:nvGrpSpPr>
          <p:grpSpPr>
            <a:xfrm>
              <a:off x="4762500" y="1381125"/>
              <a:ext cx="3905400" cy="3286200"/>
              <a:chOff x="0" y="0"/>
              <a:chExt cx="3905400" cy="3286200"/>
            </a:xfrm>
          </p:grpSpPr>
          <p:sp>
            <p:nvSpPr>
              <p:cNvPr id="764" name="Google Shape;764;p60"/>
              <p:cNvSpPr/>
              <p:nvPr/>
            </p:nvSpPr>
            <p:spPr>
              <a:xfrm>
                <a:off x="0" y="0"/>
                <a:ext cx="3905400" cy="3286200"/>
              </a:xfrm>
              <a:prstGeom prst="roundRect">
                <a:avLst>
                  <a:gd fmla="val 2318" name="adj"/>
                </a:avLst>
              </a:prstGeom>
              <a:solidFill>
                <a:srgbClr val="181818">
                  <a:alpha val="5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60"/>
              <p:cNvSpPr/>
              <p:nvPr/>
            </p:nvSpPr>
            <p:spPr>
              <a:xfrm>
                <a:off x="0" y="0"/>
                <a:ext cx="3905400" cy="3286200"/>
              </a:xfrm>
              <a:prstGeom prst="roundRect">
                <a:avLst>
                  <a:gd fmla="val 2318" name="adj"/>
                </a:avLst>
              </a:prstGeom>
              <a:solidFill>
                <a:srgbClr val="2D2D2D"/>
              </a:solidFill>
              <a:ln cap="flat" cmpd="sng" w="14300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60"/>
              <p:cNvSpPr/>
              <p:nvPr/>
            </p:nvSpPr>
            <p:spPr>
              <a:xfrm>
                <a:off x="0" y="0"/>
                <a:ext cx="3905400" cy="304800"/>
              </a:xfrm>
              <a:custGeom>
                <a:rect b="b" l="l" r="r" t="t"/>
                <a:pathLst>
                  <a:path extrusionOk="0" h="120000" w="120000">
                    <a:moveTo>
                      <a:pt x="0" y="30000"/>
                    </a:moveTo>
                    <a:quadBezTo>
                      <a:pt x="0" y="0"/>
                      <a:pt x="2341" y="0"/>
                    </a:quadBezTo>
                    <a:lnTo>
                      <a:pt x="117659" y="0"/>
                    </a:lnTo>
                    <a:quadBezTo>
                      <a:pt x="120000" y="0"/>
                      <a:pt x="120000" y="30000"/>
                    </a:quad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67" name="Google Shape;767;p60"/>
              <p:cNvGrpSpPr/>
              <p:nvPr/>
            </p:nvGrpSpPr>
            <p:grpSpPr>
              <a:xfrm>
                <a:off x="160020" y="83820"/>
                <a:ext cx="396240" cy="91440"/>
                <a:chOff x="57150" y="57150"/>
                <a:chExt cx="495300" cy="114300"/>
              </a:xfrm>
            </p:grpSpPr>
            <p:sp>
              <p:nvSpPr>
                <p:cNvPr id="768" name="Google Shape;768;p60"/>
                <p:cNvSpPr/>
                <p:nvPr/>
              </p:nvSpPr>
              <p:spPr>
                <a:xfrm>
                  <a:off x="57150" y="57150"/>
                  <a:ext cx="114300" cy="114300"/>
                </a:xfrm>
                <a:prstGeom prst="ellipse">
                  <a:avLst/>
                </a:prstGeom>
                <a:solidFill>
                  <a:srgbClr val="FF5F5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9" name="Google Shape;769;p60"/>
                <p:cNvSpPr/>
                <p:nvPr/>
              </p:nvSpPr>
              <p:spPr>
                <a:xfrm>
                  <a:off x="247650" y="57150"/>
                  <a:ext cx="114300" cy="114300"/>
                </a:xfrm>
                <a:prstGeom prst="ellipse">
                  <a:avLst/>
                </a:prstGeom>
                <a:solidFill>
                  <a:srgbClr val="FFBD2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p60"/>
                <p:cNvSpPr/>
                <p:nvPr/>
              </p:nvSpPr>
              <p:spPr>
                <a:xfrm>
                  <a:off x="438150" y="57150"/>
                  <a:ext cx="114300" cy="114300"/>
                </a:xfrm>
                <a:prstGeom prst="ellipse">
                  <a:avLst/>
                </a:prstGeom>
                <a:solidFill>
                  <a:srgbClr val="27C93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71" name="Google Shape;771;p60"/>
              <p:cNvSpPr txBox="1"/>
              <p:nvPr/>
            </p:nvSpPr>
            <p:spPr>
              <a:xfrm>
                <a:off x="0" y="0"/>
                <a:ext cx="3905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858585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styles.css</a:t>
                </a:r>
                <a:endParaRPr b="0" sz="825">
                  <a:solidFill>
                    <a:srgbClr val="858585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  <p:sp>
            <p:nvSpPr>
              <p:cNvPr id="772" name="Google Shape;772;p60"/>
              <p:cNvSpPr/>
              <p:nvPr/>
            </p:nvSpPr>
            <p:spPr>
              <a:xfrm>
                <a:off x="0" y="304800"/>
                <a:ext cx="342900" cy="2981400"/>
              </a:xfrm>
              <a:prstGeom prst="rect">
                <a:avLst/>
              </a:prstGeom>
              <a:solidFill>
                <a:srgbClr val="2525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73" name="Google Shape;773;p60"/>
              <p:cNvCxnSpPr/>
              <p:nvPr/>
            </p:nvCxnSpPr>
            <p:spPr>
              <a:xfrm>
                <a:off x="342900" y="304800"/>
                <a:ext cx="0" cy="29814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33333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74" name="Google Shape;774;p60"/>
              <p:cNvSpPr txBox="1"/>
              <p:nvPr/>
            </p:nvSpPr>
            <p:spPr>
              <a:xfrm>
                <a:off x="47625" y="428625"/>
                <a:ext cx="2478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85858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</a:t>
                </a:r>
                <a:endParaRPr sz="900">
                  <a:solidFill>
                    <a:srgbClr val="85858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85858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2</a:t>
                </a:r>
                <a:endParaRPr sz="900">
                  <a:solidFill>
                    <a:srgbClr val="85858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85858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3</a:t>
                </a:r>
                <a:endParaRPr sz="900">
                  <a:solidFill>
                    <a:srgbClr val="85858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85858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4</a:t>
                </a:r>
                <a:endParaRPr sz="900">
                  <a:solidFill>
                    <a:srgbClr val="85858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85858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5</a:t>
                </a:r>
                <a:endParaRPr sz="900">
                  <a:solidFill>
                    <a:srgbClr val="85858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85858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6</a:t>
                </a:r>
                <a:endParaRPr sz="900">
                  <a:solidFill>
                    <a:srgbClr val="85858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85858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7</a:t>
                </a:r>
                <a:endParaRPr sz="900">
                  <a:solidFill>
                    <a:srgbClr val="85858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85858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8</a:t>
                </a:r>
                <a:endParaRPr sz="900">
                  <a:solidFill>
                    <a:srgbClr val="85858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85858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9</a:t>
                </a:r>
                <a:endParaRPr sz="900">
                  <a:solidFill>
                    <a:srgbClr val="85858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85858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10</a:t>
                </a:r>
                <a:endParaRPr sz="900">
                  <a:solidFill>
                    <a:srgbClr val="85858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775" name="Google Shape;775;p60"/>
              <p:cNvSpPr txBox="1"/>
              <p:nvPr/>
            </p:nvSpPr>
            <p:spPr>
              <a:xfrm>
                <a:off x="457200" y="428625"/>
                <a:ext cx="33339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8">
                    <a:solidFill>
                      <a:srgbClr val="569C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h1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{</a:t>
                </a:r>
                <a:endParaRPr b="0" sz="93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38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font-family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938">
                    <a:solidFill>
                      <a:srgbClr val="CE917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'Inter', sans-serif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</a:t>
                </a:r>
                <a:endParaRPr b="0" sz="93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38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font-size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938">
                    <a:solidFill>
                      <a:srgbClr val="CE917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48px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</a:t>
                </a:r>
                <a:endParaRPr b="0" sz="93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38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font-weight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938">
                    <a:solidFill>
                      <a:srgbClr val="CE917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700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</a:t>
                </a:r>
                <a:endParaRPr b="0" sz="93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38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line-height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938">
                    <a:solidFill>
                      <a:srgbClr val="CE917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1.2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</a:t>
                </a:r>
                <a:endParaRPr b="0" sz="93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38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letter-spacing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938">
                    <a:solidFill>
                      <a:srgbClr val="CE917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-1px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</a:t>
                </a:r>
                <a:endParaRPr b="0" sz="93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38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text-align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938">
                    <a:solidFill>
                      <a:srgbClr val="CE917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left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</a:t>
                </a:r>
                <a:endParaRPr b="0" sz="93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38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text-decoration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938">
                    <a:solidFill>
                      <a:srgbClr val="CE917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none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</a:t>
                </a:r>
                <a:endParaRPr b="0" sz="93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38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text-transform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938">
                    <a:solidFill>
                      <a:srgbClr val="CE917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uppercase</a:t>
                </a: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</a:t>
                </a:r>
                <a:endParaRPr b="0" sz="93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38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}</a:t>
                </a:r>
                <a:endParaRPr b="0" sz="938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pic>
        <p:nvPicPr>
          <p:cNvPr id="776" name="Google Shape;776;p60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5399" y="392887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78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61"/>
          <p:cNvSpPr/>
          <p:nvPr/>
        </p:nvSpPr>
        <p:spPr>
          <a:xfrm>
            <a:off x="476250" y="1143000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61"/>
          <p:cNvSpPr/>
          <p:nvPr/>
        </p:nvSpPr>
        <p:spPr>
          <a:xfrm>
            <a:off x="8334375" y="428625"/>
            <a:ext cx="285900" cy="190500"/>
          </a:xfrm>
          <a:custGeom>
            <a:rect b="b" l="l" r="r" t="t"/>
            <a:pathLst>
              <a:path extrusionOk="0" h="120000" w="120000">
                <a:moveTo>
                  <a:pt x="40000" y="0"/>
                </a:moveTo>
                <a:lnTo>
                  <a:pt x="0" y="60000"/>
                </a:lnTo>
                <a:lnTo>
                  <a:pt x="40000" y="120000"/>
                </a:lnTo>
                <a:moveTo>
                  <a:pt x="80000" y="0"/>
                </a:moveTo>
                <a:lnTo>
                  <a:pt x="120000" y="60000"/>
                </a:lnTo>
                <a:lnTo>
                  <a:pt x="8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8100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61"/>
          <p:cNvSpPr txBox="1"/>
          <p:nvPr/>
        </p:nvSpPr>
        <p:spPr>
          <a:xfrm>
            <a:off x="476250" y="428625"/>
            <a:ext cx="76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CSS Box Model</a:t>
            </a:r>
            <a:endParaRPr/>
          </a:p>
        </p:txBody>
      </p:sp>
      <p:sp>
        <p:nvSpPr>
          <p:cNvPr id="785" name="Google Shape;785;p61"/>
          <p:cNvSpPr txBox="1"/>
          <p:nvPr/>
        </p:nvSpPr>
        <p:spPr>
          <a:xfrm>
            <a:off x="476250" y="1238250"/>
            <a:ext cx="819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Every HTML element is a rectangular box governed by the CSS Box Model.</a:t>
            </a:r>
            <a:endParaRPr b="0" sz="120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86" name="Google Shape;786;p61"/>
          <p:cNvGrpSpPr/>
          <p:nvPr/>
        </p:nvGrpSpPr>
        <p:grpSpPr>
          <a:xfrm>
            <a:off x="2181225" y="1514475"/>
            <a:ext cx="4781700" cy="2686200"/>
            <a:chOff x="1704975" y="85725"/>
            <a:chExt cx="4781700" cy="2686200"/>
          </a:xfrm>
        </p:grpSpPr>
        <p:pic>
          <p:nvPicPr>
            <p:cNvPr id="787" name="Google Shape;787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04975" y="85725"/>
              <a:ext cx="4781700" cy="268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8" name="Google Shape;788;p61"/>
            <p:cNvSpPr txBox="1"/>
            <p:nvPr/>
          </p:nvSpPr>
          <p:spPr>
            <a:xfrm>
              <a:off x="1857375" y="11430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margin</a:t>
              </a:r>
              <a:endParaRPr/>
            </a:p>
          </p:txBody>
        </p:sp>
        <p:sp>
          <p:nvSpPr>
            <p:cNvPr id="789" name="Google Shape;789;p61"/>
            <p:cNvSpPr txBox="1"/>
            <p:nvPr/>
          </p:nvSpPr>
          <p:spPr>
            <a:xfrm>
              <a:off x="3143250" y="114300"/>
              <a:ext cx="3190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rPr>
                <a:t>Invisible external space between elements</a:t>
              </a:r>
              <a:endParaRPr/>
            </a:p>
          </p:txBody>
        </p:sp>
        <p:sp>
          <p:nvSpPr>
            <p:cNvPr id="790" name="Google Shape;790;p61"/>
            <p:cNvSpPr/>
            <p:nvPr/>
          </p:nvSpPr>
          <p:spPr>
            <a:xfrm>
              <a:off x="2143125" y="476250"/>
              <a:ext cx="3905400" cy="1905000"/>
            </a:xfrm>
            <a:prstGeom prst="rect">
              <a:avLst/>
            </a:prstGeom>
            <a:solidFill>
              <a:srgbClr val="252526"/>
            </a:solidFill>
            <a:ln cap="flat" cmpd="sng" w="28575">
              <a:solidFill>
                <a:srgbClr val="DCDCA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1"/>
            <p:cNvSpPr txBox="1"/>
            <p:nvPr/>
          </p:nvSpPr>
          <p:spPr>
            <a:xfrm>
              <a:off x="2238375" y="49530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border</a:t>
              </a:r>
              <a:endParaRPr/>
            </a:p>
          </p:txBody>
        </p:sp>
        <p:sp>
          <p:nvSpPr>
            <p:cNvPr id="792" name="Google Shape;792;p61"/>
            <p:cNvSpPr txBox="1"/>
            <p:nvPr/>
          </p:nvSpPr>
          <p:spPr>
            <a:xfrm>
              <a:off x="3286125" y="495300"/>
              <a:ext cx="2524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Visible line wrapping the element</a:t>
              </a:r>
              <a:endParaRPr/>
            </a:p>
          </p:txBody>
        </p:sp>
        <p:sp>
          <p:nvSpPr>
            <p:cNvPr id="793" name="Google Shape;793;p61"/>
            <p:cNvSpPr/>
            <p:nvPr/>
          </p:nvSpPr>
          <p:spPr>
            <a:xfrm>
              <a:off x="2524125" y="857250"/>
              <a:ext cx="3143400" cy="1143000"/>
            </a:xfrm>
            <a:prstGeom prst="rect">
              <a:avLst/>
            </a:prstGeom>
            <a:solidFill>
              <a:srgbClr val="3838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1"/>
            <p:cNvSpPr txBox="1"/>
            <p:nvPr/>
          </p:nvSpPr>
          <p:spPr>
            <a:xfrm>
              <a:off x="2619375" y="87630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D4D4D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padding</a:t>
              </a:r>
              <a:endParaRPr/>
            </a:p>
          </p:txBody>
        </p:sp>
        <p:sp>
          <p:nvSpPr>
            <p:cNvPr id="795" name="Google Shape;795;p61"/>
            <p:cNvSpPr txBox="1"/>
            <p:nvPr/>
          </p:nvSpPr>
          <p:spPr>
            <a:xfrm>
              <a:off x="3571875" y="876300"/>
              <a:ext cx="1952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rPr>
                <a:t>Internal space around content</a:t>
              </a:r>
              <a:endParaRPr/>
            </a:p>
          </p:txBody>
        </p:sp>
        <p:sp>
          <p:nvSpPr>
            <p:cNvPr id="796" name="Google Shape;796;p61"/>
            <p:cNvSpPr/>
            <p:nvPr/>
          </p:nvSpPr>
          <p:spPr>
            <a:xfrm>
              <a:off x="3095625" y="1190625"/>
              <a:ext cx="2000100" cy="476400"/>
            </a:xfrm>
            <a:prstGeom prst="rect">
              <a:avLst/>
            </a:prstGeom>
            <a:solidFill>
              <a:srgbClr val="569C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1"/>
            <p:cNvSpPr txBox="1"/>
            <p:nvPr/>
          </p:nvSpPr>
          <p:spPr>
            <a:xfrm>
              <a:off x="3095625" y="1190625"/>
              <a:ext cx="2000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1E1E1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content</a:t>
              </a:r>
              <a:endParaRPr b="1" sz="1125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1E1E1E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Innermost part</a:t>
              </a:r>
              <a:endParaRPr b="0" sz="825">
                <a:solidFill>
                  <a:srgbClr val="1E1E1E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98" name="Google Shape;798;p61"/>
          <p:cNvGrpSpPr/>
          <p:nvPr/>
        </p:nvGrpSpPr>
        <p:grpSpPr>
          <a:xfrm>
            <a:off x="476250" y="4238625"/>
            <a:ext cx="8191500" cy="666900"/>
            <a:chOff x="0" y="0"/>
            <a:chExt cx="8191500" cy="666900"/>
          </a:xfrm>
        </p:grpSpPr>
        <p:sp>
          <p:nvSpPr>
            <p:cNvPr id="799" name="Google Shape;799;p61"/>
            <p:cNvSpPr/>
            <p:nvPr/>
          </p:nvSpPr>
          <p:spPr>
            <a:xfrm>
              <a:off x="0" y="0"/>
              <a:ext cx="8191500" cy="666900"/>
            </a:xfrm>
            <a:prstGeom prst="roundRect">
              <a:avLst>
                <a:gd fmla="val 8571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1"/>
            <p:cNvSpPr/>
            <p:nvPr/>
          </p:nvSpPr>
          <p:spPr>
            <a:xfrm>
              <a:off x="0" y="0"/>
              <a:ext cx="57300" cy="666900"/>
            </a:xfrm>
            <a:prstGeom prst="roundRect">
              <a:avLst>
                <a:gd fmla="val 50000" name="adj"/>
              </a:avLst>
            </a:prstGeom>
            <a:solidFill>
              <a:srgbClr val="569C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1"/>
            <p:cNvSpPr txBox="1"/>
            <p:nvPr/>
          </p:nvSpPr>
          <p:spPr>
            <a:xfrm>
              <a:off x="238125" y="76200"/>
              <a:ext cx="77154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box-sizing: border-box;</a:t>
              </a:r>
              <a:endParaRPr b="1" sz="975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By default, padding and borders increase total width. Applying 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border-box</a:t>
              </a:r>
              <a:r>
                <a:rPr b="0" lang="en" sz="97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forces their inclusion within the specified width.</a:t>
              </a:r>
              <a:endParaRPr b="0" sz="97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802" name="Google Shape;802;p61" title="Technical Council Orientation Presentation 20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8744" y="105650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6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8" name="Google Shape;80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62"/>
          <p:cNvSpPr/>
          <p:nvPr/>
        </p:nvSpPr>
        <p:spPr>
          <a:xfrm>
            <a:off x="476250" y="1066800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62"/>
          <p:cNvSpPr txBox="1"/>
          <p:nvPr/>
        </p:nvSpPr>
        <p:spPr>
          <a:xfrm>
            <a:off x="476250" y="3048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85858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CSS Box Model</a:t>
            </a:r>
            <a:endParaRPr b="0" sz="900">
              <a:solidFill>
                <a:srgbClr val="85858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11" name="Google Shape;811;p62"/>
          <p:cNvSpPr txBox="1"/>
          <p:nvPr/>
        </p:nvSpPr>
        <p:spPr>
          <a:xfrm>
            <a:off x="476250" y="55245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Width, Height, Margin &amp; Padding</a:t>
            </a:r>
            <a:endParaRPr b="1"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Google Shape;812;p62"/>
          <p:cNvSpPr txBox="1"/>
          <p:nvPr/>
        </p:nvSpPr>
        <p:spPr>
          <a:xfrm>
            <a:off x="476250" y="1352550"/>
            <a:ext cx="39054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Dimensions and spacing are controlled via </a:t>
            </a:r>
            <a:r>
              <a:rPr b="0" lang="en" sz="1200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width</a:t>
            </a: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lang="en" sz="1200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height</a:t>
            </a: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lang="en" sz="1200">
                <a:solidFill>
                  <a:srgbClr val="C586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margin</a:t>
            </a: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0" lang="en" sz="1200">
                <a:solidFill>
                  <a:srgbClr val="DCDC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padding</a:t>
            </a: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. Use </a:t>
            </a:r>
            <a:r>
              <a:rPr b="0" lang="en" sz="105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max-width</a:t>
            </a: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lang="en" sz="105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min-width</a:t>
            </a: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to create flexible elements that adapt to screen sizes.</a:t>
            </a:r>
            <a:endParaRPr b="0" sz="120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C586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Margin</a:t>
            </a: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dictates the outside space pushing elements apart, while </a:t>
            </a:r>
            <a:r>
              <a:rPr b="0" lang="en" sz="1200">
                <a:solidFill>
                  <a:srgbClr val="DCDC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padding</a:t>
            </a: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dictates the inside space pushing content away from the border.</a:t>
            </a:r>
            <a:endParaRPr b="0" sz="120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13" name="Google Shape;813;p62"/>
          <p:cNvGrpSpPr/>
          <p:nvPr/>
        </p:nvGrpSpPr>
        <p:grpSpPr>
          <a:xfrm>
            <a:off x="4762500" y="1352550"/>
            <a:ext cx="3905400" cy="2247900"/>
            <a:chOff x="0" y="0"/>
            <a:chExt cx="3905400" cy="2247900"/>
          </a:xfrm>
        </p:grpSpPr>
        <p:sp>
          <p:nvSpPr>
            <p:cNvPr id="814" name="Google Shape;814;p62"/>
            <p:cNvSpPr/>
            <p:nvPr/>
          </p:nvSpPr>
          <p:spPr>
            <a:xfrm>
              <a:off x="0" y="0"/>
              <a:ext cx="3905400" cy="2247900"/>
            </a:xfrm>
            <a:prstGeom prst="roundRect">
              <a:avLst>
                <a:gd fmla="val 3389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2"/>
            <p:cNvSpPr/>
            <p:nvPr/>
          </p:nvSpPr>
          <p:spPr>
            <a:xfrm>
              <a:off x="0" y="0"/>
              <a:ext cx="3905400" cy="3048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quadBezTo>
                    <a:pt x="0" y="0"/>
                    <a:pt x="2341" y="0"/>
                  </a:quadBezTo>
                  <a:lnTo>
                    <a:pt x="117659" y="0"/>
                  </a:lnTo>
                  <a:quadBezTo>
                    <a:pt x="120000" y="0"/>
                    <a:pt x="120000" y="30000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6" name="Google Shape;816;p62"/>
            <p:cNvGrpSpPr/>
            <p:nvPr/>
          </p:nvGrpSpPr>
          <p:grpSpPr>
            <a:xfrm>
              <a:off x="123825" y="104775"/>
              <a:ext cx="400200" cy="95400"/>
              <a:chOff x="9525" y="9525"/>
              <a:chExt cx="400200" cy="95400"/>
            </a:xfrm>
          </p:grpSpPr>
          <p:sp>
            <p:nvSpPr>
              <p:cNvPr id="817" name="Google Shape;817;p62"/>
              <p:cNvSpPr/>
              <p:nvPr/>
            </p:nvSpPr>
            <p:spPr>
              <a:xfrm>
                <a:off x="9525" y="9525"/>
                <a:ext cx="95400" cy="954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62"/>
              <p:cNvSpPr/>
              <p:nvPr/>
            </p:nvSpPr>
            <p:spPr>
              <a:xfrm>
                <a:off x="161925" y="9525"/>
                <a:ext cx="95400" cy="954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62"/>
              <p:cNvSpPr/>
              <p:nvPr/>
            </p:nvSpPr>
            <p:spPr>
              <a:xfrm>
                <a:off x="314325" y="9525"/>
                <a:ext cx="95400" cy="954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0" name="Google Shape;820;p62"/>
            <p:cNvSpPr txBox="1"/>
            <p:nvPr/>
          </p:nvSpPr>
          <p:spPr>
            <a:xfrm>
              <a:off x="0" y="0"/>
              <a:ext cx="3905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858585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styles.css</a:t>
              </a:r>
              <a:endParaRPr/>
            </a:p>
          </p:txBody>
        </p:sp>
        <p:sp>
          <p:nvSpPr>
            <p:cNvPr id="821" name="Google Shape;821;p62"/>
            <p:cNvSpPr txBox="1"/>
            <p:nvPr/>
          </p:nvSpPr>
          <p:spPr>
            <a:xfrm>
              <a:off x="228600" y="457200"/>
              <a:ext cx="3448200" cy="16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.card-container</a:t>
              </a:r>
              <a:r>
                <a:rPr b="0" lang="en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</a:t>
              </a:r>
              <a:endParaRPr b="0" sz="10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width</a:t>
              </a:r>
              <a:r>
                <a:rPr b="0" lang="en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1050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400px</a:t>
              </a:r>
              <a:r>
                <a:rPr b="0" lang="en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b="0" sz="10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max-width</a:t>
              </a:r>
              <a:r>
                <a:rPr b="0" lang="en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1050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100%</a:t>
              </a:r>
              <a:r>
                <a:rPr b="0" lang="en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b="0" sz="10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padding</a:t>
              </a:r>
              <a:r>
                <a:rPr b="0" lang="en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1050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24px</a:t>
              </a:r>
              <a:r>
                <a:rPr b="0" lang="en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</a:t>
              </a:r>
              <a:r>
                <a:rPr b="0" i="1" lang="en" sz="1050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Inside gap */</a:t>
              </a:r>
              <a:endParaRPr b="0" sz="10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margin</a:t>
              </a:r>
              <a:r>
                <a:rPr b="0" lang="en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1050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 auto</a:t>
              </a:r>
              <a:r>
                <a:rPr b="0" lang="en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</a:t>
              </a:r>
              <a:r>
                <a:rPr b="0" i="1" lang="en" sz="1050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Align center */</a:t>
              </a:r>
              <a:endParaRPr b="0" sz="10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}</a:t>
              </a:r>
              <a:endParaRPr b="0" sz="10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822" name="Google Shape;822;p62"/>
          <p:cNvGrpSpPr/>
          <p:nvPr/>
        </p:nvGrpSpPr>
        <p:grpSpPr>
          <a:xfrm>
            <a:off x="476250" y="3810000"/>
            <a:ext cx="8191500" cy="904800"/>
            <a:chOff x="0" y="0"/>
            <a:chExt cx="8191500" cy="904800"/>
          </a:xfrm>
        </p:grpSpPr>
        <p:sp>
          <p:nvSpPr>
            <p:cNvPr id="823" name="Google Shape;823;p62"/>
            <p:cNvSpPr/>
            <p:nvPr/>
          </p:nvSpPr>
          <p:spPr>
            <a:xfrm>
              <a:off x="0" y="0"/>
              <a:ext cx="8191500" cy="904800"/>
            </a:xfrm>
            <a:prstGeom prst="roundRect">
              <a:avLst>
                <a:gd fmla="val 6315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2"/>
            <p:cNvSpPr/>
            <p:nvPr/>
          </p:nvSpPr>
          <p:spPr>
            <a:xfrm>
              <a:off x="0" y="0"/>
              <a:ext cx="76200" cy="904800"/>
            </a:xfrm>
            <a:custGeom>
              <a:rect b="b" l="l" r="r" t="t"/>
              <a:pathLst>
                <a:path extrusionOk="0" h="120000" w="120000">
                  <a:moveTo>
                    <a:pt x="0" y="7579"/>
                  </a:moveTo>
                  <a:quadBezTo>
                    <a:pt x="0" y="0"/>
                    <a:pt x="90000" y="0"/>
                  </a:quad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quadBezTo>
                    <a:pt x="0" y="120000"/>
                    <a:pt x="0" y="112421"/>
                  </a:quadBezTo>
                  <a:close/>
                </a:path>
              </a:pathLst>
            </a:cu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5" name="Google Shape;825;p62"/>
            <p:cNvGrpSpPr/>
            <p:nvPr/>
          </p:nvGrpSpPr>
          <p:grpSpPr>
            <a:xfrm>
              <a:off x="243383" y="265721"/>
              <a:ext cx="198900" cy="172500"/>
              <a:chOff x="14783" y="27596"/>
              <a:chExt cx="198900" cy="172500"/>
            </a:xfrm>
          </p:grpSpPr>
          <p:sp>
            <p:nvSpPr>
              <p:cNvPr id="826" name="Google Shape;826;p62"/>
              <p:cNvSpPr/>
              <p:nvPr/>
            </p:nvSpPr>
            <p:spPr>
              <a:xfrm>
                <a:off x="14783" y="27596"/>
                <a:ext cx="198900" cy="172500"/>
              </a:xfrm>
              <a:custGeom>
                <a:rect b="b" l="l" r="r" t="t"/>
                <a:pathLst>
                  <a:path extrusionOk="0" h="120000" w="120000">
                    <a:moveTo>
                      <a:pt x="50180" y="6382"/>
                    </a:moveTo>
                    <a:lnTo>
                      <a:pt x="1539" y="100114"/>
                    </a:lnTo>
                    <a:cubicBezTo>
                      <a:pt x="-502" y="104193"/>
                      <a:pt x="-514" y="109216"/>
                      <a:pt x="1507" y="113309"/>
                    </a:cubicBezTo>
                    <a:cubicBezTo>
                      <a:pt x="3528" y="117401"/>
                      <a:pt x="7279" y="119948"/>
                      <a:pt x="11359" y="120000"/>
                    </a:cubicBezTo>
                    <a:lnTo>
                      <a:pt x="108641" y="120000"/>
                    </a:lnTo>
                    <a:cubicBezTo>
                      <a:pt x="112722" y="119948"/>
                      <a:pt x="116472" y="117401"/>
                      <a:pt x="118493" y="113308"/>
                    </a:cubicBezTo>
                    <a:cubicBezTo>
                      <a:pt x="120514" y="109216"/>
                      <a:pt x="120502" y="104193"/>
                      <a:pt x="118461" y="100114"/>
                    </a:cubicBezTo>
                    <a:lnTo>
                      <a:pt x="69820" y="6382"/>
                    </a:lnTo>
                    <a:cubicBezTo>
                      <a:pt x="67738" y="2420"/>
                      <a:pt x="64015" y="0"/>
                      <a:pt x="60000" y="0"/>
                    </a:cubicBezTo>
                    <a:cubicBezTo>
                      <a:pt x="55985" y="0"/>
                      <a:pt x="52262" y="2420"/>
                      <a:pt x="50180" y="6382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FFBD2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27" name="Google Shape;827;p62"/>
              <p:cNvCxnSpPr/>
              <p:nvPr/>
            </p:nvCxnSpPr>
            <p:spPr>
              <a:xfrm>
                <a:off x="114300" y="85725"/>
                <a:ext cx="0" cy="38100"/>
              </a:xfrm>
              <a:prstGeom prst="straightConnector1">
                <a:avLst/>
              </a:prstGeom>
              <a:solidFill>
                <a:srgbClr val="FFFFFF"/>
              </a:solidFill>
              <a:ln cap="rnd" cmpd="sng" w="19050">
                <a:solidFill>
                  <a:srgbClr val="FFBD2E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8" name="Google Shape;828;p62"/>
              <p:cNvCxnSpPr/>
              <p:nvPr/>
            </p:nvCxnSpPr>
            <p:spPr>
              <a:xfrm>
                <a:off x="114300" y="161925"/>
                <a:ext cx="0" cy="0"/>
              </a:xfrm>
              <a:prstGeom prst="straightConnector1">
                <a:avLst/>
              </a:prstGeom>
              <a:solidFill>
                <a:srgbClr val="FFFFFF"/>
              </a:solidFill>
              <a:ln cap="rnd" cmpd="sng" w="19050">
                <a:solidFill>
                  <a:srgbClr val="FFBD2E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829" name="Google Shape;829;p62"/>
            <p:cNvSpPr txBox="1"/>
            <p:nvPr/>
          </p:nvSpPr>
          <p:spPr>
            <a:xfrm>
              <a:off x="666750" y="133350"/>
              <a:ext cx="7296300" cy="6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FFBD2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Fix the Code: Centering Tip</a:t>
              </a:r>
              <a:endParaRPr b="0" sz="825">
                <a:solidFill>
                  <a:srgbClr val="FFBD2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A common technique to horizontally center a block element is setting a </a:t>
              </a:r>
              <a:r>
                <a:rPr b="0" lang="en" sz="1125">
                  <a:solidFill>
                    <a:srgbClr val="FFBD2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specific width</a:t>
              </a: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and applying </a:t>
              </a:r>
              <a:r>
                <a:rPr b="0" lang="en" sz="105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margin: 0 auto;</a:t>
              </a:r>
              <a:r>
                <a:rPr b="0" lang="en" sz="1125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, which evenly distributes available horizontal space.</a:t>
              </a:r>
              <a:endParaRPr b="0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830" name="Google Shape;830;p62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6" name="Google Shape;83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63"/>
          <p:cNvSpPr/>
          <p:nvPr/>
        </p:nvSpPr>
        <p:spPr>
          <a:xfrm>
            <a:off x="476250" y="1143000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63"/>
          <p:cNvSpPr txBox="1"/>
          <p:nvPr/>
        </p:nvSpPr>
        <p:spPr>
          <a:xfrm>
            <a:off x="47625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Borders, Border Radius &amp; Shadows</a:t>
            </a:r>
            <a:endParaRPr b="1"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Google Shape;839;p63"/>
          <p:cNvSpPr txBox="1"/>
          <p:nvPr/>
        </p:nvSpPr>
        <p:spPr>
          <a:xfrm>
            <a:off x="476250" y="1333500"/>
            <a:ext cx="4191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Modern UI design relies heavily on borders and shadows to create depth.</a:t>
            </a:r>
            <a:endParaRPr b="0" sz="112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C586C0"/>
                </a:solidFill>
                <a:highlight>
                  <a:srgbClr val="2D2D2D"/>
                </a:highlight>
                <a:latin typeface="Roboto Mono"/>
                <a:ea typeface="Roboto Mono"/>
                <a:cs typeface="Roboto Mono"/>
                <a:sym typeface="Roboto Mono"/>
              </a:rPr>
              <a:t>border</a:t>
            </a:r>
            <a:r>
              <a:rPr b="0" lang="en" sz="975">
                <a:solidFill>
                  <a:srgbClr val="DCDCAA"/>
                </a:solidFill>
                <a:highlight>
                  <a:srgbClr val="2D2D2D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lang="en" sz="975">
                <a:solidFill>
                  <a:srgbClr val="CE9178"/>
                </a:solidFill>
                <a:highlight>
                  <a:srgbClr val="2D2D2D"/>
                </a:highlight>
                <a:latin typeface="Roboto Mono"/>
                <a:ea typeface="Roboto Mono"/>
                <a:cs typeface="Roboto Mono"/>
                <a:sym typeface="Roboto Mono"/>
              </a:rPr>
              <a:t>1px solid #ddd</a:t>
            </a:r>
            <a:r>
              <a:rPr b="0" lang="en" sz="975">
                <a:solidFill>
                  <a:srgbClr val="DCDCAA"/>
                </a:solidFill>
                <a:highlight>
                  <a:srgbClr val="2D2D2D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sz="975">
              <a:solidFill>
                <a:srgbClr val="DCDCAA"/>
              </a:solidFill>
              <a:highlight>
                <a:srgbClr val="2D2D2D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A5A5A5"/>
                </a:solidFill>
                <a:highlight>
                  <a:srgbClr val="2D2D2D"/>
                </a:highlight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0" lang="en" sz="975">
                <a:solidFill>
                  <a:srgbClr val="569CD6"/>
                </a:solidFill>
                <a:highlight>
                  <a:srgbClr val="2D2D2D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border</a:t>
            </a:r>
            <a:r>
              <a:rPr b="0" lang="en" sz="975">
                <a:solidFill>
                  <a:srgbClr val="A5A5A5"/>
                </a:solidFill>
                <a:highlight>
                  <a:srgbClr val="2D2D2D"/>
                </a:highlight>
                <a:latin typeface="Inter"/>
                <a:ea typeface="Inter"/>
                <a:cs typeface="Inter"/>
                <a:sym typeface="Inter"/>
              </a:rPr>
              <a:t> property defines thickness, style, and color.</a:t>
            </a:r>
            <a:endParaRPr b="0" sz="975">
              <a:solidFill>
                <a:srgbClr val="A5A5A5"/>
              </a:solidFill>
              <a:highlight>
                <a:srgbClr val="2D2D2D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C586C0"/>
                </a:solidFill>
                <a:highlight>
                  <a:srgbClr val="2D2D2D"/>
                </a:highlight>
                <a:latin typeface="Roboto Mono"/>
                <a:ea typeface="Roboto Mono"/>
                <a:cs typeface="Roboto Mono"/>
                <a:sym typeface="Roboto Mono"/>
              </a:rPr>
              <a:t>border-radius</a:t>
            </a:r>
            <a:r>
              <a:rPr b="0" lang="en" sz="975">
                <a:solidFill>
                  <a:srgbClr val="DCDCAA"/>
                </a:solidFill>
                <a:highlight>
                  <a:srgbClr val="2D2D2D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lang="en" sz="975">
                <a:solidFill>
                  <a:srgbClr val="CE9178"/>
                </a:solidFill>
                <a:highlight>
                  <a:srgbClr val="2D2D2D"/>
                </a:highlight>
                <a:latin typeface="Roboto Mono"/>
                <a:ea typeface="Roboto Mono"/>
                <a:cs typeface="Roboto Mono"/>
                <a:sym typeface="Roboto Mono"/>
              </a:rPr>
              <a:t>12px</a:t>
            </a:r>
            <a:r>
              <a:rPr b="0" lang="en" sz="975">
                <a:solidFill>
                  <a:srgbClr val="DCDCAA"/>
                </a:solidFill>
                <a:highlight>
                  <a:srgbClr val="2D2D2D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sz="975">
              <a:solidFill>
                <a:srgbClr val="DCDCAA"/>
              </a:solidFill>
              <a:highlight>
                <a:srgbClr val="2D2D2D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A5A5A5"/>
                </a:solidFill>
                <a:highlight>
                  <a:srgbClr val="2D2D2D"/>
                </a:highlight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0" lang="en" sz="975">
                <a:solidFill>
                  <a:srgbClr val="569CD6"/>
                </a:solidFill>
                <a:highlight>
                  <a:srgbClr val="2D2D2D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border-radius</a:t>
            </a:r>
            <a:r>
              <a:rPr b="0" lang="en" sz="975">
                <a:solidFill>
                  <a:srgbClr val="A5A5A5"/>
                </a:solidFill>
                <a:highlight>
                  <a:srgbClr val="2D2D2D"/>
                </a:highlight>
                <a:latin typeface="Inter"/>
                <a:ea typeface="Inter"/>
                <a:cs typeface="Inter"/>
                <a:sym typeface="Inter"/>
              </a:rPr>
              <a:t> property rounds the corners of an element, softening its appearance.</a:t>
            </a:r>
            <a:endParaRPr b="0" sz="975">
              <a:solidFill>
                <a:srgbClr val="A5A5A5"/>
              </a:solidFill>
              <a:highlight>
                <a:srgbClr val="2D2D2D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C586C0"/>
                </a:solidFill>
                <a:highlight>
                  <a:srgbClr val="2D2D2D"/>
                </a:highlight>
                <a:latin typeface="Roboto Mono"/>
                <a:ea typeface="Roboto Mono"/>
                <a:cs typeface="Roboto Mono"/>
                <a:sym typeface="Roboto Mono"/>
              </a:rPr>
              <a:t>box-shadow</a:t>
            </a:r>
            <a:r>
              <a:rPr b="0" lang="en" sz="975">
                <a:solidFill>
                  <a:srgbClr val="DCDCAA"/>
                </a:solidFill>
                <a:highlight>
                  <a:srgbClr val="2D2D2D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0" lang="en" sz="975">
                <a:solidFill>
                  <a:srgbClr val="CE9178"/>
                </a:solidFill>
                <a:highlight>
                  <a:srgbClr val="2D2D2D"/>
                </a:highlight>
                <a:latin typeface="Roboto Mono"/>
                <a:ea typeface="Roboto Mono"/>
                <a:cs typeface="Roboto Mono"/>
                <a:sym typeface="Roboto Mono"/>
              </a:rPr>
              <a:t>0 4px 15px rgba(0,0,0,0.1)</a:t>
            </a:r>
            <a:r>
              <a:rPr b="0" lang="en" sz="975">
                <a:solidFill>
                  <a:srgbClr val="DCDCAA"/>
                </a:solidFill>
                <a:highlight>
                  <a:srgbClr val="2D2D2D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0" sz="975">
              <a:solidFill>
                <a:srgbClr val="DCDCAA"/>
              </a:solidFill>
              <a:highlight>
                <a:srgbClr val="2D2D2D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A5A5A5"/>
                </a:solidFill>
                <a:highlight>
                  <a:srgbClr val="2D2D2D"/>
                </a:highlight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0" lang="en" sz="975">
                <a:solidFill>
                  <a:srgbClr val="569CD6"/>
                </a:solidFill>
                <a:highlight>
                  <a:srgbClr val="2D2D2D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box-shadow</a:t>
            </a:r>
            <a:r>
              <a:rPr b="0" lang="en" sz="975">
                <a:solidFill>
                  <a:srgbClr val="A5A5A5"/>
                </a:solidFill>
                <a:highlight>
                  <a:srgbClr val="2D2D2D"/>
                </a:highlight>
                <a:latin typeface="Inter"/>
                <a:ea typeface="Inter"/>
                <a:cs typeface="Inter"/>
                <a:sym typeface="Inter"/>
              </a:rPr>
              <a:t> property adds a drop shadow using values for horizontal offset, vertical offset, blur radius, and color.</a:t>
            </a:r>
            <a:endParaRPr b="0" sz="975">
              <a:solidFill>
                <a:srgbClr val="A5A5A5"/>
              </a:solidFill>
              <a:highlight>
                <a:srgbClr val="2D2D2D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1" lang="en" sz="975">
                <a:solidFill>
                  <a:srgbClr val="6A9955"/>
                </a:solidFill>
                <a:latin typeface="Inter"/>
                <a:ea typeface="Inter"/>
                <a:cs typeface="Inter"/>
                <a:sym typeface="Inter"/>
              </a:rPr>
              <a:t>/* Combining these properties is the standard technique for creating modern card layouts. */</a:t>
            </a:r>
            <a:endParaRPr b="0" i="1" sz="975">
              <a:solidFill>
                <a:srgbClr val="6A9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40" name="Google Shape;840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8250" y="1333500"/>
            <a:ext cx="3619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63" title="Technical Council Orientation Presentation 20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2344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64"/>
          <p:cNvSpPr txBox="1"/>
          <p:nvPr/>
        </p:nvSpPr>
        <p:spPr>
          <a:xfrm>
            <a:off x="476250" y="381000"/>
            <a:ext cx="7620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Display &amp; Position</a:t>
            </a:r>
            <a:endParaRPr b="1"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8" name="Google Shape;848;p64"/>
          <p:cNvSpPr txBox="1"/>
          <p:nvPr/>
        </p:nvSpPr>
        <p:spPr>
          <a:xfrm>
            <a:off x="476250" y="1381125"/>
            <a:ext cx="39054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50">
                <a:solidFill>
                  <a:srgbClr val="569CD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display</a:t>
            </a:r>
            <a:endParaRPr b="0" sz="1650">
              <a:solidFill>
                <a:srgbClr val="569CD6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Dictates how elements flow.</a:t>
            </a:r>
            <a:endParaRPr b="0" sz="120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Block</a:t>
            </a: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elements take up full width, while </a:t>
            </a:r>
            <a:r>
              <a:rPr b="0" lang="en" sz="1200">
                <a:solidFill>
                  <a:srgbClr val="C586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inline</a:t>
            </a:r>
            <a:r>
              <a:rPr b="0" lang="en" sz="12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elements take up only necessary space.</a:t>
            </a:r>
            <a:endParaRPr b="0" sz="120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650">
                <a:solidFill>
                  <a:srgbClr val="569CD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position</a:t>
            </a:r>
            <a:endParaRPr b="0" sz="1650">
              <a:solidFill>
                <a:srgbClr val="569CD6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Removes elements from normal document flow.</a:t>
            </a:r>
            <a:endParaRPr b="0" sz="112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DCDCA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static</a:t>
            </a:r>
            <a:r>
              <a:rPr b="0" lang="en" sz="105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Default behavior.</a:t>
            </a:r>
            <a:endParaRPr b="0" sz="105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DCDCA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relative</a:t>
            </a:r>
            <a:r>
              <a:rPr b="0" lang="en" sz="105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Allows movement from original spot.</a:t>
            </a:r>
            <a:endParaRPr b="0" sz="105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DCDCA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absolute</a:t>
            </a:r>
            <a:r>
              <a:rPr b="0" lang="en" sz="105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Positioned relative to closest positioned parent.</a:t>
            </a:r>
            <a:endParaRPr b="0" sz="105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49" name="Google Shape;849;p64"/>
          <p:cNvGrpSpPr/>
          <p:nvPr/>
        </p:nvGrpSpPr>
        <p:grpSpPr>
          <a:xfrm>
            <a:off x="4762500" y="1381125"/>
            <a:ext cx="3905400" cy="3238500"/>
            <a:chOff x="0" y="0"/>
            <a:chExt cx="3905400" cy="3238500"/>
          </a:xfrm>
        </p:grpSpPr>
        <p:sp>
          <p:nvSpPr>
            <p:cNvPr id="850" name="Google Shape;850;p64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4"/>
            <p:cNvSpPr/>
            <p:nvPr/>
          </p:nvSpPr>
          <p:spPr>
            <a:xfrm>
              <a:off x="0" y="0"/>
              <a:ext cx="3905400" cy="3048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quadBezTo>
                    <a:pt x="0" y="0"/>
                    <a:pt x="2341" y="0"/>
                  </a:quadBezTo>
                  <a:lnTo>
                    <a:pt x="117659" y="0"/>
                  </a:lnTo>
                  <a:quadBezTo>
                    <a:pt x="120000" y="0"/>
                    <a:pt x="120000" y="30000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2" name="Google Shape;852;p64"/>
            <p:cNvGrpSpPr/>
            <p:nvPr/>
          </p:nvGrpSpPr>
          <p:grpSpPr>
            <a:xfrm>
              <a:off x="133350" y="95250"/>
              <a:ext cx="495300" cy="114300"/>
              <a:chOff x="57150" y="57150"/>
              <a:chExt cx="495300" cy="114300"/>
            </a:xfrm>
          </p:grpSpPr>
          <p:sp>
            <p:nvSpPr>
              <p:cNvPr id="853" name="Google Shape;853;p64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64"/>
              <p:cNvSpPr/>
              <p:nvPr/>
            </p:nvSpPr>
            <p:spPr>
              <a:xfrm>
                <a:off x="247650" y="57150"/>
                <a:ext cx="114300" cy="1143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64"/>
              <p:cNvSpPr/>
              <p:nvPr/>
            </p:nvSpPr>
            <p:spPr>
              <a:xfrm>
                <a:off x="438150" y="57150"/>
                <a:ext cx="114300" cy="1143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6" name="Google Shape;856;p64"/>
            <p:cNvSpPr txBox="1"/>
            <p:nvPr/>
          </p:nvSpPr>
          <p:spPr>
            <a:xfrm>
              <a:off x="0" y="0"/>
              <a:ext cx="3905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858585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style.css</a:t>
              </a:r>
              <a:endParaRPr b="0" sz="825">
                <a:solidFill>
                  <a:srgbClr val="858585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857" name="Google Shape;857;p64"/>
            <p:cNvSpPr txBox="1"/>
            <p:nvPr/>
          </p:nvSpPr>
          <p:spPr>
            <a:xfrm>
              <a:off x="190500" y="495300"/>
              <a:ext cx="35244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975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Parent Container */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.container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position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975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relative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}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1" lang="en" sz="975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Absolute Notification Badge */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.badge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position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975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absolute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top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975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10px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right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975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10px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}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858" name="Google Shape;858;p64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65"/>
          <p:cNvSpPr/>
          <p:nvPr/>
        </p:nvSpPr>
        <p:spPr>
          <a:xfrm>
            <a:off x="476250" y="1095375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65"/>
          <p:cNvSpPr txBox="1"/>
          <p:nvPr/>
        </p:nvSpPr>
        <p:spPr>
          <a:xfrm>
            <a:off x="476250" y="333375"/>
            <a:ext cx="7143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Flexbox</a:t>
            </a:r>
            <a:endParaRPr b="1"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One-Dimensional Layout Model</a:t>
            </a:r>
            <a:endParaRPr b="0" sz="825">
              <a:solidFill>
                <a:srgbClr val="569CD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866" name="Google Shape;866;p65"/>
          <p:cNvCxnSpPr/>
          <p:nvPr/>
        </p:nvCxnSpPr>
        <p:spPr>
          <a:xfrm>
            <a:off x="4429125" y="1381125"/>
            <a:ext cx="0" cy="31434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7" name="Google Shape;867;p65"/>
          <p:cNvSpPr txBox="1"/>
          <p:nvPr/>
        </p:nvSpPr>
        <p:spPr>
          <a:xfrm>
            <a:off x="476250" y="1381125"/>
            <a:ext cx="37149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63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Flexbox is a </a:t>
            </a:r>
            <a:r>
              <a:rPr b="1" lang="en" sz="1163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one-dimensional layout model</a:t>
            </a:r>
            <a:r>
              <a:rPr b="0" lang="en" sz="1163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designed for aligning elements in rows or columns.</a:t>
            </a:r>
            <a:endParaRPr b="0" sz="1163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088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Activating it with display: flex; grants the parent container absolute alignment authority over its children along two key layout directions.</a:t>
            </a:r>
            <a:endParaRPr b="0" sz="1088">
              <a:solidFill>
                <a:srgbClr val="A0A0A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68" name="Google Shape;868;p65"/>
          <p:cNvGrpSpPr/>
          <p:nvPr/>
        </p:nvGrpSpPr>
        <p:grpSpPr>
          <a:xfrm>
            <a:off x="476250" y="2952750"/>
            <a:ext cx="3714900" cy="1571700"/>
            <a:chOff x="0" y="0"/>
            <a:chExt cx="3714900" cy="1571700"/>
          </a:xfrm>
        </p:grpSpPr>
        <p:sp>
          <p:nvSpPr>
            <p:cNvPr id="869" name="Google Shape;869;p65"/>
            <p:cNvSpPr/>
            <p:nvPr/>
          </p:nvSpPr>
          <p:spPr>
            <a:xfrm>
              <a:off x="0" y="0"/>
              <a:ext cx="3714900" cy="1571700"/>
            </a:xfrm>
            <a:prstGeom prst="roundRect">
              <a:avLst>
                <a:gd fmla="val 4848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5"/>
            <p:cNvSpPr/>
            <p:nvPr/>
          </p:nvSpPr>
          <p:spPr>
            <a:xfrm>
              <a:off x="0" y="0"/>
              <a:ext cx="3714900" cy="266700"/>
            </a:xfrm>
            <a:custGeom>
              <a:rect b="b" l="l" r="r" t="t"/>
              <a:pathLst>
                <a:path extrusionOk="0" h="120000" w="120000">
                  <a:moveTo>
                    <a:pt x="0" y="34286"/>
                  </a:moveTo>
                  <a:quadBezTo>
                    <a:pt x="0" y="0"/>
                    <a:pt x="2462" y="0"/>
                  </a:quadBezTo>
                  <a:lnTo>
                    <a:pt x="117538" y="0"/>
                  </a:lnTo>
                  <a:quadBezTo>
                    <a:pt x="120000" y="0"/>
                    <a:pt x="120000" y="34286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71" name="Google Shape;871;p65"/>
            <p:cNvGrpSpPr/>
            <p:nvPr/>
          </p:nvGrpSpPr>
          <p:grpSpPr>
            <a:xfrm>
              <a:off x="133350" y="95250"/>
              <a:ext cx="304800" cy="76200"/>
              <a:chOff x="19050" y="19050"/>
              <a:chExt cx="304800" cy="76200"/>
            </a:xfrm>
          </p:grpSpPr>
          <p:sp>
            <p:nvSpPr>
              <p:cNvPr id="872" name="Google Shape;872;p65"/>
              <p:cNvSpPr/>
              <p:nvPr/>
            </p:nvSpPr>
            <p:spPr>
              <a:xfrm>
                <a:off x="19050" y="1905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65"/>
              <p:cNvSpPr/>
              <p:nvPr/>
            </p:nvSpPr>
            <p:spPr>
              <a:xfrm>
                <a:off x="133350" y="1905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65"/>
              <p:cNvSpPr/>
              <p:nvPr/>
            </p:nvSpPr>
            <p:spPr>
              <a:xfrm>
                <a:off x="247650" y="1905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75" name="Google Shape;875;p65"/>
            <p:cNvSpPr txBox="1"/>
            <p:nvPr/>
          </p:nvSpPr>
          <p:spPr>
            <a:xfrm>
              <a:off x="0" y="0"/>
              <a:ext cx="3714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858585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navigation.css</a:t>
              </a:r>
              <a:endParaRPr/>
            </a:p>
          </p:txBody>
        </p:sp>
        <p:sp>
          <p:nvSpPr>
            <p:cNvPr id="876" name="Google Shape;876;p65"/>
            <p:cNvSpPr txBox="1"/>
            <p:nvPr/>
          </p:nvSpPr>
          <p:spPr>
            <a:xfrm>
              <a:off x="190500" y="400050"/>
              <a:ext cx="3333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.navbar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display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flex;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justify-content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975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space-between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align-items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975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center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gap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975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20px</a:t>
              </a: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}</a:t>
              </a:r>
              <a:endParaRPr b="0" sz="975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877" name="Google Shape;877;p65"/>
          <p:cNvSpPr txBox="1"/>
          <p:nvPr/>
        </p:nvSpPr>
        <p:spPr>
          <a:xfrm>
            <a:off x="5048250" y="1524000"/>
            <a:ext cx="3333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25">
                <a:solidFill>
                  <a:srgbClr val="C586C0"/>
                </a:solidFill>
                <a:latin typeface="Inter"/>
                <a:ea typeface="Inter"/>
                <a:cs typeface="Inter"/>
                <a:sym typeface="Inter"/>
              </a:rPr>
              <a:t>MAIN AXIS</a:t>
            </a:r>
            <a:r>
              <a:rPr lang="en"/>
              <a:t> </a:t>
            </a:r>
            <a:r>
              <a:rPr lang="en" sz="825">
                <a:solidFill>
                  <a:srgbClr val="858585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endParaRPr/>
          </a:p>
        </p:txBody>
      </p:sp>
      <p:pic>
        <p:nvPicPr>
          <p:cNvPr id="878" name="Google Shape;87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8250" y="1809750"/>
            <a:ext cx="3381300" cy="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65"/>
          <p:cNvSpPr txBox="1"/>
          <p:nvPr/>
        </p:nvSpPr>
        <p:spPr>
          <a:xfrm rot="-5400000">
            <a:off x="3833925" y="2881350"/>
            <a:ext cx="1619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25">
                <a:solidFill>
                  <a:srgbClr val="DCDCAA"/>
                </a:solidFill>
                <a:latin typeface="Inter"/>
                <a:ea typeface="Inter"/>
                <a:cs typeface="Inter"/>
                <a:sym typeface="Inter"/>
              </a:rPr>
              <a:t>CROSS AXIS</a:t>
            </a:r>
            <a:r>
              <a:rPr lang="en"/>
              <a:t> </a:t>
            </a:r>
            <a:r>
              <a:rPr lang="en" sz="825">
                <a:solidFill>
                  <a:srgbClr val="858585"/>
                </a:solidFill>
                <a:latin typeface="Roboto Mono"/>
                <a:ea typeface="Roboto Mono"/>
                <a:cs typeface="Roboto Mono"/>
                <a:sym typeface="Roboto Mono"/>
              </a:rPr>
              <a:t>align-items</a:t>
            </a:r>
            <a:endParaRPr/>
          </a:p>
        </p:txBody>
      </p:sp>
      <p:pic>
        <p:nvPicPr>
          <p:cNvPr id="880" name="Google Shape;880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0" y="2190750"/>
            <a:ext cx="95400" cy="166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65"/>
          <p:cNvGrpSpPr/>
          <p:nvPr/>
        </p:nvGrpSpPr>
        <p:grpSpPr>
          <a:xfrm>
            <a:off x="5038725" y="2181225"/>
            <a:ext cx="3352800" cy="1638300"/>
            <a:chOff x="5038725" y="2181225"/>
            <a:chExt cx="3352800" cy="1638300"/>
          </a:xfrm>
        </p:grpSpPr>
        <p:pic>
          <p:nvPicPr>
            <p:cNvPr id="882" name="Google Shape;882;p6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38725" y="2181225"/>
              <a:ext cx="3352800" cy="163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3" name="Google Shape;883;p65"/>
            <p:cNvSpPr txBox="1"/>
            <p:nvPr/>
          </p:nvSpPr>
          <p:spPr>
            <a:xfrm>
              <a:off x="5191125" y="2314575"/>
              <a:ext cx="3048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.navbar</a:t>
              </a:r>
              <a:r>
                <a:rPr lang="en" sz="900">
                  <a:solidFill>
                    <a:srgbClr val="85858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 display: flex; }</a:t>
              </a:r>
              <a:endParaRPr sz="900">
                <a:solidFill>
                  <a:srgbClr val="85858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grpSp>
          <p:nvGrpSpPr>
            <p:cNvPr id="884" name="Google Shape;884;p65"/>
            <p:cNvGrpSpPr/>
            <p:nvPr/>
          </p:nvGrpSpPr>
          <p:grpSpPr>
            <a:xfrm>
              <a:off x="5191125" y="2714625"/>
              <a:ext cx="809700" cy="619200"/>
              <a:chOff x="0" y="0"/>
              <a:chExt cx="809700" cy="619200"/>
            </a:xfrm>
          </p:grpSpPr>
          <p:sp>
            <p:nvSpPr>
              <p:cNvPr id="885" name="Google Shape;885;p65"/>
              <p:cNvSpPr/>
              <p:nvPr/>
            </p:nvSpPr>
            <p:spPr>
              <a:xfrm>
                <a:off x="0" y="0"/>
                <a:ext cx="809700" cy="619200"/>
              </a:xfrm>
              <a:prstGeom prst="roundRect">
                <a:avLst>
                  <a:gd fmla="val 9230" name="adj"/>
                </a:avLst>
              </a:prstGeom>
              <a:solidFill>
                <a:srgbClr val="2D2D2D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65"/>
              <p:cNvSpPr txBox="1"/>
              <p:nvPr/>
            </p:nvSpPr>
            <p:spPr>
              <a:xfrm>
                <a:off x="0" y="0"/>
                <a:ext cx="8097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5">
                    <a:solidFill>
                      <a:srgbClr val="569C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&lt;Logo /&gt;</a:t>
                </a:r>
                <a:endParaRPr/>
              </a:p>
            </p:txBody>
          </p:sp>
        </p:grpSp>
        <p:pic>
          <p:nvPicPr>
            <p:cNvPr id="887" name="Google Shape;887;p6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000750" y="3014663"/>
              <a:ext cx="3144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" name="Google Shape;888;p65"/>
            <p:cNvSpPr/>
            <p:nvPr/>
          </p:nvSpPr>
          <p:spPr>
            <a:xfrm>
              <a:off x="6138863" y="2990850"/>
              <a:ext cx="57300" cy="57300"/>
            </a:xfrm>
            <a:prstGeom prst="ellipse">
              <a:avLst/>
            </a:prstGeom>
            <a:solidFill>
              <a:srgbClr val="C586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9" name="Google Shape;889;p65"/>
            <p:cNvGrpSpPr/>
            <p:nvPr/>
          </p:nvGrpSpPr>
          <p:grpSpPr>
            <a:xfrm>
              <a:off x="6334125" y="2714625"/>
              <a:ext cx="809700" cy="619200"/>
              <a:chOff x="0" y="0"/>
              <a:chExt cx="809700" cy="619200"/>
            </a:xfrm>
          </p:grpSpPr>
          <p:sp>
            <p:nvSpPr>
              <p:cNvPr id="890" name="Google Shape;890;p65"/>
              <p:cNvSpPr/>
              <p:nvPr/>
            </p:nvSpPr>
            <p:spPr>
              <a:xfrm>
                <a:off x="0" y="0"/>
                <a:ext cx="809700" cy="619200"/>
              </a:xfrm>
              <a:prstGeom prst="roundRect">
                <a:avLst>
                  <a:gd fmla="val 9230" name="adj"/>
                </a:avLst>
              </a:prstGeom>
              <a:solidFill>
                <a:srgbClr val="2D2D2D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65"/>
              <p:cNvSpPr txBox="1"/>
              <p:nvPr/>
            </p:nvSpPr>
            <p:spPr>
              <a:xfrm>
                <a:off x="0" y="0"/>
                <a:ext cx="8097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5">
                    <a:solidFill>
                      <a:srgbClr val="569C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&lt;Docs /&gt;</a:t>
                </a:r>
                <a:endParaRPr/>
              </a:p>
            </p:txBody>
          </p:sp>
        </p:grpSp>
        <p:pic>
          <p:nvPicPr>
            <p:cNvPr id="892" name="Google Shape;892;p6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143750" y="3014663"/>
              <a:ext cx="3144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3" name="Google Shape;893;p65"/>
            <p:cNvSpPr/>
            <p:nvPr/>
          </p:nvSpPr>
          <p:spPr>
            <a:xfrm>
              <a:off x="7281863" y="2990850"/>
              <a:ext cx="57300" cy="57300"/>
            </a:xfrm>
            <a:prstGeom prst="ellipse">
              <a:avLst/>
            </a:prstGeom>
            <a:solidFill>
              <a:srgbClr val="C586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4" name="Google Shape;894;p65"/>
            <p:cNvGrpSpPr/>
            <p:nvPr/>
          </p:nvGrpSpPr>
          <p:grpSpPr>
            <a:xfrm>
              <a:off x="7477125" y="2714625"/>
              <a:ext cx="809700" cy="619200"/>
              <a:chOff x="0" y="0"/>
              <a:chExt cx="809700" cy="619200"/>
            </a:xfrm>
          </p:grpSpPr>
          <p:sp>
            <p:nvSpPr>
              <p:cNvPr id="895" name="Google Shape;895;p65"/>
              <p:cNvSpPr/>
              <p:nvPr/>
            </p:nvSpPr>
            <p:spPr>
              <a:xfrm>
                <a:off x="0" y="0"/>
                <a:ext cx="809700" cy="619200"/>
              </a:xfrm>
              <a:prstGeom prst="roundRect">
                <a:avLst>
                  <a:gd fmla="val 9230" name="adj"/>
                </a:avLst>
              </a:prstGeom>
              <a:solidFill>
                <a:srgbClr val="2D2D2D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65"/>
              <p:cNvSpPr txBox="1"/>
              <p:nvPr/>
            </p:nvSpPr>
            <p:spPr>
              <a:xfrm>
                <a:off x="0" y="0"/>
                <a:ext cx="8097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5">
                    <a:solidFill>
                      <a:srgbClr val="569C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&lt;GitHub /&gt;</a:t>
                </a:r>
                <a:endParaRPr/>
              </a:p>
            </p:txBody>
          </p:sp>
        </p:grpSp>
      </p:grpSp>
      <p:sp>
        <p:nvSpPr>
          <p:cNvPr id="897" name="Google Shape;897;p65"/>
          <p:cNvSpPr txBox="1"/>
          <p:nvPr/>
        </p:nvSpPr>
        <p:spPr>
          <a:xfrm>
            <a:off x="5048250" y="3924300"/>
            <a:ext cx="3333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gap: 20px (between items)</a:t>
            </a:r>
            <a:endParaRPr/>
          </a:p>
        </p:txBody>
      </p:sp>
      <p:pic>
        <p:nvPicPr>
          <p:cNvPr id="898" name="Google Shape;898;p65" title="Technical Council Orientation Presentation 202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6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66"/>
          <p:cNvSpPr txBox="1"/>
          <p:nvPr/>
        </p:nvSpPr>
        <p:spPr>
          <a:xfrm>
            <a:off x="476250" y="381000"/>
            <a:ext cx="7620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CSS Grid</a:t>
            </a:r>
            <a:endParaRPr b="1"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6A99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Two-Dimensional Layout System</a:t>
            </a:r>
            <a:endParaRPr b="0" sz="1050">
              <a:solidFill>
                <a:srgbClr val="6A99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05" name="Google Shape;905;p66"/>
          <p:cNvSpPr txBox="1"/>
          <p:nvPr/>
        </p:nvSpPr>
        <p:spPr>
          <a:xfrm>
            <a:off x="476250" y="1333500"/>
            <a:ext cx="39054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CSS Grid is a two-dimensional layout system ideal for complex page structures. While Flexbox handles single rows or columns, Grid manages both simultaneously.</a:t>
            </a:r>
            <a:endParaRPr b="0" sz="112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Activating </a:t>
            </a:r>
            <a:r>
              <a:rPr b="0" lang="en" sz="1050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display: grid;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allows you to define structural tracks.</a:t>
            </a:r>
            <a:endParaRPr b="0" sz="112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6" name="Google Shape;906;p66"/>
          <p:cNvSpPr txBox="1"/>
          <p:nvPr/>
        </p:nvSpPr>
        <p:spPr>
          <a:xfrm>
            <a:off x="4762500" y="1333500"/>
            <a:ext cx="39054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For example, </a:t>
            </a:r>
            <a:r>
              <a:rPr b="0" lang="en" sz="105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grid-template-columns: repeat(3, 1fr);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creates three equal-width columns using the fractional (</a:t>
            </a:r>
            <a:r>
              <a:rPr b="0" lang="en" sz="105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fr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) unit.</a:t>
            </a:r>
            <a:endParaRPr b="0" sz="112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Grid containers hold grid items, and the </a:t>
            </a:r>
            <a:r>
              <a:rPr b="0" lang="en" sz="1050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rPr>
              <a:t>gap</a:t>
            </a:r>
            <a:r>
              <a:rPr b="0" lang="en" sz="1125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property provides uniform spacing. Use Grid for overall page layouts and Flexbox for aligning components within them.</a:t>
            </a:r>
            <a:endParaRPr b="0" sz="1125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07" name="Google Shape;907;p66"/>
          <p:cNvGrpSpPr/>
          <p:nvPr/>
        </p:nvGrpSpPr>
        <p:grpSpPr>
          <a:xfrm>
            <a:off x="857250" y="2524125"/>
            <a:ext cx="6772425" cy="2143275"/>
            <a:chOff x="857250" y="2524125"/>
            <a:chExt cx="6772425" cy="2143275"/>
          </a:xfrm>
        </p:grpSpPr>
        <p:sp>
          <p:nvSpPr>
            <p:cNvPr id="908" name="Google Shape;908;p66"/>
            <p:cNvSpPr txBox="1"/>
            <p:nvPr/>
          </p:nvSpPr>
          <p:spPr>
            <a:xfrm>
              <a:off x="1666875" y="2524125"/>
              <a:ext cx="18096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1fr</a:t>
              </a:r>
              <a:endParaRPr b="0" sz="975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09" name="Google Shape;909;p66"/>
            <p:cNvSpPr txBox="1"/>
            <p:nvPr/>
          </p:nvSpPr>
          <p:spPr>
            <a:xfrm>
              <a:off x="3667125" y="2524125"/>
              <a:ext cx="18096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1fr</a:t>
              </a:r>
              <a:endParaRPr b="0" sz="975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10" name="Google Shape;910;p66"/>
            <p:cNvSpPr txBox="1"/>
            <p:nvPr/>
          </p:nvSpPr>
          <p:spPr>
            <a:xfrm>
              <a:off x="5667375" y="2524125"/>
              <a:ext cx="18096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1fr</a:t>
              </a:r>
              <a:endParaRPr b="0" sz="975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11" name="Google Shape;911;p66"/>
            <p:cNvSpPr txBox="1"/>
            <p:nvPr/>
          </p:nvSpPr>
          <p:spPr>
            <a:xfrm>
              <a:off x="857250" y="3028950"/>
              <a:ext cx="57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row 1</a:t>
              </a:r>
              <a:endParaRPr b="0" sz="975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12" name="Google Shape;912;p66"/>
            <p:cNvSpPr txBox="1"/>
            <p:nvPr/>
          </p:nvSpPr>
          <p:spPr>
            <a:xfrm>
              <a:off x="857250" y="3695700"/>
              <a:ext cx="57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row 2</a:t>
              </a:r>
              <a:endParaRPr b="0" sz="975">
                <a:solidFill>
                  <a:srgbClr val="C586C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913" name="Google Shape;913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14475" y="2752725"/>
              <a:ext cx="6115200" cy="144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4" name="Google Shape;914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71863" y="2757488"/>
              <a:ext cx="200100" cy="143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5" name="Google Shape;915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72113" y="2757488"/>
              <a:ext cx="200100" cy="143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6" name="Google Shape;916;p6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19238" y="3376613"/>
              <a:ext cx="6105600" cy="200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17" name="Google Shape;917;p66"/>
            <p:cNvGrpSpPr/>
            <p:nvPr/>
          </p:nvGrpSpPr>
          <p:grpSpPr>
            <a:xfrm>
              <a:off x="1666875" y="2905125"/>
              <a:ext cx="1809600" cy="476400"/>
              <a:chOff x="1666875" y="2905125"/>
              <a:chExt cx="1809600" cy="476400"/>
            </a:xfrm>
          </p:grpSpPr>
          <p:sp>
            <p:nvSpPr>
              <p:cNvPr id="918" name="Google Shape;918;p66"/>
              <p:cNvSpPr/>
              <p:nvPr/>
            </p:nvSpPr>
            <p:spPr>
              <a:xfrm>
                <a:off x="1666875" y="2905125"/>
                <a:ext cx="18096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2D2D2D"/>
              </a:solidFill>
              <a:ln cap="flat" cmpd="sng" w="14300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66"/>
              <p:cNvSpPr txBox="1"/>
              <p:nvPr/>
            </p:nvSpPr>
            <p:spPr>
              <a:xfrm>
                <a:off x="1666875" y="2905125"/>
                <a:ext cx="18096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D4D4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.item-1</a:t>
                </a:r>
                <a:endParaRPr/>
              </a:p>
            </p:txBody>
          </p:sp>
        </p:grpSp>
        <p:grpSp>
          <p:nvGrpSpPr>
            <p:cNvPr id="920" name="Google Shape;920;p66"/>
            <p:cNvGrpSpPr/>
            <p:nvPr/>
          </p:nvGrpSpPr>
          <p:grpSpPr>
            <a:xfrm>
              <a:off x="3667125" y="2905125"/>
              <a:ext cx="1809600" cy="476400"/>
              <a:chOff x="3667125" y="2905125"/>
              <a:chExt cx="1809600" cy="476400"/>
            </a:xfrm>
          </p:grpSpPr>
          <p:sp>
            <p:nvSpPr>
              <p:cNvPr id="921" name="Google Shape;921;p66"/>
              <p:cNvSpPr/>
              <p:nvPr/>
            </p:nvSpPr>
            <p:spPr>
              <a:xfrm>
                <a:off x="3667125" y="2905125"/>
                <a:ext cx="18096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2D2D2D"/>
              </a:solidFill>
              <a:ln cap="flat" cmpd="sng" w="14300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66"/>
              <p:cNvSpPr txBox="1"/>
              <p:nvPr/>
            </p:nvSpPr>
            <p:spPr>
              <a:xfrm>
                <a:off x="3667125" y="2905125"/>
                <a:ext cx="18096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D4D4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.item-2</a:t>
                </a:r>
                <a:endParaRPr/>
              </a:p>
            </p:txBody>
          </p:sp>
        </p:grpSp>
        <p:grpSp>
          <p:nvGrpSpPr>
            <p:cNvPr id="923" name="Google Shape;923;p66"/>
            <p:cNvGrpSpPr/>
            <p:nvPr/>
          </p:nvGrpSpPr>
          <p:grpSpPr>
            <a:xfrm>
              <a:off x="5667375" y="2905125"/>
              <a:ext cx="1809600" cy="476400"/>
              <a:chOff x="5667375" y="2905125"/>
              <a:chExt cx="1809600" cy="476400"/>
            </a:xfrm>
          </p:grpSpPr>
          <p:sp>
            <p:nvSpPr>
              <p:cNvPr id="924" name="Google Shape;924;p66"/>
              <p:cNvSpPr/>
              <p:nvPr/>
            </p:nvSpPr>
            <p:spPr>
              <a:xfrm>
                <a:off x="5667375" y="2905125"/>
                <a:ext cx="18096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2D2D2D"/>
              </a:solidFill>
              <a:ln cap="flat" cmpd="sng" w="14300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66"/>
              <p:cNvSpPr txBox="1"/>
              <p:nvPr/>
            </p:nvSpPr>
            <p:spPr>
              <a:xfrm>
                <a:off x="5667375" y="2905125"/>
                <a:ext cx="18096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D4D4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.item-3</a:t>
                </a:r>
                <a:endParaRPr/>
              </a:p>
            </p:txBody>
          </p:sp>
        </p:grpSp>
        <p:grpSp>
          <p:nvGrpSpPr>
            <p:cNvPr id="926" name="Google Shape;926;p66"/>
            <p:cNvGrpSpPr/>
            <p:nvPr/>
          </p:nvGrpSpPr>
          <p:grpSpPr>
            <a:xfrm>
              <a:off x="1666875" y="3571875"/>
              <a:ext cx="1809600" cy="476400"/>
              <a:chOff x="1666875" y="3571875"/>
              <a:chExt cx="1809600" cy="476400"/>
            </a:xfrm>
          </p:grpSpPr>
          <p:sp>
            <p:nvSpPr>
              <p:cNvPr id="927" name="Google Shape;927;p66"/>
              <p:cNvSpPr/>
              <p:nvPr/>
            </p:nvSpPr>
            <p:spPr>
              <a:xfrm>
                <a:off x="1666875" y="3571875"/>
                <a:ext cx="18096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2D2D2D"/>
              </a:solidFill>
              <a:ln cap="flat" cmpd="sng" w="14300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66"/>
              <p:cNvSpPr txBox="1"/>
              <p:nvPr/>
            </p:nvSpPr>
            <p:spPr>
              <a:xfrm>
                <a:off x="1666875" y="3571875"/>
                <a:ext cx="18096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D4D4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.item-4</a:t>
                </a:r>
                <a:endParaRPr/>
              </a:p>
            </p:txBody>
          </p:sp>
        </p:grpSp>
        <p:grpSp>
          <p:nvGrpSpPr>
            <p:cNvPr id="929" name="Google Shape;929;p66"/>
            <p:cNvGrpSpPr/>
            <p:nvPr/>
          </p:nvGrpSpPr>
          <p:grpSpPr>
            <a:xfrm>
              <a:off x="3667125" y="3571875"/>
              <a:ext cx="1809600" cy="476400"/>
              <a:chOff x="3667125" y="3571875"/>
              <a:chExt cx="1809600" cy="476400"/>
            </a:xfrm>
          </p:grpSpPr>
          <p:sp>
            <p:nvSpPr>
              <p:cNvPr id="930" name="Google Shape;930;p66"/>
              <p:cNvSpPr/>
              <p:nvPr/>
            </p:nvSpPr>
            <p:spPr>
              <a:xfrm>
                <a:off x="3667125" y="3571875"/>
                <a:ext cx="18096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2D2D2D"/>
              </a:solidFill>
              <a:ln cap="flat" cmpd="sng" w="14300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66"/>
              <p:cNvSpPr txBox="1"/>
              <p:nvPr/>
            </p:nvSpPr>
            <p:spPr>
              <a:xfrm>
                <a:off x="3667125" y="3571875"/>
                <a:ext cx="18096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D4D4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.item-5</a:t>
                </a:r>
                <a:endParaRPr/>
              </a:p>
            </p:txBody>
          </p:sp>
        </p:grpSp>
        <p:grpSp>
          <p:nvGrpSpPr>
            <p:cNvPr id="932" name="Google Shape;932;p66"/>
            <p:cNvGrpSpPr/>
            <p:nvPr/>
          </p:nvGrpSpPr>
          <p:grpSpPr>
            <a:xfrm>
              <a:off x="5667375" y="3571875"/>
              <a:ext cx="1809600" cy="476400"/>
              <a:chOff x="5667375" y="3571875"/>
              <a:chExt cx="1809600" cy="476400"/>
            </a:xfrm>
          </p:grpSpPr>
          <p:sp>
            <p:nvSpPr>
              <p:cNvPr id="933" name="Google Shape;933;p66"/>
              <p:cNvSpPr/>
              <p:nvPr/>
            </p:nvSpPr>
            <p:spPr>
              <a:xfrm>
                <a:off x="5667375" y="3571875"/>
                <a:ext cx="18096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2D2D2D"/>
              </a:solidFill>
              <a:ln cap="flat" cmpd="sng" w="14300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66"/>
              <p:cNvSpPr txBox="1"/>
              <p:nvPr/>
            </p:nvSpPr>
            <p:spPr>
              <a:xfrm>
                <a:off x="5667375" y="3571875"/>
                <a:ext cx="18096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D4D4D4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.item-6</a:t>
                </a:r>
                <a:endParaRPr/>
              </a:p>
            </p:txBody>
          </p:sp>
        </p:grpSp>
        <p:cxnSp>
          <p:nvCxnSpPr>
            <p:cNvPr id="935" name="Google Shape;935;p66"/>
            <p:cNvCxnSpPr/>
            <p:nvPr/>
          </p:nvCxnSpPr>
          <p:spPr>
            <a:xfrm>
              <a:off x="3476625" y="3143250"/>
              <a:ext cx="190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A99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6" name="Google Shape;936;p66"/>
            <p:cNvCxnSpPr/>
            <p:nvPr/>
          </p:nvCxnSpPr>
          <p:spPr>
            <a:xfrm>
              <a:off x="3476625" y="308610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A99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7" name="Google Shape;937;p66"/>
            <p:cNvCxnSpPr/>
            <p:nvPr/>
          </p:nvCxnSpPr>
          <p:spPr>
            <a:xfrm>
              <a:off x="3667125" y="3086100"/>
              <a:ext cx="0" cy="114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A99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8" name="Google Shape;938;p66"/>
            <p:cNvSpPr txBox="1"/>
            <p:nvPr/>
          </p:nvSpPr>
          <p:spPr>
            <a:xfrm>
              <a:off x="3238500" y="3209925"/>
              <a:ext cx="666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gap: 20px</a:t>
              </a:r>
              <a:endParaRPr b="0" sz="750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939" name="Google Shape;939;p66"/>
            <p:cNvCxnSpPr/>
            <p:nvPr/>
          </p:nvCxnSpPr>
          <p:spPr>
            <a:xfrm>
              <a:off x="6667500" y="3381375"/>
              <a:ext cx="0" cy="1905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A99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0" name="Google Shape;940;p66"/>
            <p:cNvCxnSpPr/>
            <p:nvPr/>
          </p:nvCxnSpPr>
          <p:spPr>
            <a:xfrm>
              <a:off x="6610350" y="3381375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A99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1" name="Google Shape;941;p66"/>
            <p:cNvCxnSpPr/>
            <p:nvPr/>
          </p:nvCxnSpPr>
          <p:spPr>
            <a:xfrm>
              <a:off x="6610350" y="3571875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6A99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2" name="Google Shape;942;p66"/>
            <p:cNvSpPr txBox="1"/>
            <p:nvPr/>
          </p:nvSpPr>
          <p:spPr>
            <a:xfrm>
              <a:off x="6781800" y="3371850"/>
              <a:ext cx="7620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gap: 20px</a:t>
              </a:r>
              <a:endParaRPr b="0" sz="750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43" name="Google Shape;943;p66"/>
            <p:cNvSpPr txBox="1"/>
            <p:nvPr/>
          </p:nvSpPr>
          <p:spPr>
            <a:xfrm>
              <a:off x="1524000" y="4381500"/>
              <a:ext cx="609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85858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Visualizing a 3x2 Grid: grid-template-columns: repeat(3, 1fr);</a:t>
              </a:r>
              <a:endParaRPr b="0" sz="1050">
                <a:solidFill>
                  <a:srgbClr val="85858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944" name="Google Shape;944;p66" title="Technical Council Orientation Presentation 202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9" name="Google Shape;949;p6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50" name="Google Shape;950;p6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6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2" name="Google Shape;952;p67"/>
          <p:cNvSpPr/>
          <p:nvPr/>
        </p:nvSpPr>
        <p:spPr>
          <a:xfrm>
            <a:off x="476250" y="1143000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67"/>
          <p:cNvSpPr txBox="1"/>
          <p:nvPr/>
        </p:nvSpPr>
        <p:spPr>
          <a:xfrm>
            <a:off x="476250" y="381000"/>
            <a:ext cx="7620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Responsive Design</a:t>
            </a:r>
            <a:endParaRPr b="1" sz="3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54" name="Google Shape;954;p67"/>
          <p:cNvGrpSpPr/>
          <p:nvPr/>
        </p:nvGrpSpPr>
        <p:grpSpPr>
          <a:xfrm>
            <a:off x="476250" y="1333500"/>
            <a:ext cx="3905400" cy="3333750"/>
            <a:chOff x="476250" y="1333500"/>
            <a:chExt cx="3905400" cy="3333750"/>
          </a:xfrm>
        </p:grpSpPr>
        <p:sp>
          <p:nvSpPr>
            <p:cNvPr id="955" name="Google Shape;955;p67"/>
            <p:cNvSpPr txBox="1"/>
            <p:nvPr/>
          </p:nvSpPr>
          <p:spPr>
            <a:xfrm>
              <a:off x="476250" y="1333500"/>
              <a:ext cx="39054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88">
                  <a:solidFill>
                    <a:srgbClr val="569CD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Breakpoints &amp; Fluid Layouts</a:t>
              </a:r>
              <a:endParaRPr b="0" sz="1388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41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Media queries apply specific CSS rules dynamically based on target viewport size or device breakpoints.</a:t>
              </a:r>
              <a:endParaRPr b="0" sz="104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41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Adopting a </a:t>
              </a:r>
              <a:r>
                <a:rPr b="1" lang="en" sz="104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mobile-first approach</a:t>
              </a:r>
              <a:r>
                <a:rPr b="0" lang="en" sz="1041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—styling for small screens first and scaling up—is a critical industry best practice.</a:t>
              </a:r>
              <a:endParaRPr b="0" sz="104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41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Using relative units like </a:t>
              </a:r>
              <a:r>
                <a:rPr b="0" lang="en" sz="902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width: 100%</a:t>
              </a:r>
              <a:r>
                <a:rPr b="0" lang="en" sz="1041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with </a:t>
              </a:r>
              <a:r>
                <a:rPr b="0" lang="en" sz="902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max-width: 1200px</a:t>
              </a:r>
              <a:r>
                <a:rPr b="0" lang="en" sz="1041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prevents desktop layouts from breaking.</a:t>
              </a:r>
              <a:endParaRPr b="0" sz="1041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56" name="Google Shape;956;p67"/>
            <p:cNvGrpSpPr/>
            <p:nvPr/>
          </p:nvGrpSpPr>
          <p:grpSpPr>
            <a:xfrm>
              <a:off x="476250" y="3143250"/>
              <a:ext cx="3905400" cy="1524000"/>
              <a:chOff x="476250" y="3095625"/>
              <a:chExt cx="3905400" cy="1524000"/>
            </a:xfrm>
          </p:grpSpPr>
          <p:sp>
            <p:nvSpPr>
              <p:cNvPr id="957" name="Google Shape;957;p67"/>
              <p:cNvSpPr/>
              <p:nvPr/>
            </p:nvSpPr>
            <p:spPr>
              <a:xfrm>
                <a:off x="476250" y="3095625"/>
                <a:ext cx="3905400" cy="1524000"/>
              </a:xfrm>
              <a:prstGeom prst="roundRect">
                <a:avLst>
                  <a:gd fmla="val 3750" name="adj"/>
                </a:avLst>
              </a:prstGeom>
              <a:solidFill>
                <a:srgbClr val="2D2D2D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67"/>
              <p:cNvSpPr/>
              <p:nvPr/>
            </p:nvSpPr>
            <p:spPr>
              <a:xfrm>
                <a:off x="476250" y="3095625"/>
                <a:ext cx="3905400" cy="238200"/>
              </a:xfrm>
              <a:custGeom>
                <a:rect b="b" l="l" r="r" t="t"/>
                <a:pathLst>
                  <a:path extrusionOk="0" h="120000" w="120000">
                    <a:moveTo>
                      <a:pt x="0" y="28800"/>
                    </a:moveTo>
                    <a:quadBezTo>
                      <a:pt x="0" y="0"/>
                      <a:pt x="1756" y="0"/>
                    </a:quadBezTo>
                    <a:lnTo>
                      <a:pt x="118244" y="0"/>
                    </a:lnTo>
                    <a:quadBezTo>
                      <a:pt x="120000" y="0"/>
                      <a:pt x="120000" y="28800"/>
                    </a:quad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59" name="Google Shape;959;p67"/>
              <p:cNvGrpSpPr/>
              <p:nvPr/>
            </p:nvGrpSpPr>
            <p:grpSpPr>
              <a:xfrm>
                <a:off x="605790" y="3187065"/>
                <a:ext cx="297180" cy="68580"/>
                <a:chOff x="57150" y="57150"/>
                <a:chExt cx="495300" cy="114300"/>
              </a:xfrm>
            </p:grpSpPr>
            <p:sp>
              <p:nvSpPr>
                <p:cNvPr id="960" name="Google Shape;960;p67"/>
                <p:cNvSpPr/>
                <p:nvPr/>
              </p:nvSpPr>
              <p:spPr>
                <a:xfrm>
                  <a:off x="57150" y="57150"/>
                  <a:ext cx="114300" cy="114300"/>
                </a:xfrm>
                <a:prstGeom prst="ellipse">
                  <a:avLst/>
                </a:prstGeom>
                <a:solidFill>
                  <a:srgbClr val="FF5F5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1" name="Google Shape;961;p67"/>
                <p:cNvSpPr/>
                <p:nvPr/>
              </p:nvSpPr>
              <p:spPr>
                <a:xfrm>
                  <a:off x="247650" y="57150"/>
                  <a:ext cx="114300" cy="114300"/>
                </a:xfrm>
                <a:prstGeom prst="ellipse">
                  <a:avLst/>
                </a:prstGeom>
                <a:solidFill>
                  <a:srgbClr val="FFBD2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2" name="Google Shape;962;p67"/>
                <p:cNvSpPr/>
                <p:nvPr/>
              </p:nvSpPr>
              <p:spPr>
                <a:xfrm>
                  <a:off x="438150" y="57150"/>
                  <a:ext cx="114300" cy="114300"/>
                </a:xfrm>
                <a:prstGeom prst="ellipse">
                  <a:avLst/>
                </a:prstGeom>
                <a:solidFill>
                  <a:srgbClr val="27C93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63" name="Google Shape;963;p67"/>
              <p:cNvSpPr txBox="1"/>
              <p:nvPr/>
            </p:nvSpPr>
            <p:spPr>
              <a:xfrm>
                <a:off x="476250" y="3095625"/>
                <a:ext cx="39054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858585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responsive.css</a:t>
                </a:r>
                <a:endParaRPr/>
              </a:p>
            </p:txBody>
          </p:sp>
          <p:sp>
            <p:nvSpPr>
              <p:cNvPr id="964" name="Google Shape;964;p67"/>
              <p:cNvSpPr txBox="1"/>
              <p:nvPr/>
            </p:nvSpPr>
            <p:spPr>
              <a:xfrm>
                <a:off x="666750" y="3476625"/>
                <a:ext cx="35244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@media</a:t>
                </a:r>
                <a:r>
                  <a:rPr b="0" lang="en" sz="975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(</a:t>
                </a:r>
                <a:r>
                  <a:rPr b="0" lang="en" sz="975">
                    <a:solidFill>
                      <a:srgbClr val="569C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max-width</a:t>
                </a:r>
                <a:r>
                  <a:rPr b="0" lang="en" sz="975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975">
                    <a:solidFill>
                      <a:srgbClr val="CE917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768px</a:t>
                </a:r>
                <a:r>
                  <a:rPr b="0" lang="en" sz="975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) {</a:t>
                </a:r>
                <a:endParaRPr b="0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569C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.container</a:t>
                </a:r>
                <a:r>
                  <a:rPr b="0" lang="en" sz="975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{</a:t>
                </a:r>
                <a:endParaRPr b="0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C586C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grid-template-columns</a:t>
                </a:r>
                <a:r>
                  <a:rPr b="0" lang="en" sz="975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 </a:t>
                </a:r>
                <a:r>
                  <a:rPr b="0" lang="en" sz="975">
                    <a:solidFill>
                      <a:srgbClr val="CE9178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1fr</a:t>
                </a:r>
                <a:r>
                  <a:rPr b="0" lang="en" sz="975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;</a:t>
                </a:r>
                <a:endParaRPr b="0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}</a:t>
                </a:r>
                <a:endParaRPr b="0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DCDCA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}</a:t>
                </a:r>
                <a:endParaRPr b="0" sz="975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grpSp>
        <p:nvGrpSpPr>
          <p:cNvPr id="965" name="Google Shape;965;p67"/>
          <p:cNvGrpSpPr/>
          <p:nvPr/>
        </p:nvGrpSpPr>
        <p:grpSpPr>
          <a:xfrm>
            <a:off x="4762500" y="1333500"/>
            <a:ext cx="3905400" cy="3286200"/>
            <a:chOff x="4762500" y="1333500"/>
            <a:chExt cx="3905400" cy="3286200"/>
          </a:xfrm>
        </p:grpSpPr>
        <p:sp>
          <p:nvSpPr>
            <p:cNvPr id="966" name="Google Shape;966;p67"/>
            <p:cNvSpPr txBox="1"/>
            <p:nvPr/>
          </p:nvSpPr>
          <p:spPr>
            <a:xfrm>
              <a:off x="4762500" y="1333500"/>
              <a:ext cx="3905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LAYOUT ADAPTATION VISUALIZATION</a:t>
              </a:r>
              <a:endParaRPr b="0" sz="900">
                <a:solidFill>
                  <a:srgbClr val="85858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967" name="Google Shape;967;p67"/>
            <p:cNvPicPr preferRelativeResize="0"/>
            <p:nvPr/>
          </p:nvPicPr>
          <p:blipFill rotWithShape="1">
            <a:blip r:embed="rId3">
              <a:alphaModFix/>
            </a:blip>
            <a:srcRect b="0" l="80" r="80" t="0"/>
            <a:stretch/>
          </p:blipFill>
          <p:spPr>
            <a:xfrm>
              <a:off x="4762500" y="1666875"/>
              <a:ext cx="3905400" cy="2200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68" name="Google Shape;968;p67"/>
            <p:cNvGrpSpPr/>
            <p:nvPr/>
          </p:nvGrpSpPr>
          <p:grpSpPr>
            <a:xfrm>
              <a:off x="4762500" y="4000500"/>
              <a:ext cx="3905400" cy="619200"/>
              <a:chOff x="4762500" y="4000500"/>
              <a:chExt cx="3905400" cy="619200"/>
            </a:xfrm>
          </p:grpSpPr>
          <p:sp>
            <p:nvSpPr>
              <p:cNvPr id="969" name="Google Shape;969;p67"/>
              <p:cNvSpPr/>
              <p:nvPr/>
            </p:nvSpPr>
            <p:spPr>
              <a:xfrm>
                <a:off x="4762500" y="4000500"/>
                <a:ext cx="3905400" cy="619200"/>
              </a:xfrm>
              <a:prstGeom prst="roundRect">
                <a:avLst>
                  <a:gd fmla="val 9230" name="adj"/>
                </a:avLst>
              </a:prstGeom>
              <a:solidFill>
                <a:srgbClr val="2D2D2D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67"/>
              <p:cNvSpPr txBox="1"/>
              <p:nvPr/>
            </p:nvSpPr>
            <p:spPr>
              <a:xfrm>
                <a:off x="4905375" y="4095750"/>
                <a:ext cx="3619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900">
                    <a:solidFill>
                      <a:srgbClr val="6A995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/* Note: Grid columns dynamically collapse from multi-column desktop screens down to a 1fr single-column vertical flow on mobile. */</a:t>
                </a:r>
                <a:endParaRPr b="0" sz="900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pic>
        <p:nvPicPr>
          <p:cNvPr id="971" name="Google Shape;971;p67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oogle Shape;976;p6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77" name="Google Shape;977;p6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8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569C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9" name="Google Shape;979;p68"/>
          <p:cNvSpPr txBox="1"/>
          <p:nvPr/>
        </p:nvSpPr>
        <p:spPr>
          <a:xfrm>
            <a:off x="476250" y="381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CSS Progressive Build</a:t>
            </a:r>
            <a:endParaRPr b="0" sz="1050">
              <a:solidFill>
                <a:srgbClr val="569CD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Putting Everything Together</a:t>
            </a:r>
            <a:endParaRPr b="1" sz="2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0" name="Google Shape;980;p68"/>
          <p:cNvSpPr txBox="1"/>
          <p:nvPr/>
        </p:nvSpPr>
        <p:spPr>
          <a:xfrm>
            <a:off x="476250" y="1238250"/>
            <a:ext cx="3905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Building a modern profile card requires combining all CSS concepts progressively.</a:t>
            </a:r>
            <a:endParaRPr b="0" sz="1050">
              <a:solidFill>
                <a:srgbClr val="A0A0A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A9955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HTML Structure — </a:t>
            </a:r>
            <a:r>
              <a:rPr lang="en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First, we establish the HTML structure.</a:t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7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69CD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Step 1 (Reset) — </a:t>
            </a:r>
            <a:r>
              <a:rPr lang="en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1 applies a basic CSS reset.</a:t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7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69CD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Step 2 (Type) — </a:t>
            </a:r>
            <a:r>
              <a:rPr lang="en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2 defines typography and fonts.</a:t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7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69CD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Step 3 (Color) — </a:t>
            </a:r>
            <a:r>
              <a:rPr lang="en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3 introduces background colors.</a:t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7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69CD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Step 4 (Shape) — </a:t>
            </a:r>
            <a:r>
              <a:rPr lang="en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4 shapes the card using borders, border-radius, and box-shadows.</a:t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7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69CD6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Step 5 (Flex) — </a:t>
            </a:r>
            <a:r>
              <a:rPr lang="en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5 aligns internal elements using Flexbox.</a:t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7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C586C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Step 6 (Grid) — </a:t>
            </a:r>
            <a:r>
              <a:rPr lang="en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6 structures the outer layout using Grid.</a:t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75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C586C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Step 7 (Media) — </a:t>
            </a:r>
            <a:r>
              <a:rPr lang="en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Finally, Step 7 applies media queries to ensure the profile card stacks correctly on mobile devices.</a:t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81" name="Google Shape;981;p68"/>
          <p:cNvGrpSpPr/>
          <p:nvPr/>
        </p:nvGrpSpPr>
        <p:grpSpPr>
          <a:xfrm>
            <a:off x="4572000" y="1238250"/>
            <a:ext cx="4095900" cy="3429000"/>
            <a:chOff x="0" y="0"/>
            <a:chExt cx="4095900" cy="3429000"/>
          </a:xfrm>
        </p:grpSpPr>
        <p:sp>
          <p:nvSpPr>
            <p:cNvPr id="982" name="Google Shape;982;p68"/>
            <p:cNvSpPr/>
            <p:nvPr/>
          </p:nvSpPr>
          <p:spPr>
            <a:xfrm>
              <a:off x="0" y="0"/>
              <a:ext cx="4095900" cy="3429000"/>
            </a:xfrm>
            <a:prstGeom prst="roundRect">
              <a:avLst>
                <a:gd fmla="val 2222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8"/>
            <p:cNvSpPr/>
            <p:nvPr/>
          </p:nvSpPr>
          <p:spPr>
            <a:xfrm>
              <a:off x="0" y="0"/>
              <a:ext cx="4095900" cy="2859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quadBezTo>
                    <a:pt x="0" y="0"/>
                    <a:pt x="2233" y="0"/>
                  </a:quadBezTo>
                  <a:lnTo>
                    <a:pt x="117767" y="0"/>
                  </a:lnTo>
                  <a:quadBezTo>
                    <a:pt x="120000" y="0"/>
                    <a:pt x="120000" y="32000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4" name="Google Shape;984;p68"/>
            <p:cNvGrpSpPr/>
            <p:nvPr/>
          </p:nvGrpSpPr>
          <p:grpSpPr>
            <a:xfrm>
              <a:off x="171450" y="85725"/>
              <a:ext cx="495300" cy="114300"/>
              <a:chOff x="57150" y="57150"/>
              <a:chExt cx="495300" cy="114300"/>
            </a:xfrm>
          </p:grpSpPr>
          <p:sp>
            <p:nvSpPr>
              <p:cNvPr id="985" name="Google Shape;985;p68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68"/>
              <p:cNvSpPr/>
              <p:nvPr/>
            </p:nvSpPr>
            <p:spPr>
              <a:xfrm>
                <a:off x="247650" y="57150"/>
                <a:ext cx="114300" cy="1143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68"/>
              <p:cNvSpPr/>
              <p:nvPr/>
            </p:nvSpPr>
            <p:spPr>
              <a:xfrm>
                <a:off x="438150" y="57150"/>
                <a:ext cx="114300" cy="1143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88" name="Google Shape;988;p68"/>
            <p:cNvSpPr txBox="1"/>
            <p:nvPr/>
          </p:nvSpPr>
          <p:spPr>
            <a:xfrm>
              <a:off x="0" y="0"/>
              <a:ext cx="409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858585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profile-card.css</a:t>
              </a:r>
              <a:endParaRPr b="0" sz="825">
                <a:solidFill>
                  <a:srgbClr val="858585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989" name="Google Shape;989;p68"/>
            <p:cNvSpPr txBox="1"/>
            <p:nvPr/>
          </p:nvSpPr>
          <p:spPr>
            <a:xfrm>
              <a:off x="238125" y="428625"/>
              <a:ext cx="3619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639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Step 1: CSS Reset */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 </a:t>
              </a:r>
              <a:r>
                <a:rPr b="0" lang="en" sz="639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box-sizing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border-box; </a:t>
              </a:r>
              <a:r>
                <a:rPr b="0" lang="en" sz="639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margin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639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}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en" sz="639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Steps 2, 3, 4, 6: Layout &amp; Card Base */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.profile-card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display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639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grid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</a:t>
              </a:r>
              <a:r>
                <a:rPr b="0" i="1" lang="en" sz="639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Step 6 */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background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639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#2d2d2d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</a:t>
              </a:r>
              <a:r>
                <a:rPr b="0" i="1" lang="en" sz="639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Step 3 */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border-radius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639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12px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</a:t>
              </a:r>
              <a:r>
                <a:rPr b="0" i="1" lang="en" sz="639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Step 4 */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box-shadow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639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 8px 16px rgba(0,0,0,0.3)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</a:t>
              </a:r>
              <a:r>
                <a:rPr b="0" i="1" lang="en" sz="639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Step 4 */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}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en" sz="639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Steps 2, 5: Internal Alignment */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.card-header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display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639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flex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</a:t>
              </a:r>
              <a:r>
                <a:rPr b="0" i="1" lang="en" sz="639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Step 5 */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font-family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639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'Inter', sans-serif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</a:t>
              </a:r>
              <a:r>
                <a:rPr b="0" i="1" lang="en" sz="639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Step 2 */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}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en" sz="639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Step 7: Mobile Responsiveness */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@media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(</a:t>
              </a:r>
              <a:r>
                <a:rPr b="0" lang="en" sz="639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max-width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639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600px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 {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.profile-card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 </a:t>
              </a:r>
              <a:r>
                <a:rPr b="0" lang="en" sz="639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grid-template-columns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639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1fr</a:t>
              </a: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 }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639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}</a:t>
              </a:r>
              <a:endParaRPr b="0" sz="639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990" name="Google Shape;990;p68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9"/>
          <p:cNvSpPr txBox="1"/>
          <p:nvPr/>
        </p:nvSpPr>
        <p:spPr>
          <a:xfrm>
            <a:off x="476250" y="381000"/>
            <a:ext cx="7620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CSS Cheat Sheet + Final Challenge</a:t>
            </a:r>
            <a:endParaRPr b="1" sz="2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96" name="Google Shape;996;p69"/>
          <p:cNvGrpSpPr/>
          <p:nvPr/>
        </p:nvGrpSpPr>
        <p:grpSpPr>
          <a:xfrm>
            <a:off x="476250" y="1285875"/>
            <a:ext cx="1905000" cy="1285800"/>
            <a:chOff x="0" y="0"/>
            <a:chExt cx="1905000" cy="1285800"/>
          </a:xfrm>
        </p:grpSpPr>
        <p:sp>
          <p:nvSpPr>
            <p:cNvPr id="997" name="Google Shape;997;p69"/>
            <p:cNvSpPr/>
            <p:nvPr/>
          </p:nvSpPr>
          <p:spPr>
            <a:xfrm>
              <a:off x="0" y="0"/>
              <a:ext cx="1905000" cy="1285800"/>
            </a:xfrm>
            <a:prstGeom prst="roundRect">
              <a:avLst>
                <a:gd fmla="val 4444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9"/>
            <p:cNvSpPr txBox="1"/>
            <p:nvPr/>
          </p:nvSpPr>
          <p:spPr>
            <a:xfrm>
              <a:off x="142875" y="142875"/>
              <a:ext cx="1619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569CD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01. Text &amp; BG</a:t>
              </a:r>
              <a:endParaRPr b="0" sz="825">
                <a:solidFill>
                  <a:srgbClr val="569CD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color</a:t>
              </a:r>
              <a:r>
                <a:rPr b="0" lang="en" sz="90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/ </a:t>
              </a: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font-family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font-size</a:t>
              </a:r>
              <a:r>
                <a:rPr b="0" lang="en" sz="90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/ </a:t>
              </a: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font-weight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background-color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background-image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999" name="Google Shape;999;p69"/>
          <p:cNvGrpSpPr/>
          <p:nvPr/>
        </p:nvGrpSpPr>
        <p:grpSpPr>
          <a:xfrm>
            <a:off x="2524125" y="1285875"/>
            <a:ext cx="1905000" cy="1285800"/>
            <a:chOff x="0" y="0"/>
            <a:chExt cx="1905000" cy="1285800"/>
          </a:xfrm>
        </p:grpSpPr>
        <p:sp>
          <p:nvSpPr>
            <p:cNvPr id="1000" name="Google Shape;1000;p69"/>
            <p:cNvSpPr/>
            <p:nvPr/>
          </p:nvSpPr>
          <p:spPr>
            <a:xfrm>
              <a:off x="0" y="0"/>
              <a:ext cx="1905000" cy="1285800"/>
            </a:xfrm>
            <a:prstGeom prst="roundRect">
              <a:avLst>
                <a:gd fmla="val 4444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69"/>
            <p:cNvSpPr txBox="1"/>
            <p:nvPr/>
          </p:nvSpPr>
          <p:spPr>
            <a:xfrm>
              <a:off x="142875" y="142875"/>
              <a:ext cx="1619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DCDCA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02. Box Model</a:t>
              </a:r>
              <a:endParaRPr b="0" sz="825">
                <a:solidFill>
                  <a:srgbClr val="DCDCA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width</a:t>
              </a:r>
              <a:r>
                <a:rPr b="0" lang="en" sz="90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/ </a:t>
              </a: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height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padding</a:t>
              </a:r>
              <a:r>
                <a:rPr b="0" lang="en" sz="90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/ </a:t>
              </a: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margin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border</a:t>
              </a:r>
              <a:r>
                <a:rPr b="0" lang="en" sz="90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/ </a:t>
              </a: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appearance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border-radius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002" name="Google Shape;1002;p69"/>
          <p:cNvGrpSpPr/>
          <p:nvPr/>
        </p:nvGrpSpPr>
        <p:grpSpPr>
          <a:xfrm>
            <a:off x="4572000" y="1285875"/>
            <a:ext cx="1905000" cy="1285800"/>
            <a:chOff x="0" y="0"/>
            <a:chExt cx="1905000" cy="1285800"/>
          </a:xfrm>
        </p:grpSpPr>
        <p:sp>
          <p:nvSpPr>
            <p:cNvPr id="1003" name="Google Shape;1003;p69"/>
            <p:cNvSpPr/>
            <p:nvPr/>
          </p:nvSpPr>
          <p:spPr>
            <a:xfrm>
              <a:off x="0" y="0"/>
              <a:ext cx="1905000" cy="1285800"/>
            </a:xfrm>
            <a:prstGeom prst="roundRect">
              <a:avLst>
                <a:gd fmla="val 4444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9"/>
            <p:cNvSpPr txBox="1"/>
            <p:nvPr/>
          </p:nvSpPr>
          <p:spPr>
            <a:xfrm>
              <a:off x="142875" y="142875"/>
              <a:ext cx="1619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C586C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03. Layout &amp; Flex</a:t>
              </a:r>
              <a:endParaRPr b="0" sz="825">
                <a:solidFill>
                  <a:srgbClr val="C586C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display</a:t>
              </a:r>
              <a:r>
                <a:rPr b="0" lang="en" sz="90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flex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flex-direction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justify-content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align-items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005" name="Google Shape;1005;p69"/>
          <p:cNvGrpSpPr/>
          <p:nvPr/>
        </p:nvGrpSpPr>
        <p:grpSpPr>
          <a:xfrm>
            <a:off x="6619875" y="1285875"/>
            <a:ext cx="2047800" cy="1285800"/>
            <a:chOff x="0" y="0"/>
            <a:chExt cx="2047800" cy="1285800"/>
          </a:xfrm>
        </p:grpSpPr>
        <p:sp>
          <p:nvSpPr>
            <p:cNvPr id="1006" name="Google Shape;1006;p69"/>
            <p:cNvSpPr/>
            <p:nvPr/>
          </p:nvSpPr>
          <p:spPr>
            <a:xfrm>
              <a:off x="0" y="0"/>
              <a:ext cx="2047800" cy="1285800"/>
            </a:xfrm>
            <a:prstGeom prst="roundRect">
              <a:avLst>
                <a:gd fmla="val 4444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9"/>
            <p:cNvSpPr txBox="1"/>
            <p:nvPr/>
          </p:nvSpPr>
          <p:spPr>
            <a:xfrm>
              <a:off x="142875" y="142875"/>
              <a:ext cx="1762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6A99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04. Grid &amp; Media</a:t>
              </a:r>
              <a:endParaRPr b="0" sz="825">
                <a:solidFill>
                  <a:srgbClr val="6A99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display</a:t>
              </a:r>
              <a:r>
                <a:rPr b="0" lang="en" sz="90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grid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grid-template-columns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gap</a:t>
              </a:r>
              <a:r>
                <a:rPr b="0" lang="en" sz="90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value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@media</a:t>
              </a:r>
              <a:r>
                <a:rPr b="0" lang="en" sz="90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(max-width: ...)</a:t>
              </a:r>
              <a:endParaRPr b="0" sz="90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008" name="Google Shape;1008;p69"/>
          <p:cNvGrpSpPr/>
          <p:nvPr/>
        </p:nvGrpSpPr>
        <p:grpSpPr>
          <a:xfrm>
            <a:off x="476250" y="2762250"/>
            <a:ext cx="8191500" cy="2000100"/>
            <a:chOff x="0" y="0"/>
            <a:chExt cx="8191500" cy="2000100"/>
          </a:xfrm>
        </p:grpSpPr>
        <p:sp>
          <p:nvSpPr>
            <p:cNvPr id="1009" name="Google Shape;1009;p69"/>
            <p:cNvSpPr/>
            <p:nvPr/>
          </p:nvSpPr>
          <p:spPr>
            <a:xfrm>
              <a:off x="0" y="0"/>
              <a:ext cx="8191500" cy="2000100"/>
            </a:xfrm>
            <a:prstGeom prst="roundRect">
              <a:avLst>
                <a:gd fmla="val 3809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9"/>
            <p:cNvSpPr/>
            <p:nvPr/>
          </p:nvSpPr>
          <p:spPr>
            <a:xfrm>
              <a:off x="0" y="0"/>
              <a:ext cx="8191500" cy="2859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quadBezTo>
                    <a:pt x="0" y="0"/>
                    <a:pt x="1116" y="0"/>
                  </a:quadBezTo>
                  <a:lnTo>
                    <a:pt x="118884" y="0"/>
                  </a:lnTo>
                  <a:quadBezTo>
                    <a:pt x="120000" y="0"/>
                    <a:pt x="120000" y="32000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11" name="Google Shape;1011;p69"/>
            <p:cNvGrpSpPr/>
            <p:nvPr/>
          </p:nvGrpSpPr>
          <p:grpSpPr>
            <a:xfrm>
              <a:off x="104775" y="85725"/>
              <a:ext cx="495300" cy="114300"/>
              <a:chOff x="57150" y="57150"/>
              <a:chExt cx="495300" cy="114300"/>
            </a:xfrm>
          </p:grpSpPr>
          <p:sp>
            <p:nvSpPr>
              <p:cNvPr id="1012" name="Google Shape;1012;p69"/>
              <p:cNvSpPr/>
              <p:nvPr/>
            </p:nvSpPr>
            <p:spPr>
              <a:xfrm>
                <a:off x="57150" y="57150"/>
                <a:ext cx="114300" cy="1143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69"/>
              <p:cNvSpPr/>
              <p:nvPr/>
            </p:nvSpPr>
            <p:spPr>
              <a:xfrm>
                <a:off x="247650" y="57150"/>
                <a:ext cx="114300" cy="1143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69"/>
              <p:cNvSpPr/>
              <p:nvPr/>
            </p:nvSpPr>
            <p:spPr>
              <a:xfrm>
                <a:off x="438150" y="57150"/>
                <a:ext cx="114300" cy="1143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15" name="Google Shape;1015;p69"/>
            <p:cNvSpPr txBox="1"/>
            <p:nvPr/>
          </p:nvSpPr>
          <p:spPr>
            <a:xfrm>
              <a:off x="0" y="0"/>
              <a:ext cx="819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85858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portfolio-challenge.css</a:t>
              </a:r>
              <a:endParaRPr b="0" sz="825">
                <a:solidFill>
                  <a:srgbClr val="85858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016" name="Google Shape;1016;p69"/>
            <p:cNvSpPr txBox="1"/>
            <p:nvPr/>
          </p:nvSpPr>
          <p:spPr>
            <a:xfrm>
              <a:off x="238125" y="428625"/>
              <a:ext cx="3952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FFBD2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Final Challenge: Style Your Portfolio</a:t>
              </a:r>
              <a:endParaRPr b="0" sz="825">
                <a:solidFill>
                  <a:srgbClr val="FFBD2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Apply these concepts to style the portfolio HTML from the previous workshop. Your implementation must feature:</a:t>
              </a:r>
              <a:endParaRPr b="0" sz="975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D4D4D4"/>
                </a:buClr>
                <a:buSzPts val="900"/>
                <a:buFont typeface="Inter"/>
                <a:buChar char="●"/>
              </a:pPr>
              <a:r>
                <a:rPr lang="en" sz="900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Custom typography &amp; unified color scheme</a:t>
              </a:r>
              <a:endParaRPr sz="9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D4D4D4"/>
                </a:buClr>
                <a:buSzPts val="900"/>
                <a:buFont typeface="Inter"/>
                <a:buChar char="●"/>
              </a:pPr>
              <a:r>
                <a:rPr lang="en" sz="900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Flexbox navigation bar &amp; responsive breakpoints</a:t>
              </a:r>
              <a:endParaRPr sz="9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5750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D4D4D4"/>
                </a:buClr>
                <a:buSzPts val="900"/>
                <a:buFont typeface="Inter"/>
                <a:buChar char="●"/>
              </a:pPr>
              <a:r>
                <a:rPr lang="en" sz="900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Styled project cards with interactive buttons</a:t>
              </a:r>
              <a:endParaRPr sz="90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i="1" lang="en" sz="825">
                  <a:solidFill>
                    <a:srgbClr val="6A9955"/>
                  </a:solidFill>
                  <a:latin typeface="Inter"/>
                  <a:ea typeface="Inter"/>
                  <a:cs typeface="Inter"/>
                  <a:sym typeface="Inter"/>
                </a:rPr>
                <a:t>* Next week, we will introduce JavaScript to add interactivity and logic to this fully styled portfolio.</a:t>
              </a:r>
              <a:endParaRPr b="0" i="1" sz="825">
                <a:solidFill>
                  <a:srgbClr val="6A99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017" name="Google Shape;1017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24363" y="428625"/>
              <a:ext cx="9600" cy="140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69"/>
            <p:cNvSpPr txBox="1"/>
            <p:nvPr/>
          </p:nvSpPr>
          <p:spPr>
            <a:xfrm>
              <a:off x="4667250" y="428625"/>
              <a:ext cx="3286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30">
                  <a:solidFill>
                    <a:srgbClr val="6A995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/* Workshop Project Style Spec */</a:t>
              </a:r>
              <a:endParaRPr b="0" sz="630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630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.navbar</a:t>
              </a: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</a:t>
              </a:r>
              <a:endParaRPr b="0" sz="63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63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display</a:t>
              </a: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630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flex</a:t>
              </a: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b="0" sz="63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63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justify-content</a:t>
              </a: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630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space-between</a:t>
              </a: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b="0" sz="63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}</a:t>
              </a:r>
              <a:endParaRPr b="0" sz="63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630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@media</a:t>
              </a: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(</a:t>
              </a:r>
              <a:r>
                <a:rPr b="0" lang="en" sz="63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max-width</a:t>
              </a: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768px) {</a:t>
              </a:r>
              <a:endParaRPr b="0" sz="63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630">
                  <a:solidFill>
                    <a:srgbClr val="569CD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.project-cards</a:t>
              </a: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{</a:t>
              </a:r>
              <a:endParaRPr b="0" sz="63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630">
                  <a:solidFill>
                    <a:srgbClr val="C586C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flex-direction</a:t>
              </a: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 </a:t>
              </a:r>
              <a:r>
                <a:rPr b="0" lang="en" sz="630">
                  <a:solidFill>
                    <a:srgbClr val="CE917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column</a:t>
              </a: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;</a:t>
              </a:r>
              <a:endParaRPr b="0" sz="63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}</a:t>
              </a:r>
              <a:endParaRPr b="0" sz="63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630">
                  <a:solidFill>
                    <a:srgbClr val="DCDCA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}</a:t>
              </a:r>
              <a:endParaRPr b="0" sz="630">
                <a:solidFill>
                  <a:srgbClr val="DCDCA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1019" name="Google Shape;1019;p69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" name="Google Shape;1024;p70"/>
          <p:cNvGrpSpPr/>
          <p:nvPr/>
        </p:nvGrpSpPr>
        <p:grpSpPr>
          <a:xfrm>
            <a:off x="3619500" y="1047750"/>
            <a:ext cx="1905000" cy="1905000"/>
            <a:chOff x="0" y="0"/>
            <a:chExt cx="381000" cy="381000"/>
          </a:xfrm>
        </p:grpSpPr>
        <p:sp>
          <p:nvSpPr>
            <p:cNvPr id="1025" name="Google Shape;1025;p70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10000" name="adj"/>
              </a:avLst>
            </a:prstGeom>
            <a:solidFill>
              <a:srgbClr val="F7DF1E">
                <a:alpha val="3922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70"/>
            <p:cNvSpPr/>
            <p:nvPr/>
          </p:nvSpPr>
          <p:spPr>
            <a:xfrm>
              <a:off x="140017" y="140017"/>
              <a:ext cx="123900" cy="176100"/>
            </a:xfrm>
            <a:custGeom>
              <a:rect b="b" l="l" r="r" t="t"/>
              <a:pathLst>
                <a:path extrusionOk="0" h="120000" w="120000">
                  <a:moveTo>
                    <a:pt x="106154" y="109622"/>
                  </a:moveTo>
                  <a:cubicBezTo>
                    <a:pt x="92308" y="116757"/>
                    <a:pt x="74769" y="120000"/>
                    <a:pt x="57231" y="120000"/>
                  </a:cubicBezTo>
                  <a:cubicBezTo>
                    <a:pt x="36000" y="120000"/>
                    <a:pt x="18462" y="115459"/>
                    <a:pt x="3692" y="107027"/>
                  </a:cubicBezTo>
                  <a:lnTo>
                    <a:pt x="24923" y="84973"/>
                  </a:lnTo>
                  <a:cubicBezTo>
                    <a:pt x="35077" y="90811"/>
                    <a:pt x="47077" y="94703"/>
                    <a:pt x="59077" y="94703"/>
                  </a:cubicBezTo>
                  <a:cubicBezTo>
                    <a:pt x="71077" y="94703"/>
                    <a:pt x="79385" y="91459"/>
                    <a:pt x="79385" y="85622"/>
                  </a:cubicBezTo>
                  <a:cubicBezTo>
                    <a:pt x="79385" y="79135"/>
                    <a:pt x="72000" y="75892"/>
                    <a:pt x="51692" y="72649"/>
                  </a:cubicBezTo>
                  <a:cubicBezTo>
                    <a:pt x="17538" y="66811"/>
                    <a:pt x="0" y="55784"/>
                    <a:pt x="0" y="35027"/>
                  </a:cubicBezTo>
                  <a:cubicBezTo>
                    <a:pt x="0" y="14919"/>
                    <a:pt x="22154" y="0"/>
                    <a:pt x="59077" y="0"/>
                  </a:cubicBezTo>
                  <a:cubicBezTo>
                    <a:pt x="78462" y="0"/>
                    <a:pt x="96000" y="3892"/>
                    <a:pt x="110769" y="11027"/>
                  </a:cubicBezTo>
                  <a:lnTo>
                    <a:pt x="90462" y="33081"/>
                  </a:lnTo>
                  <a:cubicBezTo>
                    <a:pt x="78462" y="27243"/>
                    <a:pt x="67385" y="24000"/>
                    <a:pt x="57231" y="24000"/>
                  </a:cubicBezTo>
                  <a:cubicBezTo>
                    <a:pt x="47077" y="24000"/>
                    <a:pt x="39692" y="27243"/>
                    <a:pt x="39692" y="33081"/>
                  </a:cubicBezTo>
                  <a:cubicBezTo>
                    <a:pt x="39692" y="39568"/>
                    <a:pt x="47077" y="42162"/>
                    <a:pt x="69231" y="46054"/>
                  </a:cubicBezTo>
                  <a:cubicBezTo>
                    <a:pt x="103385" y="51892"/>
                    <a:pt x="120000" y="62270"/>
                    <a:pt x="120000" y="83676"/>
                  </a:cubicBezTo>
                  <a:cubicBezTo>
                    <a:pt x="120000" y="103784"/>
                    <a:pt x="98769" y="120000"/>
                    <a:pt x="57231" y="120000"/>
                  </a:cubicBezTo>
                </a:path>
              </a:pathLst>
            </a:custGeom>
            <a:solidFill>
              <a:srgbClr val="000000">
                <a:alpha val="3922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70"/>
            <p:cNvSpPr/>
            <p:nvPr/>
          </p:nvSpPr>
          <p:spPr>
            <a:xfrm>
              <a:off x="70485" y="143828"/>
              <a:ext cx="39900" cy="1686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lnTo>
                    <a:pt x="0" y="120000"/>
                  </a:lnTo>
                  <a:lnTo>
                    <a:pt x="0" y="0"/>
                  </a:lnTo>
                  <a:lnTo>
                    <a:pt x="12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>
                <a:alpha val="3922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8" name="Google Shape;1028;p70"/>
          <p:cNvGrpSpPr/>
          <p:nvPr/>
        </p:nvGrpSpPr>
        <p:grpSpPr>
          <a:xfrm>
            <a:off x="381000" y="333375"/>
            <a:ext cx="8382000" cy="1619250"/>
            <a:chOff x="381000" y="333375"/>
            <a:chExt cx="8382000" cy="1619250"/>
          </a:xfrm>
        </p:grpSpPr>
        <p:sp>
          <p:nvSpPr>
            <p:cNvPr id="1029" name="Google Shape;1029;p70"/>
            <p:cNvSpPr txBox="1"/>
            <p:nvPr/>
          </p:nvSpPr>
          <p:spPr>
            <a:xfrm>
              <a:off x="381000" y="333375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50"/>
                <a:buFont typeface="Arial"/>
                <a:buNone/>
              </a:pPr>
              <a:r>
                <a:rPr b="1" i="0" lang="en" sz="25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JavaScript: The Behavior Layer</a:t>
              </a:r>
              <a:endParaRPr b="1" i="0" sz="2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30" name="Google Shape;1030;p70"/>
            <p:cNvSpPr txBox="1"/>
            <p:nvPr/>
          </p:nvSpPr>
          <p:spPr>
            <a:xfrm>
              <a:off x="381000" y="1000125"/>
              <a:ext cx="8382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" sz="1350" u="none" cap="none" strike="noStrike">
                  <a:solidFill>
                    <a:srgbClr val="F7DF1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Ultimately: HTML creates it, CSS styles it, and JavaScript makes it do something.</a:t>
              </a:r>
              <a:endParaRPr b="0" i="0" sz="1350" u="none" cap="none" strike="noStrike">
                <a:solidFill>
                  <a:srgbClr val="F7DF1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JavaScript is a powerful programming language that adds interactivity and dynamic behavior</a:t>
              </a:r>
              <a:endParaRPr b="0" i="0" sz="975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1031" name="Google Shape;1031;p70"/>
          <p:cNvGrpSpPr/>
          <p:nvPr/>
        </p:nvGrpSpPr>
        <p:grpSpPr>
          <a:xfrm>
            <a:off x="381000" y="2286000"/>
            <a:ext cx="8382000" cy="2476500"/>
            <a:chOff x="381000" y="2286000"/>
            <a:chExt cx="8382000" cy="2476500"/>
          </a:xfrm>
        </p:grpSpPr>
        <p:grpSp>
          <p:nvGrpSpPr>
            <p:cNvPr id="1032" name="Google Shape;1032;p70"/>
            <p:cNvGrpSpPr/>
            <p:nvPr/>
          </p:nvGrpSpPr>
          <p:grpSpPr>
            <a:xfrm>
              <a:off x="381000" y="2286000"/>
              <a:ext cx="2476500" cy="2476500"/>
              <a:chOff x="381000" y="2286000"/>
              <a:chExt cx="2476500" cy="2476500"/>
            </a:xfrm>
          </p:grpSpPr>
          <p:sp>
            <p:nvSpPr>
              <p:cNvPr id="1033" name="Google Shape;1033;p70"/>
              <p:cNvSpPr/>
              <p:nvPr/>
            </p:nvSpPr>
            <p:spPr>
              <a:xfrm>
                <a:off x="381000" y="2286000"/>
                <a:ext cx="2476500" cy="2476500"/>
              </a:xfrm>
              <a:prstGeom prst="roundRect">
                <a:avLst>
                  <a:gd fmla="val 3076" name="adj"/>
                </a:avLst>
              </a:prstGeom>
              <a:solidFill>
                <a:srgbClr val="252526"/>
              </a:solidFill>
              <a:ln cap="flat" cmpd="sng" w="19050">
                <a:solidFill>
                  <a:srgbClr val="E34F2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70"/>
              <p:cNvSpPr txBox="1"/>
              <p:nvPr/>
            </p:nvSpPr>
            <p:spPr>
              <a:xfrm>
                <a:off x="523875" y="2428875"/>
                <a:ext cx="21909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50"/>
                  <a:buFont typeface="Arial"/>
                  <a:buNone/>
                </a:pPr>
                <a:r>
                  <a:rPr b="1" i="0" lang="en" sz="1650" u="none" cap="none" strike="noStrike">
                    <a:solidFill>
                      <a:srgbClr val="E34F26"/>
                    </a:solidFill>
                    <a:latin typeface="Inter"/>
                    <a:ea typeface="Inter"/>
                    <a:cs typeface="Inter"/>
                    <a:sym typeface="Inter"/>
                  </a:rPr>
                  <a:t>HTML</a:t>
                </a:r>
                <a:endParaRPr b="1" i="0" sz="1650" u="none" cap="none" strike="noStrike">
                  <a:solidFill>
                    <a:srgbClr val="E34F2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A0A0A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Structural Skeleton</a:t>
                </a:r>
                <a:endParaRPr b="0" i="0" sz="975" u="none" cap="none" strike="noStrike">
                  <a:solidFill>
                    <a:srgbClr val="A0A0A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05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&lt;!-- structural foundation --&gt;</a:t>
                </a:r>
                <a:endParaRPr b="0" i="0" sz="825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25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&lt;</a:t>
                </a:r>
                <a:r>
                  <a:rPr b="0" i="0" lang="en" sz="825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button</a:t>
                </a:r>
                <a:r>
                  <a:rPr b="0" i="0" lang="en" sz="82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&gt;Click Me&lt;/</a:t>
                </a:r>
                <a:r>
                  <a:rPr b="0" i="0" lang="en" sz="825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button</a:t>
                </a:r>
                <a:r>
                  <a:rPr b="0" i="0" lang="en" sz="82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&gt;</a:t>
                </a:r>
                <a:endParaRPr b="0" i="0" sz="82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05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Provides the structural foundation of web pages. Without scripting, websites are limited to static buttons, unvalidated forms, and unchanging layouts.</a:t>
                </a:r>
                <a:endParaRPr b="0" i="0" sz="90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35" name="Google Shape;1035;p70"/>
            <p:cNvGrpSpPr/>
            <p:nvPr/>
          </p:nvGrpSpPr>
          <p:grpSpPr>
            <a:xfrm>
              <a:off x="3333750" y="2286000"/>
              <a:ext cx="2476500" cy="2476500"/>
              <a:chOff x="3333750" y="2286000"/>
              <a:chExt cx="2476500" cy="2476500"/>
            </a:xfrm>
          </p:grpSpPr>
          <p:sp>
            <p:nvSpPr>
              <p:cNvPr id="1036" name="Google Shape;1036;p70"/>
              <p:cNvSpPr/>
              <p:nvPr/>
            </p:nvSpPr>
            <p:spPr>
              <a:xfrm>
                <a:off x="3333750" y="2286000"/>
                <a:ext cx="2476500" cy="2476500"/>
              </a:xfrm>
              <a:prstGeom prst="roundRect">
                <a:avLst>
                  <a:gd fmla="val 3076" name="adj"/>
                </a:avLst>
              </a:prstGeom>
              <a:solidFill>
                <a:srgbClr val="252526"/>
              </a:solidFill>
              <a:ln cap="flat" cmpd="sng" w="19050">
                <a:solidFill>
                  <a:srgbClr val="007A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70"/>
              <p:cNvSpPr txBox="1"/>
              <p:nvPr/>
            </p:nvSpPr>
            <p:spPr>
              <a:xfrm>
                <a:off x="3476625" y="2428875"/>
                <a:ext cx="21909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50"/>
                  <a:buFont typeface="Arial"/>
                  <a:buNone/>
                </a:pPr>
                <a:r>
                  <a:rPr b="1" i="0" lang="en" sz="1650" u="none" cap="none" strike="noStrike">
                    <a:solidFill>
                      <a:srgbClr val="007ACC"/>
                    </a:solidFill>
                    <a:latin typeface="Inter"/>
                    <a:ea typeface="Inter"/>
                    <a:cs typeface="Inter"/>
                    <a:sym typeface="Inter"/>
                  </a:rPr>
                  <a:t>CSS</a:t>
                </a:r>
                <a:endParaRPr b="1" i="0" sz="1650" u="none" cap="none" strike="noStrike">
                  <a:solidFill>
                    <a:srgbClr val="007AC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A0A0A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Visual Presentation</a:t>
                </a:r>
                <a:endParaRPr b="0" i="0" sz="975" u="none" cap="none" strike="noStrike">
                  <a:solidFill>
                    <a:srgbClr val="A0A0A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05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/* visual styling layers */</a:t>
                </a:r>
                <a:endParaRPr b="0" i="0" sz="825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25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button </a:t>
                </a:r>
                <a:r>
                  <a:rPr b="0" i="0" lang="en" sz="82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{</a:t>
                </a:r>
                <a:r>
                  <a:rPr b="0" i="0" lang="en" sz="825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25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background</a:t>
                </a:r>
                <a:r>
                  <a:rPr b="0" i="0" lang="en" sz="82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:</a:t>
                </a:r>
                <a:r>
                  <a:rPr b="0" i="0" lang="en" sz="825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25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#F7DF1E</a:t>
                </a:r>
                <a:r>
                  <a:rPr b="0" i="0" lang="en" sz="82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; }</a:t>
                </a:r>
                <a:endParaRPr b="0" i="0" sz="825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05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Dictates the visual appearance and design presentation. Shapes layouts, colors, typography, and controls static visual enhancements across devices.</a:t>
                </a:r>
                <a:endParaRPr b="0" i="0" sz="90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38" name="Google Shape;1038;p70"/>
            <p:cNvGrpSpPr/>
            <p:nvPr/>
          </p:nvGrpSpPr>
          <p:grpSpPr>
            <a:xfrm>
              <a:off x="6286500" y="2286000"/>
              <a:ext cx="2476500" cy="2476500"/>
              <a:chOff x="6286500" y="2286000"/>
              <a:chExt cx="2476500" cy="2476500"/>
            </a:xfrm>
          </p:grpSpPr>
          <p:sp>
            <p:nvSpPr>
              <p:cNvPr id="1039" name="Google Shape;1039;p70"/>
              <p:cNvSpPr/>
              <p:nvPr/>
            </p:nvSpPr>
            <p:spPr>
              <a:xfrm>
                <a:off x="6286500" y="2286000"/>
                <a:ext cx="2476500" cy="2476500"/>
              </a:xfrm>
              <a:prstGeom prst="roundRect">
                <a:avLst>
                  <a:gd fmla="val 3076" name="adj"/>
                </a:avLst>
              </a:prstGeom>
              <a:solidFill>
                <a:srgbClr val="252526"/>
              </a:solidFill>
              <a:ln cap="flat" cmpd="sng" w="19050">
                <a:solidFill>
                  <a:srgbClr val="F7DF1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70"/>
              <p:cNvSpPr txBox="1"/>
              <p:nvPr/>
            </p:nvSpPr>
            <p:spPr>
              <a:xfrm>
                <a:off x="6429375" y="2428875"/>
                <a:ext cx="21909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50"/>
                  <a:buFont typeface="Arial"/>
                  <a:buNone/>
                </a:pPr>
                <a:r>
                  <a:rPr b="1" i="0" lang="en" sz="1650" u="none" cap="none" strike="noStrike">
                    <a:solidFill>
                      <a:srgbClr val="F7DF1E"/>
                    </a:solidFill>
                    <a:latin typeface="Inter"/>
                    <a:ea typeface="Inter"/>
                    <a:cs typeface="Inter"/>
                    <a:sym typeface="Inter"/>
                  </a:rPr>
                  <a:t>JavaScript</a:t>
                </a:r>
                <a:endParaRPr b="1" i="0" sz="1650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A0A0A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Dynamic Behavior</a:t>
                </a:r>
                <a:endParaRPr b="0" i="0" sz="975" u="none" cap="none" strike="noStrike">
                  <a:solidFill>
                    <a:srgbClr val="A0A0A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05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// active behavior layers</a:t>
                </a:r>
                <a:endParaRPr b="0" i="0" sz="825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25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button</a:t>
                </a:r>
                <a:r>
                  <a:rPr b="0" i="0" lang="en" sz="82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.</a:t>
                </a:r>
                <a:r>
                  <a:rPr b="0" i="0" lang="en" sz="825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addEventListener</a:t>
                </a:r>
                <a:r>
                  <a:rPr b="0" i="0" lang="en" sz="82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(</a:t>
                </a:r>
                <a:r>
                  <a:rPr b="0" i="0" lang="en" sz="825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'click'</a:t>
                </a:r>
                <a:r>
                  <a:rPr b="0" i="0" lang="en" sz="82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);</a:t>
                </a:r>
                <a:endParaRPr b="0" i="0" sz="82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05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Acts as the functional behavior layer. Enables developers to build interactive menus, live form validations, calculators, popups, and web-based games.</a:t>
                </a:r>
                <a:endParaRPr b="0" i="0" sz="900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1041" name="Google Shape;1041;p70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2344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1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Adding JavaScript to HTML</a:t>
            </a:r>
            <a:endParaRPr b="1" i="0" sz="2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7DF1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Three Methods of Script Integration</a:t>
            </a:r>
            <a:endParaRPr b="0" i="0" sz="1200" u="none" cap="none" strike="noStrike">
              <a:solidFill>
                <a:srgbClr val="F7DF1E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47" name="Google Shape;104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1143000"/>
            <a:ext cx="9600" cy="328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8" name="Google Shape;1048;p71"/>
          <p:cNvGrpSpPr/>
          <p:nvPr/>
        </p:nvGrpSpPr>
        <p:grpSpPr>
          <a:xfrm>
            <a:off x="381000" y="1143000"/>
            <a:ext cx="4000500" cy="3286050"/>
            <a:chOff x="381000" y="1143000"/>
            <a:chExt cx="4000500" cy="3286050"/>
          </a:xfrm>
        </p:grpSpPr>
        <p:sp>
          <p:nvSpPr>
            <p:cNvPr id="1049" name="Google Shape;1049;p71"/>
            <p:cNvSpPr txBox="1"/>
            <p:nvPr/>
          </p:nvSpPr>
          <p:spPr>
            <a:xfrm>
              <a:off x="381000" y="1143000"/>
              <a:ext cx="400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1"/>
                <a:buFont typeface="Arial"/>
                <a:buNone/>
              </a:pPr>
              <a:r>
                <a:rPr b="0" i="0" lang="en" sz="1041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There are three primary ways to add JavaScript to an HTML document. Selecting the appropriate integration method is vital for clean code structure and optimal performance.</a:t>
              </a:r>
              <a:endParaRPr b="0" i="0" sz="1041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50" name="Google Shape;1050;p71"/>
            <p:cNvGrpSpPr/>
            <p:nvPr/>
          </p:nvGrpSpPr>
          <p:grpSpPr>
            <a:xfrm>
              <a:off x="381000" y="1809750"/>
              <a:ext cx="4000500" cy="2619300"/>
              <a:chOff x="381000" y="1809750"/>
              <a:chExt cx="4000500" cy="2619300"/>
            </a:xfrm>
          </p:grpSpPr>
          <p:sp>
            <p:nvSpPr>
              <p:cNvPr id="1051" name="Google Shape;1051;p71"/>
              <p:cNvSpPr/>
              <p:nvPr/>
            </p:nvSpPr>
            <p:spPr>
              <a:xfrm>
                <a:off x="381000" y="1809750"/>
                <a:ext cx="4000500" cy="2619300"/>
              </a:xfrm>
              <a:prstGeom prst="roundRect">
                <a:avLst>
                  <a:gd fmla="val 2181" name="adj"/>
                </a:avLst>
              </a:prstGeom>
              <a:solidFill>
                <a:srgbClr val="007ACC">
                  <a:alpha val="10196"/>
                </a:srgbClr>
              </a:solidFill>
              <a:ln cap="flat" cmpd="sng" w="9525">
                <a:solidFill>
                  <a:srgbClr val="3E3E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71"/>
              <p:cNvSpPr/>
              <p:nvPr/>
            </p:nvSpPr>
            <p:spPr>
              <a:xfrm>
                <a:off x="381000" y="1809750"/>
                <a:ext cx="38100" cy="2619300"/>
              </a:xfrm>
              <a:prstGeom prst="roundRect">
                <a:avLst>
                  <a:gd fmla="val 50000" name="adj"/>
                </a:avLst>
              </a:prstGeom>
              <a:solidFill>
                <a:srgbClr val="007A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71"/>
              <p:cNvSpPr txBox="1"/>
              <p:nvPr/>
            </p:nvSpPr>
            <p:spPr>
              <a:xfrm>
                <a:off x="523875" y="1952625"/>
                <a:ext cx="3714900" cy="233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25"/>
                  <a:buFont typeface="Arial"/>
                  <a:buNone/>
                </a:pPr>
                <a:r>
                  <a:rPr b="1" i="0" lang="en" sz="1125" u="none" cap="none" strike="noStrike">
                    <a:solidFill>
                      <a:srgbClr val="F7DF1E"/>
                    </a:solidFill>
                    <a:latin typeface="Inter"/>
                    <a:ea typeface="Inter"/>
                    <a:cs typeface="Inter"/>
                    <a:sym typeface="Inter"/>
                  </a:rPr>
                  <a:t>Best Practice: External with Defer</a:t>
                </a:r>
                <a:endParaRPr b="1" i="0" sz="112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rgbClr val="000000"/>
                  </a:buClr>
                  <a:buSzPts val="1013"/>
                  <a:buFont typeface="Arial"/>
                  <a:buNone/>
                </a:pPr>
                <a:r>
                  <a:rPr b="1" i="0" lang="en" sz="1013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Separation of Concerns:</a:t>
                </a:r>
                <a:r>
                  <a:rPr b="0" i="0" lang="en" sz="1013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 External JavaScript is the industry standard for larger projects because it separates structure (HTML) from logic (JS), making code significantly easier to maintain.</a:t>
                </a:r>
                <a:endParaRPr b="0" i="0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013"/>
                  <a:buFont typeface="Arial"/>
                  <a:buNone/>
                </a:pPr>
                <a:r>
                  <a:rPr b="1" i="0" lang="en" sz="1013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Non-Blocking Execution:</a:t>
                </a:r>
                <a:r>
                  <a:rPr b="0" i="0" lang="en" sz="1013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 Using the defer attribute ensures that the HTML finishes loading completely before the JavaScript executes.</a:t>
                </a:r>
                <a:endParaRPr b="0" i="0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013"/>
                  <a:buFont typeface="Arial"/>
                  <a:buNone/>
                </a:pPr>
                <a:r>
                  <a:rPr b="0" i="0" lang="en" sz="1013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This prevents visual blocking, decreases layout shift, and avoids execution errors caused by script operations on missing elements.</a:t>
                </a:r>
                <a:endParaRPr b="0" i="0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54" name="Google Shape;1054;p71"/>
          <p:cNvGrpSpPr/>
          <p:nvPr/>
        </p:nvGrpSpPr>
        <p:grpSpPr>
          <a:xfrm>
            <a:off x="4762500" y="1143000"/>
            <a:ext cx="4000500" cy="3286275"/>
            <a:chOff x="4762500" y="1143000"/>
            <a:chExt cx="4000500" cy="3286275"/>
          </a:xfrm>
        </p:grpSpPr>
        <p:grpSp>
          <p:nvGrpSpPr>
            <p:cNvPr id="1055" name="Google Shape;1055;p71"/>
            <p:cNvGrpSpPr/>
            <p:nvPr/>
          </p:nvGrpSpPr>
          <p:grpSpPr>
            <a:xfrm>
              <a:off x="4762500" y="1143000"/>
              <a:ext cx="4000500" cy="952500"/>
              <a:chOff x="4762500" y="1143000"/>
              <a:chExt cx="4000500" cy="952500"/>
            </a:xfrm>
          </p:grpSpPr>
          <p:sp>
            <p:nvSpPr>
              <p:cNvPr id="1056" name="Google Shape;1056;p71"/>
              <p:cNvSpPr/>
              <p:nvPr/>
            </p:nvSpPr>
            <p:spPr>
              <a:xfrm>
                <a:off x="4762500" y="1143000"/>
                <a:ext cx="40005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252526"/>
              </a:solidFill>
              <a:ln cap="flat" cmpd="sng" w="9525">
                <a:solidFill>
                  <a:srgbClr val="3E3E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71"/>
              <p:cNvSpPr/>
              <p:nvPr/>
            </p:nvSpPr>
            <p:spPr>
              <a:xfrm>
                <a:off x="4762500" y="1143000"/>
                <a:ext cx="4000500" cy="228600"/>
              </a:xfrm>
              <a:custGeom>
                <a:rect b="b" l="l" r="r" t="t"/>
                <a:pathLst>
                  <a:path extrusionOk="0" h="120000" w="120000">
                    <a:moveTo>
                      <a:pt x="0" y="30000"/>
                    </a:moveTo>
                    <a:cubicBezTo>
                      <a:pt x="0" y="22044"/>
                      <a:pt x="181" y="14413"/>
                      <a:pt x="502" y="8787"/>
                    </a:cubicBezTo>
                    <a:cubicBezTo>
                      <a:pt x="824" y="3161"/>
                      <a:pt x="1260" y="0"/>
                      <a:pt x="1714" y="0"/>
                    </a:cubicBezTo>
                    <a:lnTo>
                      <a:pt x="118286" y="0"/>
                    </a:lnTo>
                    <a:cubicBezTo>
                      <a:pt x="119233" y="3"/>
                      <a:pt x="120000" y="13433"/>
                      <a:pt x="120000" y="3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71"/>
              <p:cNvSpPr/>
              <p:nvPr/>
            </p:nvSpPr>
            <p:spPr>
              <a:xfrm>
                <a:off x="4867275" y="121920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71"/>
              <p:cNvSpPr/>
              <p:nvPr/>
            </p:nvSpPr>
            <p:spPr>
              <a:xfrm>
                <a:off x="4981575" y="121920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71"/>
              <p:cNvSpPr/>
              <p:nvPr/>
            </p:nvSpPr>
            <p:spPr>
              <a:xfrm>
                <a:off x="5095875" y="121920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71"/>
              <p:cNvSpPr txBox="1"/>
              <p:nvPr/>
            </p:nvSpPr>
            <p:spPr>
              <a:xfrm>
                <a:off x="5286375" y="1181100"/>
                <a:ext cx="952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858585"/>
                    </a:solidFill>
                    <a:latin typeface="Inter"/>
                    <a:ea typeface="Inter"/>
                    <a:cs typeface="Inter"/>
                    <a:sym typeface="Inter"/>
                  </a:rPr>
                  <a:t>inline.html</a:t>
                </a:r>
                <a:endParaRPr b="0" i="0" sz="825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2" name="Google Shape;1062;p71"/>
              <p:cNvSpPr txBox="1"/>
              <p:nvPr/>
            </p:nvSpPr>
            <p:spPr>
              <a:xfrm>
                <a:off x="4905375" y="1447800"/>
                <a:ext cx="3714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1" lang="en" sz="975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&lt;!-- Inline style (embedded in HTML tags) --&gt;</a:t>
                </a:r>
                <a:endParaRPr b="0" i="0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&lt;button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975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onclick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=</a:t>
                </a:r>
                <a:r>
                  <a:rPr b="0" i="0" lang="en" sz="975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"alert('Hello!')"</a:t>
                </a:r>
                <a:r>
                  <a:rPr b="0" i="0" lang="en" sz="975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&gt;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Click Me</a:t>
                </a:r>
                <a:r>
                  <a:rPr b="0" i="0" lang="en" sz="975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&lt;/button&gt;</a:t>
                </a:r>
                <a:endParaRPr b="0" i="0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grpSp>
          <p:nvGrpSpPr>
            <p:cNvPr id="1063" name="Google Shape;1063;p71"/>
            <p:cNvGrpSpPr/>
            <p:nvPr/>
          </p:nvGrpSpPr>
          <p:grpSpPr>
            <a:xfrm>
              <a:off x="4762500" y="2238375"/>
              <a:ext cx="4000500" cy="1000200"/>
              <a:chOff x="4762500" y="2238375"/>
              <a:chExt cx="4000500" cy="1000200"/>
            </a:xfrm>
          </p:grpSpPr>
          <p:sp>
            <p:nvSpPr>
              <p:cNvPr id="1064" name="Google Shape;1064;p71"/>
              <p:cNvSpPr/>
              <p:nvPr/>
            </p:nvSpPr>
            <p:spPr>
              <a:xfrm>
                <a:off x="4762500" y="2238375"/>
                <a:ext cx="4000500" cy="1000200"/>
              </a:xfrm>
              <a:prstGeom prst="roundRect">
                <a:avLst>
                  <a:gd fmla="val 5714" name="adj"/>
                </a:avLst>
              </a:prstGeom>
              <a:solidFill>
                <a:srgbClr val="252526"/>
              </a:solidFill>
              <a:ln cap="flat" cmpd="sng" w="9525">
                <a:solidFill>
                  <a:srgbClr val="3E3E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71"/>
              <p:cNvSpPr/>
              <p:nvPr/>
            </p:nvSpPr>
            <p:spPr>
              <a:xfrm>
                <a:off x="4762500" y="2238375"/>
                <a:ext cx="4000500" cy="228600"/>
              </a:xfrm>
              <a:custGeom>
                <a:rect b="b" l="l" r="r" t="t"/>
                <a:pathLst>
                  <a:path extrusionOk="0" h="120000" w="120000">
                    <a:moveTo>
                      <a:pt x="0" y="30000"/>
                    </a:moveTo>
                    <a:cubicBezTo>
                      <a:pt x="0" y="22044"/>
                      <a:pt x="181" y="14413"/>
                      <a:pt x="502" y="8787"/>
                    </a:cubicBezTo>
                    <a:cubicBezTo>
                      <a:pt x="824" y="3161"/>
                      <a:pt x="1260" y="0"/>
                      <a:pt x="1714" y="0"/>
                    </a:cubicBezTo>
                    <a:lnTo>
                      <a:pt x="118286" y="0"/>
                    </a:lnTo>
                    <a:cubicBezTo>
                      <a:pt x="119233" y="3"/>
                      <a:pt x="120000" y="13433"/>
                      <a:pt x="120000" y="3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71"/>
              <p:cNvSpPr/>
              <p:nvPr/>
            </p:nvSpPr>
            <p:spPr>
              <a:xfrm>
                <a:off x="4867275" y="2314575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71"/>
              <p:cNvSpPr/>
              <p:nvPr/>
            </p:nvSpPr>
            <p:spPr>
              <a:xfrm>
                <a:off x="4981575" y="2314575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71"/>
              <p:cNvSpPr/>
              <p:nvPr/>
            </p:nvSpPr>
            <p:spPr>
              <a:xfrm>
                <a:off x="5095875" y="2314575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71"/>
              <p:cNvSpPr txBox="1"/>
              <p:nvPr/>
            </p:nvSpPr>
            <p:spPr>
              <a:xfrm>
                <a:off x="5286375" y="2276475"/>
                <a:ext cx="952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858585"/>
                    </a:solidFill>
                    <a:latin typeface="Inter"/>
                    <a:ea typeface="Inter"/>
                    <a:cs typeface="Inter"/>
                    <a:sym typeface="Inter"/>
                  </a:rPr>
                  <a:t>internal.html</a:t>
                </a:r>
                <a:endParaRPr b="0" i="0" sz="825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0" name="Google Shape;1070;p71"/>
              <p:cNvSpPr txBox="1"/>
              <p:nvPr/>
            </p:nvSpPr>
            <p:spPr>
              <a:xfrm>
                <a:off x="4905375" y="2543175"/>
                <a:ext cx="37149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1" lang="en" sz="975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&lt;!-- Internal style (embedded script block) --&gt;</a:t>
                </a:r>
                <a:endParaRPr b="0" i="0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&lt;script&gt;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975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alert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(</a:t>
                </a:r>
                <a:r>
                  <a:rPr b="0" i="0" lang="en" sz="975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"Hello World"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); </a:t>
                </a:r>
                <a:r>
                  <a:rPr b="0" i="0" lang="en" sz="975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&lt;/script&gt;</a:t>
                </a:r>
                <a:endParaRPr b="0" i="0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grpSp>
          <p:nvGrpSpPr>
            <p:cNvPr id="1071" name="Google Shape;1071;p71"/>
            <p:cNvGrpSpPr/>
            <p:nvPr/>
          </p:nvGrpSpPr>
          <p:grpSpPr>
            <a:xfrm>
              <a:off x="4762500" y="3381375"/>
              <a:ext cx="4000500" cy="1047900"/>
              <a:chOff x="4762500" y="3381375"/>
              <a:chExt cx="4000500" cy="1047900"/>
            </a:xfrm>
          </p:grpSpPr>
          <p:sp>
            <p:nvSpPr>
              <p:cNvPr id="1072" name="Google Shape;1072;p71"/>
              <p:cNvSpPr/>
              <p:nvPr/>
            </p:nvSpPr>
            <p:spPr>
              <a:xfrm>
                <a:off x="4762500" y="3381375"/>
                <a:ext cx="40005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252526"/>
              </a:solidFill>
              <a:ln cap="flat" cmpd="sng" w="14300">
                <a:solidFill>
                  <a:srgbClr val="007A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71"/>
              <p:cNvSpPr/>
              <p:nvPr/>
            </p:nvSpPr>
            <p:spPr>
              <a:xfrm>
                <a:off x="4762500" y="3381375"/>
                <a:ext cx="4000500" cy="228600"/>
              </a:xfrm>
              <a:custGeom>
                <a:rect b="b" l="l" r="r" t="t"/>
                <a:pathLst>
                  <a:path extrusionOk="0" h="120000" w="120000">
                    <a:moveTo>
                      <a:pt x="0" y="30000"/>
                    </a:moveTo>
                    <a:cubicBezTo>
                      <a:pt x="0" y="22044"/>
                      <a:pt x="181" y="14413"/>
                      <a:pt x="502" y="8787"/>
                    </a:cubicBezTo>
                    <a:cubicBezTo>
                      <a:pt x="824" y="3161"/>
                      <a:pt x="1260" y="0"/>
                      <a:pt x="1714" y="0"/>
                    </a:cubicBezTo>
                    <a:lnTo>
                      <a:pt x="118286" y="0"/>
                    </a:lnTo>
                    <a:cubicBezTo>
                      <a:pt x="119233" y="3"/>
                      <a:pt x="120000" y="13433"/>
                      <a:pt x="120000" y="3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71"/>
              <p:cNvSpPr/>
              <p:nvPr/>
            </p:nvSpPr>
            <p:spPr>
              <a:xfrm>
                <a:off x="4867275" y="3457575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5" name="Google Shape;1075;p71"/>
              <p:cNvSpPr/>
              <p:nvPr/>
            </p:nvSpPr>
            <p:spPr>
              <a:xfrm>
                <a:off x="4981575" y="3457575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" name="Google Shape;1076;p71"/>
              <p:cNvSpPr/>
              <p:nvPr/>
            </p:nvSpPr>
            <p:spPr>
              <a:xfrm>
                <a:off x="5095875" y="3457575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71"/>
              <p:cNvSpPr txBox="1"/>
              <p:nvPr/>
            </p:nvSpPr>
            <p:spPr>
              <a:xfrm>
                <a:off x="5286375" y="3419475"/>
                <a:ext cx="1428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n" sz="825" u="none" cap="none" strike="noStrike">
                    <a:solidFill>
                      <a:srgbClr val="007ACC"/>
                    </a:solidFill>
                    <a:latin typeface="Inter"/>
                    <a:ea typeface="Inter"/>
                    <a:cs typeface="Inter"/>
                    <a:sym typeface="Inter"/>
                  </a:rPr>
                  <a:t>index.html (Preferred)</a:t>
                </a:r>
                <a:endParaRPr b="1" i="0" sz="825" u="none" cap="none" strike="noStrike">
                  <a:solidFill>
                    <a:srgbClr val="007AC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1078" name="Google Shape;1078;p71"/>
              <p:cNvGrpSpPr/>
              <p:nvPr/>
            </p:nvGrpSpPr>
            <p:grpSpPr>
              <a:xfrm>
                <a:off x="7762875" y="3419475"/>
                <a:ext cx="857400" cy="143025"/>
                <a:chOff x="0" y="-9525"/>
                <a:chExt cx="857400" cy="143025"/>
              </a:xfrm>
            </p:grpSpPr>
            <p:sp>
              <p:nvSpPr>
                <p:cNvPr id="1079" name="Google Shape;1079;p71"/>
                <p:cNvSpPr/>
                <p:nvPr/>
              </p:nvSpPr>
              <p:spPr>
                <a:xfrm>
                  <a:off x="0" y="0"/>
                  <a:ext cx="857400" cy="133500"/>
                </a:xfrm>
                <a:prstGeom prst="roundRect">
                  <a:avLst>
                    <a:gd fmla="val 21428" name="adj"/>
                  </a:avLst>
                </a:prstGeom>
                <a:solidFill>
                  <a:srgbClr val="007ACC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0" name="Google Shape;1080;p71"/>
                <p:cNvSpPr txBox="1"/>
                <p:nvPr/>
              </p:nvSpPr>
              <p:spPr>
                <a:xfrm>
                  <a:off x="0" y="-9525"/>
                  <a:ext cx="857400" cy="13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600"/>
                    <a:buFont typeface="Arial"/>
                    <a:buNone/>
                  </a:pPr>
                  <a:r>
                    <a:rPr b="0" i="0" lang="en" sz="600" u="none" cap="none" strike="noStrike">
                      <a:solidFill>
                        <a:srgbClr val="FFFFFF"/>
                      </a:solidFill>
                      <a:latin typeface="Inter ExtraBold"/>
                      <a:ea typeface="Inter ExtraBold"/>
                      <a:cs typeface="Inter ExtraBold"/>
                      <a:sym typeface="Inter ExtraBold"/>
                    </a:rPr>
                    <a:t>INDUSTRY STD</a:t>
                  </a:r>
                  <a:endParaRPr b="0" i="0" sz="600" u="none" cap="none" strike="noStrike">
                    <a:solidFill>
                      <a:srgbClr val="FFFF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endParaRPr>
                </a:p>
              </p:txBody>
            </p:sp>
          </p:grpSp>
          <p:sp>
            <p:nvSpPr>
              <p:cNvPr id="1081" name="Google Shape;1081;p71"/>
              <p:cNvSpPr txBox="1"/>
              <p:nvPr/>
            </p:nvSpPr>
            <p:spPr>
              <a:xfrm>
                <a:off x="4905375" y="3686175"/>
                <a:ext cx="3714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1" lang="en" sz="975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&lt;!-- External script (separated logic with defer) --&gt;</a:t>
                </a:r>
                <a:endParaRPr b="0" i="0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&lt;script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975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src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=</a:t>
                </a:r>
                <a:r>
                  <a:rPr b="0" i="0" lang="en" sz="975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"script.js"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975" u="none" cap="none" strike="noStrike">
                    <a:solidFill>
                      <a:srgbClr val="F7DF1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defer</a:t>
                </a:r>
                <a:r>
                  <a:rPr b="0" i="0" lang="en" sz="975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&gt;&lt;/script&gt;</a:t>
                </a:r>
                <a:endParaRPr b="0" i="0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</p:grpSp>
      <p:pic>
        <p:nvPicPr>
          <p:cNvPr id="1082" name="Google Shape;1082;p71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1047750"/>
            <a:ext cx="96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72"/>
          <p:cNvSpPr txBox="1"/>
          <p:nvPr/>
        </p:nvSpPr>
        <p:spPr>
          <a:xfrm>
            <a:off x="381000" y="238125"/>
            <a:ext cx="8382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Declaring Variables</a:t>
            </a:r>
            <a:endParaRPr b="1" i="0" sz="2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7DF1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Stashing data with modern let &amp; const keywords</a:t>
            </a:r>
            <a:endParaRPr b="0" i="0" sz="1200" u="none" cap="none" strike="noStrike">
              <a:solidFill>
                <a:srgbClr val="F7DF1E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89" name="Google Shape;1089;p72"/>
          <p:cNvSpPr txBox="1"/>
          <p:nvPr/>
        </p:nvSpPr>
        <p:spPr>
          <a:xfrm>
            <a:off x="381000" y="1047750"/>
            <a:ext cx="39054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1" i="0" lang="en" sz="1088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Variables</a:t>
            </a:r>
            <a:r>
              <a:rPr b="0" i="0" lang="en" sz="1088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act as named storage containers for data in your programs. Modern JavaScript standardizes on </a:t>
            </a:r>
            <a:r>
              <a:rPr b="1" i="0" lang="en" sz="1088" u="none" cap="none" strike="noStrik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b="0" i="0" lang="en" sz="1088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" sz="1088" u="none" cap="none" strike="noStrik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" sz="1088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for declarations.</a:t>
            </a:r>
            <a:endParaRPr b="0" i="0" sz="1088" u="none" cap="none" strike="noStrike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1" i="0" lang="en" sz="1088" u="none" cap="none" strike="noStrik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b="0" i="0" lang="en" sz="1088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— Use when you expect the value to change later, such as changing a dynamic game score or counter.</a:t>
            </a:r>
            <a:endParaRPr b="0" i="0" sz="1088" u="none" cap="none" strike="noStrike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1" i="0" lang="en" sz="1088" u="none" cap="none" strike="noStrike">
                <a:solidFill>
                  <a:srgbClr val="569CD6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" sz="1088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 — Use for permanent values that must remain constant, like a college name or mathematical formula.</a:t>
            </a:r>
            <a:endParaRPr b="0" i="0" sz="1088" u="none" cap="none" strike="noStrike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" sz="975" u="none" cap="none" strike="noStrike">
                <a:solidFill>
                  <a:srgbClr val="FF5F56"/>
                </a:solidFill>
                <a:latin typeface="Inter"/>
                <a:ea typeface="Inter"/>
                <a:cs typeface="Inter"/>
                <a:sym typeface="Inter"/>
              </a:rPr>
              <a:t>⚠️ Avoid using the older </a:t>
            </a:r>
            <a:r>
              <a:rPr b="0" i="0" lang="en" sz="975" u="none" cap="none" strike="sngStrike">
                <a:solidFill>
                  <a:srgbClr val="FF5F56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0" i="0" lang="en" sz="975" u="none" cap="none" strike="noStrike">
                <a:solidFill>
                  <a:srgbClr val="FF5F56"/>
                </a:solidFill>
                <a:latin typeface="Inter"/>
                <a:ea typeface="Inter"/>
                <a:cs typeface="Inter"/>
                <a:sym typeface="Inter"/>
              </a:rPr>
              <a:t> keyword to prevent scoping bugs.</a:t>
            </a:r>
            <a:endParaRPr b="0" i="0" sz="975" u="none" cap="none" strike="noStrike">
              <a:solidFill>
                <a:srgbClr val="FF5F5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90" name="Google Shape;1090;p72"/>
          <p:cNvGrpSpPr/>
          <p:nvPr/>
        </p:nvGrpSpPr>
        <p:grpSpPr>
          <a:xfrm>
            <a:off x="381000" y="3095625"/>
            <a:ext cx="3905400" cy="1476300"/>
            <a:chOff x="0" y="0"/>
            <a:chExt cx="3905400" cy="1476300"/>
          </a:xfrm>
        </p:grpSpPr>
        <p:sp>
          <p:nvSpPr>
            <p:cNvPr id="1091" name="Google Shape;1091;p72"/>
            <p:cNvSpPr/>
            <p:nvPr/>
          </p:nvSpPr>
          <p:spPr>
            <a:xfrm>
              <a:off x="0" y="0"/>
              <a:ext cx="3905400" cy="1476300"/>
            </a:xfrm>
            <a:prstGeom prst="roundRect">
              <a:avLst>
                <a:gd fmla="val 5161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72"/>
            <p:cNvSpPr/>
            <p:nvPr/>
          </p:nvSpPr>
          <p:spPr>
            <a:xfrm>
              <a:off x="0" y="0"/>
              <a:ext cx="57300" cy="1476300"/>
            </a:xfrm>
            <a:prstGeom prst="roundRect">
              <a:avLst>
                <a:gd fmla="val 50000" name="adj"/>
              </a:avLst>
            </a:pr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3" name="Google Shape;1093;p72"/>
            <p:cNvGrpSpPr/>
            <p:nvPr/>
          </p:nvGrpSpPr>
          <p:grpSpPr>
            <a:xfrm>
              <a:off x="190500" y="190500"/>
              <a:ext cx="381000" cy="381000"/>
              <a:chOff x="0" y="0"/>
              <a:chExt cx="381000" cy="381000"/>
            </a:xfrm>
          </p:grpSpPr>
          <p:sp>
            <p:nvSpPr>
              <p:cNvPr id="1094" name="Google Shape;1094;p72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7DF1E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72"/>
              <p:cNvSpPr/>
              <p:nvPr/>
            </p:nvSpPr>
            <p:spPr>
              <a:xfrm>
                <a:off x="95250" y="57150"/>
                <a:ext cx="171600" cy="266700"/>
              </a:xfrm>
              <a:custGeom>
                <a:rect b="b" l="l" r="r" t="t"/>
                <a:pathLst>
                  <a:path extrusionOk="0" h="120000" w="120000">
                    <a:moveTo>
                      <a:pt x="80000" y="0"/>
                    </a:moveTo>
                    <a:lnTo>
                      <a:pt x="0" y="60000"/>
                    </a:lnTo>
                    <a:lnTo>
                      <a:pt x="53333" y="60000"/>
                    </a:lnTo>
                    <a:lnTo>
                      <a:pt x="40000" y="120000"/>
                    </a:lnTo>
                    <a:lnTo>
                      <a:pt x="120000" y="60000"/>
                    </a:lnTo>
                    <a:lnTo>
                      <a:pt x="66667" y="60000"/>
                    </a:lnTo>
                    <a:lnTo>
                      <a:pt x="80000" y="0"/>
                    </a:lnTo>
                    <a:close/>
                  </a:path>
                </a:pathLst>
              </a:custGeom>
              <a:solidFill>
                <a:srgbClr val="F7DF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6" name="Google Shape;1096;p72"/>
            <p:cNvSpPr txBox="1"/>
            <p:nvPr/>
          </p:nvSpPr>
          <p:spPr>
            <a:xfrm>
              <a:off x="714375" y="152400"/>
              <a:ext cx="30003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Live Exercise</a:t>
              </a:r>
              <a:endParaRPr b="1" i="0" sz="1200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Create variables for your name, age, city, and favorite programming language using the correct keyword choices.</a:t>
              </a:r>
              <a:endParaRPr b="0" i="0" sz="1013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6A9955"/>
                  </a:solidFill>
                  <a:latin typeface="Arial"/>
                  <a:ea typeface="Arial"/>
                  <a:cs typeface="Arial"/>
                  <a:sym typeface="Arial"/>
                </a:rPr>
                <a:t>// Code it on your machine!</a:t>
              </a:r>
              <a:endParaRPr b="0" i="0" sz="900" u="none" cap="none" strike="noStrike">
                <a:solidFill>
                  <a:srgbClr val="6A99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7" name="Google Shape;1097;p72"/>
          <p:cNvGrpSpPr/>
          <p:nvPr/>
        </p:nvGrpSpPr>
        <p:grpSpPr>
          <a:xfrm>
            <a:off x="4762500" y="1047750"/>
            <a:ext cx="4000500" cy="2476500"/>
            <a:chOff x="0" y="0"/>
            <a:chExt cx="4000500" cy="2476500"/>
          </a:xfrm>
        </p:grpSpPr>
        <p:sp>
          <p:nvSpPr>
            <p:cNvPr id="1098" name="Google Shape;1098;p72"/>
            <p:cNvSpPr/>
            <p:nvPr/>
          </p:nvSpPr>
          <p:spPr>
            <a:xfrm>
              <a:off x="0" y="0"/>
              <a:ext cx="4000500" cy="2476500"/>
            </a:xfrm>
            <a:prstGeom prst="roundRect">
              <a:avLst>
                <a:gd fmla="val 2307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9" name="Google Shape;1099;p72"/>
            <p:cNvGrpSpPr/>
            <p:nvPr/>
          </p:nvGrpSpPr>
          <p:grpSpPr>
            <a:xfrm>
              <a:off x="0" y="0"/>
              <a:ext cx="4000500" cy="304800"/>
              <a:chOff x="0" y="0"/>
              <a:chExt cx="4000500" cy="304800"/>
            </a:xfrm>
          </p:grpSpPr>
          <p:sp>
            <p:nvSpPr>
              <p:cNvPr id="1100" name="Google Shape;1100;p72"/>
              <p:cNvSpPr/>
              <p:nvPr/>
            </p:nvSpPr>
            <p:spPr>
              <a:xfrm>
                <a:off x="0" y="0"/>
                <a:ext cx="4000500" cy="304800"/>
              </a:xfrm>
              <a:prstGeom prst="roundRect">
                <a:avLst>
                  <a:gd fmla="val 18750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72"/>
              <p:cNvSpPr/>
              <p:nvPr/>
            </p:nvSpPr>
            <p:spPr>
              <a:xfrm>
                <a:off x="0" y="152400"/>
                <a:ext cx="4000500" cy="152400"/>
              </a:xfrm>
              <a:prstGeom prst="rect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72"/>
              <p:cNvSpPr/>
              <p:nvPr/>
            </p:nvSpPr>
            <p:spPr>
              <a:xfrm>
                <a:off x="95250" y="95250"/>
                <a:ext cx="114300" cy="1143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72"/>
              <p:cNvSpPr/>
              <p:nvPr/>
            </p:nvSpPr>
            <p:spPr>
              <a:xfrm>
                <a:off x="285750" y="95250"/>
                <a:ext cx="114300" cy="1143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72"/>
              <p:cNvSpPr/>
              <p:nvPr/>
            </p:nvSpPr>
            <p:spPr>
              <a:xfrm>
                <a:off x="476250" y="95250"/>
                <a:ext cx="114300" cy="1143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5" name="Google Shape;1105;p72"/>
            <p:cNvSpPr txBox="1"/>
            <p:nvPr/>
          </p:nvSpPr>
          <p:spPr>
            <a:xfrm>
              <a:off x="762000" y="7620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b="0" i="0" lang="en" sz="863" u="none" cap="none" strike="noStrike">
                  <a:solidFill>
                    <a:srgbClr val="858585"/>
                  </a:solidFill>
                  <a:latin typeface="Fira Code"/>
                  <a:ea typeface="Fira Code"/>
                  <a:cs typeface="Fira Code"/>
                  <a:sym typeface="Fira Code"/>
                </a:rPr>
                <a:t>variables.js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72"/>
            <p:cNvSpPr txBox="1"/>
            <p:nvPr/>
          </p:nvSpPr>
          <p:spPr>
            <a:xfrm>
              <a:off x="190500" y="457200"/>
              <a:ext cx="3619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Declaring variables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name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"Rahul"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age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20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const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pi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3.14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Changing a 'let' variable value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score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100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score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150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 </a:t>
              </a: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Valid reassignment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Attempting 'const' reassignments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const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college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"IIT"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college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"NIT"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 </a:t>
              </a:r>
              <a:r>
                <a:rPr b="0" i="1" lang="en" sz="1013" u="none" cap="none" strike="noStrike">
                  <a:solidFill>
                    <a:srgbClr val="FF5F56"/>
                  </a:solidFill>
                  <a:latin typeface="Fira Code"/>
                  <a:ea typeface="Fira Code"/>
                  <a:cs typeface="Fira Code"/>
                  <a:sym typeface="Fira Code"/>
                </a:rPr>
                <a:t>// ❌ Throws TypeError!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1107" name="Google Shape;1107;p72"/>
          <p:cNvGrpSpPr/>
          <p:nvPr/>
        </p:nvGrpSpPr>
        <p:grpSpPr>
          <a:xfrm>
            <a:off x="4762500" y="3667125"/>
            <a:ext cx="4000500" cy="904800"/>
            <a:chOff x="0" y="0"/>
            <a:chExt cx="4000500" cy="904800"/>
          </a:xfrm>
        </p:grpSpPr>
        <p:sp>
          <p:nvSpPr>
            <p:cNvPr id="1108" name="Google Shape;1108;p72"/>
            <p:cNvSpPr/>
            <p:nvPr/>
          </p:nvSpPr>
          <p:spPr>
            <a:xfrm>
              <a:off x="0" y="0"/>
              <a:ext cx="4000500" cy="904800"/>
            </a:xfrm>
            <a:prstGeom prst="roundRect">
              <a:avLst>
                <a:gd fmla="val 6315" name="adj"/>
              </a:avLst>
            </a:prstGeom>
            <a:solidFill>
              <a:srgbClr val="000000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72"/>
            <p:cNvSpPr/>
            <p:nvPr/>
          </p:nvSpPr>
          <p:spPr>
            <a:xfrm>
              <a:off x="0" y="0"/>
              <a:ext cx="4000500" cy="247800"/>
            </a:xfrm>
            <a:prstGeom prst="roundRect">
              <a:avLst>
                <a:gd fmla="val 23076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72"/>
            <p:cNvSpPr/>
            <p:nvPr/>
          </p:nvSpPr>
          <p:spPr>
            <a:xfrm>
              <a:off x="0" y="133350"/>
              <a:ext cx="4000500" cy="11430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72"/>
            <p:cNvSpPr txBox="1"/>
            <p:nvPr/>
          </p:nvSpPr>
          <p:spPr>
            <a:xfrm>
              <a:off x="190500" y="476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rPr>
                <a:t>Terminal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2" name="Google Shape;1112;p72"/>
            <p:cNvGrpSpPr/>
            <p:nvPr/>
          </p:nvGrpSpPr>
          <p:grpSpPr>
            <a:xfrm>
              <a:off x="169545" y="407670"/>
              <a:ext cx="146790" cy="113295"/>
              <a:chOff x="38100" y="38100"/>
              <a:chExt cx="209700" cy="161850"/>
            </a:xfrm>
          </p:grpSpPr>
          <p:sp>
            <p:nvSpPr>
              <p:cNvPr id="1113" name="Google Shape;1113;p72"/>
              <p:cNvSpPr/>
              <p:nvPr/>
            </p:nvSpPr>
            <p:spPr>
              <a:xfrm>
                <a:off x="38100" y="38100"/>
                <a:ext cx="762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8575">
                <a:solidFill>
                  <a:srgbClr val="569C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72"/>
              <p:cNvSpPr/>
              <p:nvPr/>
            </p:nvSpPr>
            <p:spPr>
              <a:xfrm>
                <a:off x="152400" y="171450"/>
                <a:ext cx="95400" cy="28500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5" name="Google Shape;1115;p72"/>
            <p:cNvSpPr txBox="1"/>
            <p:nvPr/>
          </p:nvSpPr>
          <p:spPr>
            <a:xfrm>
              <a:off x="333375" y="361950"/>
              <a:ext cx="3524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8"/>
                <a:buFont typeface="Arial"/>
                <a:buNone/>
              </a:pPr>
              <a:r>
                <a:rPr b="0" i="0" lang="en" sz="938" u="none" cap="none" strike="noStrike">
                  <a:solidFill>
                    <a:srgbClr val="FF5F56"/>
                  </a:solidFill>
                  <a:latin typeface="Fira Code"/>
                  <a:ea typeface="Fira Code"/>
                  <a:cs typeface="Fira Code"/>
                  <a:sym typeface="Fira Code"/>
                </a:rPr>
                <a:t>TypeError: Assignment to constant variable.</a:t>
              </a:r>
              <a:endParaRPr b="0" i="0" sz="938" u="none" cap="none" strike="noStrike">
                <a:solidFill>
                  <a:srgbClr val="FF5F56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858585"/>
                  </a:solidFill>
                  <a:latin typeface="Fira Code"/>
                  <a:ea typeface="Fira Code"/>
                  <a:cs typeface="Fira Code"/>
                  <a:sym typeface="Fira Code"/>
                </a:rPr>
                <a:t>at variables.js:13</a:t>
              </a:r>
              <a:endParaRPr b="0" i="0" sz="825" u="none" cap="none" strike="noStrike">
                <a:solidFill>
                  <a:srgbClr val="858585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116" name="Google Shape;1116;p72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7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2" name="Google Shape;112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1047750"/>
            <a:ext cx="9600" cy="35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73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JavaScript Data Types</a:t>
            </a:r>
            <a:endParaRPr b="1" i="0" sz="285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24" name="Google Shape;1124;p73"/>
          <p:cNvGrpSpPr/>
          <p:nvPr/>
        </p:nvGrpSpPr>
        <p:grpSpPr>
          <a:xfrm>
            <a:off x="381000" y="952500"/>
            <a:ext cx="3905400" cy="3333900"/>
            <a:chOff x="0" y="0"/>
            <a:chExt cx="3905400" cy="3333900"/>
          </a:xfrm>
        </p:grpSpPr>
        <p:sp>
          <p:nvSpPr>
            <p:cNvPr id="1125" name="Google Shape;1125;p73"/>
            <p:cNvSpPr txBox="1"/>
            <p:nvPr/>
          </p:nvSpPr>
          <p:spPr>
            <a:xfrm>
              <a:off x="0" y="0"/>
              <a:ext cx="390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0" i="0" lang="en" sz="112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JavaScript handles multiple data types to represent different kinds of information, split between primitives and reference types.</a:t>
              </a:r>
              <a:endParaRPr b="0" i="0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6" name="Google Shape;1126;p73"/>
            <p:cNvSpPr txBox="1"/>
            <p:nvPr/>
          </p:nvSpPr>
          <p:spPr>
            <a:xfrm>
              <a:off x="0" y="619125"/>
              <a:ext cx="3905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rPr>
                <a:t>Primitive Types</a:t>
              </a:r>
              <a:endParaRPr b="1" i="0" sz="825" u="none" cap="none" strike="noStrike">
                <a:solidFill>
                  <a:srgbClr val="85858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27" name="Google Shape;1127;p73"/>
            <p:cNvGrpSpPr/>
            <p:nvPr/>
          </p:nvGrpSpPr>
          <p:grpSpPr>
            <a:xfrm>
              <a:off x="0" y="857250"/>
              <a:ext cx="3333900" cy="285900"/>
              <a:chOff x="0" y="0"/>
              <a:chExt cx="3333900" cy="285900"/>
            </a:xfrm>
          </p:grpSpPr>
          <p:sp>
            <p:nvSpPr>
              <p:cNvPr id="1128" name="Google Shape;1128;p73"/>
              <p:cNvSpPr/>
              <p:nvPr/>
            </p:nvSpPr>
            <p:spPr>
              <a:xfrm>
                <a:off x="0" y="0"/>
                <a:ext cx="1047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CE917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73"/>
              <p:cNvSpPr txBox="1"/>
              <p:nvPr/>
            </p:nvSpPr>
            <p:spPr>
              <a:xfrm>
                <a:off x="0" y="0"/>
                <a:ext cx="1047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1" i="0" lang="en" sz="975" u="none" cap="none" strike="noStrike">
                    <a:solidFill>
                      <a:srgbClr val="1E1E1E"/>
                    </a:solidFill>
                    <a:latin typeface="Inter"/>
                    <a:ea typeface="Inter"/>
                    <a:cs typeface="Inter"/>
                    <a:sym typeface="Inter"/>
                  </a:rPr>
                  <a:t>String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73"/>
              <p:cNvSpPr/>
              <p:nvPr/>
            </p:nvSpPr>
            <p:spPr>
              <a:xfrm>
                <a:off x="1143000" y="0"/>
                <a:ext cx="1047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B5CEA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73"/>
              <p:cNvSpPr txBox="1"/>
              <p:nvPr/>
            </p:nvSpPr>
            <p:spPr>
              <a:xfrm>
                <a:off x="1143000" y="0"/>
                <a:ext cx="1047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1" i="0" lang="en" sz="975" u="none" cap="none" strike="noStrike">
                    <a:solidFill>
                      <a:srgbClr val="1E1E1E"/>
                    </a:solidFill>
                    <a:latin typeface="Inter"/>
                    <a:ea typeface="Inter"/>
                    <a:cs typeface="Inter"/>
                    <a:sym typeface="Inter"/>
                  </a:rPr>
                  <a:t>Number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73"/>
              <p:cNvSpPr/>
              <p:nvPr/>
            </p:nvSpPr>
            <p:spPr>
              <a:xfrm>
                <a:off x="2286000" y="0"/>
                <a:ext cx="1047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569CD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73"/>
              <p:cNvSpPr txBox="1"/>
              <p:nvPr/>
            </p:nvSpPr>
            <p:spPr>
              <a:xfrm>
                <a:off x="2286000" y="0"/>
                <a:ext cx="1047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1" i="0" lang="en" sz="975" u="none" cap="none" strike="noStrike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Boolean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4" name="Google Shape;1134;p73"/>
            <p:cNvGrpSpPr/>
            <p:nvPr/>
          </p:nvGrpSpPr>
          <p:grpSpPr>
            <a:xfrm>
              <a:off x="0" y="1238250"/>
              <a:ext cx="2190900" cy="285900"/>
              <a:chOff x="0" y="0"/>
              <a:chExt cx="2190900" cy="285900"/>
            </a:xfrm>
          </p:grpSpPr>
          <p:sp>
            <p:nvSpPr>
              <p:cNvPr id="1135" name="Google Shape;1135;p73"/>
              <p:cNvSpPr/>
              <p:nvPr/>
            </p:nvSpPr>
            <p:spPr>
              <a:xfrm>
                <a:off x="0" y="0"/>
                <a:ext cx="1047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6A99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73"/>
              <p:cNvSpPr txBox="1"/>
              <p:nvPr/>
            </p:nvSpPr>
            <p:spPr>
              <a:xfrm>
                <a:off x="0" y="0"/>
                <a:ext cx="1047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1" i="0" lang="en" sz="975" u="none" cap="none" strike="noStrike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Undefined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73"/>
              <p:cNvSpPr/>
              <p:nvPr/>
            </p:nvSpPr>
            <p:spPr>
              <a:xfrm>
                <a:off x="1143000" y="0"/>
                <a:ext cx="1047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C586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73"/>
              <p:cNvSpPr txBox="1"/>
              <p:nvPr/>
            </p:nvSpPr>
            <p:spPr>
              <a:xfrm>
                <a:off x="1143000" y="0"/>
                <a:ext cx="1047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1" i="0" lang="en" sz="975" u="none" cap="none" strike="noStrike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Null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9" name="Google Shape;1139;p73"/>
            <p:cNvSpPr txBox="1"/>
            <p:nvPr/>
          </p:nvSpPr>
          <p:spPr>
            <a:xfrm>
              <a:off x="0" y="1714500"/>
              <a:ext cx="3905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rPr>
                <a:t>Reference Types</a:t>
              </a:r>
              <a:endParaRPr b="1" i="0" sz="825" u="none" cap="none" strike="noStrike">
                <a:solidFill>
                  <a:srgbClr val="85858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40" name="Google Shape;1140;p73"/>
            <p:cNvGrpSpPr/>
            <p:nvPr/>
          </p:nvGrpSpPr>
          <p:grpSpPr>
            <a:xfrm>
              <a:off x="0" y="1952625"/>
              <a:ext cx="2190900" cy="285900"/>
              <a:chOff x="0" y="0"/>
              <a:chExt cx="2190900" cy="285900"/>
            </a:xfrm>
          </p:grpSpPr>
          <p:sp>
            <p:nvSpPr>
              <p:cNvPr id="1141" name="Google Shape;1141;p73"/>
              <p:cNvSpPr/>
              <p:nvPr/>
            </p:nvSpPr>
            <p:spPr>
              <a:xfrm>
                <a:off x="0" y="0"/>
                <a:ext cx="1047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007AC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73"/>
              <p:cNvSpPr txBox="1"/>
              <p:nvPr/>
            </p:nvSpPr>
            <p:spPr>
              <a:xfrm>
                <a:off x="0" y="0"/>
                <a:ext cx="1047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1" i="0" lang="en" sz="975" u="none" cap="none" strike="noStrike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Object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73"/>
              <p:cNvSpPr/>
              <p:nvPr/>
            </p:nvSpPr>
            <p:spPr>
              <a:xfrm>
                <a:off x="1143000" y="0"/>
                <a:ext cx="10479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F7DF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73"/>
              <p:cNvSpPr txBox="1"/>
              <p:nvPr/>
            </p:nvSpPr>
            <p:spPr>
              <a:xfrm>
                <a:off x="1143000" y="0"/>
                <a:ext cx="1047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1" i="0" lang="en" sz="975" u="none" cap="none" strike="noStrike">
                    <a:solidFill>
                      <a:srgbClr val="1E1E1E"/>
                    </a:solidFill>
                    <a:latin typeface="Inter"/>
                    <a:ea typeface="Inter"/>
                    <a:cs typeface="Inter"/>
                    <a:sym typeface="Inter"/>
                  </a:rPr>
                  <a:t>Array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5" name="Google Shape;1145;p73"/>
            <p:cNvSpPr txBox="1"/>
            <p:nvPr/>
          </p:nvSpPr>
          <p:spPr>
            <a:xfrm>
              <a:off x="0" y="2476500"/>
              <a:ext cx="3905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You can always check the type of a variable using the </a:t>
              </a:r>
              <a:r>
                <a:rPr b="1" i="0" lang="en" sz="1050" u="none" cap="none" strike="noStrike">
                  <a:solidFill>
                    <a:srgbClr val="F7DF1E"/>
                  </a:solidFill>
                  <a:latin typeface="Fira Code"/>
                  <a:ea typeface="Fira Code"/>
                  <a:cs typeface="Fira Code"/>
                  <a:sym typeface="Fira Code"/>
                </a:rPr>
                <a:t>typeof</a:t>
              </a:r>
              <a:r>
                <a:rPr b="0" i="0" lang="en" sz="1050" u="none" cap="none" strike="noStrike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 operator. It returns a string indicating the type of the evaluated operand.</a:t>
              </a:r>
              <a:endParaRPr b="0" i="0" sz="105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6" name="Google Shape;1146;p73"/>
          <p:cNvGrpSpPr/>
          <p:nvPr/>
        </p:nvGrpSpPr>
        <p:grpSpPr>
          <a:xfrm>
            <a:off x="4762500" y="952500"/>
            <a:ext cx="4000500" cy="2286000"/>
            <a:chOff x="0" y="0"/>
            <a:chExt cx="4000500" cy="2286000"/>
          </a:xfrm>
        </p:grpSpPr>
        <p:sp>
          <p:nvSpPr>
            <p:cNvPr id="1147" name="Google Shape;1147;p73"/>
            <p:cNvSpPr/>
            <p:nvPr/>
          </p:nvSpPr>
          <p:spPr>
            <a:xfrm>
              <a:off x="0" y="0"/>
              <a:ext cx="4000500" cy="2286000"/>
            </a:xfrm>
            <a:prstGeom prst="roundRect">
              <a:avLst>
                <a:gd fmla="val 2500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73"/>
            <p:cNvSpPr/>
            <p:nvPr/>
          </p:nvSpPr>
          <p:spPr>
            <a:xfrm>
              <a:off x="0" y="0"/>
              <a:ext cx="4000500" cy="285900"/>
            </a:xfrm>
            <a:prstGeom prst="roundRect">
              <a:avLst>
                <a:gd fmla="val 20000" name="adj"/>
              </a:avLst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73"/>
            <p:cNvSpPr/>
            <p:nvPr/>
          </p:nvSpPr>
          <p:spPr>
            <a:xfrm>
              <a:off x="0" y="142875"/>
              <a:ext cx="4000500" cy="1428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73"/>
            <p:cNvSpPr/>
            <p:nvPr/>
          </p:nvSpPr>
          <p:spPr>
            <a:xfrm>
              <a:off x="104775" y="9525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73"/>
            <p:cNvSpPr/>
            <p:nvPr/>
          </p:nvSpPr>
          <p:spPr>
            <a:xfrm>
              <a:off x="257175" y="9525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73"/>
            <p:cNvSpPr/>
            <p:nvPr/>
          </p:nvSpPr>
          <p:spPr>
            <a:xfrm>
              <a:off x="409575" y="9525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73"/>
            <p:cNvSpPr txBox="1"/>
            <p:nvPr/>
          </p:nvSpPr>
          <p:spPr>
            <a:xfrm>
              <a:off x="666750" y="476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85858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variables.js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73"/>
            <p:cNvSpPr txBox="1"/>
            <p:nvPr/>
          </p:nvSpPr>
          <p:spPr>
            <a:xfrm>
              <a:off x="190500" y="428625"/>
              <a:ext cx="36195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name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"Alex"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05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age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20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05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isStudent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true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05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x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05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value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null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05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student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{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name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i="0" lang="en" sz="1050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"Alex"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,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age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: </a:t>
              </a:r>
              <a:r>
                <a:rPr b="0" i="0" lang="en" sz="1050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20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};</a:t>
              </a:r>
              <a:endParaRPr b="0" i="0" sz="105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fruits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[</a:t>
              </a:r>
              <a:r>
                <a:rPr b="0" i="0" lang="en" sz="1050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"Apple"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, </a:t>
              </a:r>
              <a:r>
                <a:rPr b="0" i="0" lang="en" sz="1050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"Banana"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];</a:t>
              </a:r>
              <a:endParaRPr b="0" i="0" sz="105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console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1050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log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1050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typeof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50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name</a:t>
              </a:r>
              <a:r>
                <a:rPr b="0" i="0" lang="en" sz="1050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</a:t>
              </a:r>
              <a:endParaRPr b="0" i="0" sz="105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1155" name="Google Shape;1155;p73"/>
          <p:cNvGrpSpPr/>
          <p:nvPr/>
        </p:nvGrpSpPr>
        <p:grpSpPr>
          <a:xfrm>
            <a:off x="4762500" y="3429000"/>
            <a:ext cx="4000500" cy="1047900"/>
            <a:chOff x="0" y="0"/>
            <a:chExt cx="4000500" cy="1047900"/>
          </a:xfrm>
        </p:grpSpPr>
        <p:sp>
          <p:nvSpPr>
            <p:cNvPr id="1156" name="Google Shape;1156;p73"/>
            <p:cNvSpPr/>
            <p:nvPr/>
          </p:nvSpPr>
          <p:spPr>
            <a:xfrm>
              <a:off x="0" y="0"/>
              <a:ext cx="4000500" cy="1047900"/>
            </a:xfrm>
            <a:prstGeom prst="roundRect">
              <a:avLst>
                <a:gd fmla="val 5454" name="adj"/>
              </a:avLst>
            </a:prstGeom>
            <a:solidFill>
              <a:srgbClr val="000000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73"/>
            <p:cNvSpPr/>
            <p:nvPr/>
          </p:nvSpPr>
          <p:spPr>
            <a:xfrm>
              <a:off x="0" y="0"/>
              <a:ext cx="4000500" cy="238200"/>
            </a:xfrm>
            <a:prstGeom prst="roundRect">
              <a:avLst>
                <a:gd fmla="val 24000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73"/>
            <p:cNvSpPr/>
            <p:nvPr/>
          </p:nvSpPr>
          <p:spPr>
            <a:xfrm>
              <a:off x="0" y="123825"/>
              <a:ext cx="4000500" cy="11430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73"/>
            <p:cNvSpPr txBox="1"/>
            <p:nvPr/>
          </p:nvSpPr>
          <p:spPr>
            <a:xfrm>
              <a:off x="142875" y="38100"/>
              <a:ext cx="952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85858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Console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0" name="Google Shape;1160;p73"/>
            <p:cNvGrpSpPr/>
            <p:nvPr/>
          </p:nvGrpSpPr>
          <p:grpSpPr>
            <a:xfrm>
              <a:off x="161925" y="381000"/>
              <a:ext cx="152325" cy="114450"/>
              <a:chOff x="19050" y="19050"/>
              <a:chExt cx="152325" cy="114450"/>
            </a:xfrm>
          </p:grpSpPr>
          <p:sp>
            <p:nvSpPr>
              <p:cNvPr id="1161" name="Google Shape;1161;p73"/>
              <p:cNvSpPr/>
              <p:nvPr/>
            </p:nvSpPr>
            <p:spPr>
              <a:xfrm>
                <a:off x="19050" y="19050"/>
                <a:ext cx="573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569C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73"/>
              <p:cNvSpPr/>
              <p:nvPr/>
            </p:nvSpPr>
            <p:spPr>
              <a:xfrm>
                <a:off x="104775" y="114300"/>
                <a:ext cx="66600" cy="19200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63" name="Google Shape;1163;p73"/>
            <p:cNvSpPr txBox="1"/>
            <p:nvPr/>
          </p:nvSpPr>
          <p:spPr>
            <a:xfrm>
              <a:off x="428625" y="333375"/>
              <a:ext cx="3429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858585"/>
                  </a:solidFill>
                  <a:latin typeface="Fira Code"/>
                  <a:ea typeface="Fira Code"/>
                  <a:cs typeface="Fira Code"/>
                  <a:sym typeface="Fira Code"/>
                </a:rPr>
                <a:t>node variables.js</a:t>
              </a:r>
              <a:endParaRPr b="0" i="0" sz="1050" u="none" cap="none" strike="noStrike">
                <a:solidFill>
                  <a:srgbClr val="858585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"string"</a:t>
              </a:r>
              <a:endParaRPr b="1" i="0" sz="1050" u="none" cap="none" strike="noStrike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164" name="Google Shape;1164;p73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7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74"/>
          <p:cNvSpPr txBox="1"/>
          <p:nvPr/>
        </p:nvSpPr>
        <p:spPr>
          <a:xfrm>
            <a:off x="381000" y="285750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JavaScript Operators</a:t>
            </a:r>
            <a:endParaRPr b="1" i="0" sz="285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858585"/>
                </a:solidFill>
                <a:latin typeface="Inter"/>
                <a:ea typeface="Inter"/>
                <a:cs typeface="Inter"/>
                <a:sym typeface="Inter"/>
              </a:rPr>
              <a:t>Operators allow you to manipulate data and compare values.</a:t>
            </a:r>
            <a:endParaRPr b="0" i="0" sz="1050" u="none" cap="none" strike="noStrike">
              <a:solidFill>
                <a:srgbClr val="85858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71" name="Google Shape;1171;p74"/>
          <p:cNvGrpSpPr/>
          <p:nvPr/>
        </p:nvGrpSpPr>
        <p:grpSpPr>
          <a:xfrm>
            <a:off x="381000" y="1047750"/>
            <a:ext cx="4000500" cy="1809600"/>
            <a:chOff x="381000" y="1047750"/>
            <a:chExt cx="4000500" cy="1809600"/>
          </a:xfrm>
        </p:grpSpPr>
        <p:sp>
          <p:nvSpPr>
            <p:cNvPr id="1172" name="Google Shape;1172;p74"/>
            <p:cNvSpPr/>
            <p:nvPr/>
          </p:nvSpPr>
          <p:spPr>
            <a:xfrm>
              <a:off x="381000" y="1047750"/>
              <a:ext cx="4000500" cy="1809600"/>
            </a:xfrm>
            <a:prstGeom prst="roundRect">
              <a:avLst>
                <a:gd fmla="val 3157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74"/>
            <p:cNvSpPr txBox="1"/>
            <p:nvPr/>
          </p:nvSpPr>
          <p:spPr>
            <a:xfrm>
              <a:off x="571500" y="1190625"/>
              <a:ext cx="3619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Arithmetic Operators</a:t>
              </a:r>
              <a:endParaRPr b="0" i="0" sz="97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1" i="0" lang="en" sz="112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+ - * / % **</a:t>
              </a:r>
              <a:endParaRPr b="0" i="0" sz="135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1" lang="en" sz="975" u="none" cap="none" strike="noStrike">
                  <a:solidFill>
                    <a:srgbClr val="6A9955"/>
                  </a:solidFill>
                  <a:latin typeface="Inter"/>
                  <a:ea typeface="Inter"/>
                  <a:cs typeface="Inter"/>
                  <a:sym typeface="Inter"/>
                </a:rPr>
                <a:t>let a = 10; let b = 3; console.log(a + b);</a:t>
              </a:r>
              <a:endParaRPr b="0" i="1" sz="975" u="none" cap="none" strike="noStrike">
                <a:solidFill>
                  <a:srgbClr val="6A99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Comparison Operators</a:t>
              </a:r>
              <a:endParaRPr b="0" i="0" sz="97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1" i="0" lang="en" sz="112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&gt; &lt; &gt;= &lt;= === !==</a:t>
              </a:r>
              <a:endParaRPr b="0" i="0" sz="135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1" lang="en" sz="975" u="none" cap="none" strike="noStrike">
                  <a:solidFill>
                    <a:srgbClr val="6A9955"/>
                  </a:solidFill>
                  <a:latin typeface="Inter"/>
                  <a:ea typeface="Inter"/>
                  <a:cs typeface="Inter"/>
                  <a:sym typeface="Inter"/>
                </a:rPr>
                <a:t>Strict equality (===) checks value &amp; type; preferred over loose equality (==).</a:t>
              </a:r>
              <a:endParaRPr b="0" i="1" sz="975" u="none" cap="none" strike="noStrike">
                <a:solidFill>
                  <a:srgbClr val="6A99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4" name="Google Shape;1174;p74"/>
          <p:cNvGrpSpPr/>
          <p:nvPr/>
        </p:nvGrpSpPr>
        <p:grpSpPr>
          <a:xfrm>
            <a:off x="4762500" y="1047750"/>
            <a:ext cx="4000500" cy="1809600"/>
            <a:chOff x="4762500" y="1047750"/>
            <a:chExt cx="4000500" cy="1809600"/>
          </a:xfrm>
        </p:grpSpPr>
        <p:sp>
          <p:nvSpPr>
            <p:cNvPr id="1175" name="Google Shape;1175;p74"/>
            <p:cNvSpPr/>
            <p:nvPr/>
          </p:nvSpPr>
          <p:spPr>
            <a:xfrm>
              <a:off x="4762500" y="1047750"/>
              <a:ext cx="4000500" cy="1809600"/>
            </a:xfrm>
            <a:prstGeom prst="roundRect">
              <a:avLst>
                <a:gd fmla="val 3157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74"/>
            <p:cNvSpPr txBox="1"/>
            <p:nvPr/>
          </p:nvSpPr>
          <p:spPr>
            <a:xfrm>
              <a:off x="4953000" y="1190625"/>
              <a:ext cx="3619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Logical Operators</a:t>
              </a:r>
              <a:endParaRPr b="0" i="0" sz="97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1" i="0" lang="en" sz="112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&amp;&amp; (AND) || (OR) ! (NOT)</a:t>
              </a:r>
              <a:endParaRPr b="0" i="0" sz="135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1" lang="en" sz="975" u="none" cap="none" strike="noStrike">
                  <a:solidFill>
                    <a:srgbClr val="6A9955"/>
                  </a:solidFill>
                  <a:latin typeface="Inter"/>
                  <a:ea typeface="Inter"/>
                  <a:cs typeface="Inter"/>
                  <a:sym typeface="Inter"/>
                </a:rPr>
                <a:t>Example rule validation: age &gt;= 18 &amp;&amp; hasID</a:t>
              </a:r>
              <a:endParaRPr b="0" i="1" sz="975" u="none" cap="none" strike="noStrike">
                <a:solidFill>
                  <a:srgbClr val="6A99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Assignment Operators</a:t>
              </a:r>
              <a:endParaRPr b="0" i="0" sz="97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1" i="0" lang="en" sz="112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 += -= *= /=</a:t>
              </a:r>
              <a:endParaRPr b="0" i="0" sz="1350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1" lang="en" sz="975" u="none" cap="none" strike="noStrike">
                  <a:solidFill>
                    <a:srgbClr val="6A9955"/>
                  </a:solidFill>
                  <a:latin typeface="Inter"/>
                  <a:ea typeface="Inter"/>
                  <a:cs typeface="Inter"/>
                  <a:sym typeface="Inter"/>
                </a:rPr>
                <a:t>Shorthands used to assign values to variables and calculate simultaneously.</a:t>
              </a:r>
              <a:endParaRPr b="0" i="1" sz="975" u="none" cap="none" strike="noStrike">
                <a:solidFill>
                  <a:srgbClr val="6A99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7" name="Google Shape;1177;p74"/>
          <p:cNvGrpSpPr/>
          <p:nvPr/>
        </p:nvGrpSpPr>
        <p:grpSpPr>
          <a:xfrm>
            <a:off x="381000" y="3000375"/>
            <a:ext cx="5143500" cy="1762200"/>
            <a:chOff x="381000" y="3000375"/>
            <a:chExt cx="5143500" cy="1762200"/>
          </a:xfrm>
        </p:grpSpPr>
        <p:sp>
          <p:nvSpPr>
            <p:cNvPr id="1178" name="Google Shape;1178;p74"/>
            <p:cNvSpPr/>
            <p:nvPr/>
          </p:nvSpPr>
          <p:spPr>
            <a:xfrm>
              <a:off x="381000" y="3000375"/>
              <a:ext cx="5143500" cy="1762200"/>
            </a:xfrm>
            <a:prstGeom prst="roundRect">
              <a:avLst>
                <a:gd fmla="val 3243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9" name="Google Shape;1179;p74"/>
            <p:cNvGrpSpPr/>
            <p:nvPr/>
          </p:nvGrpSpPr>
          <p:grpSpPr>
            <a:xfrm>
              <a:off x="381000" y="3000375"/>
              <a:ext cx="5143500" cy="285900"/>
              <a:chOff x="0" y="0"/>
              <a:chExt cx="5143500" cy="285900"/>
            </a:xfrm>
          </p:grpSpPr>
          <p:sp>
            <p:nvSpPr>
              <p:cNvPr id="1180" name="Google Shape;1180;p74"/>
              <p:cNvSpPr/>
              <p:nvPr/>
            </p:nvSpPr>
            <p:spPr>
              <a:xfrm>
                <a:off x="0" y="0"/>
                <a:ext cx="51435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74"/>
              <p:cNvSpPr/>
              <p:nvPr/>
            </p:nvSpPr>
            <p:spPr>
              <a:xfrm>
                <a:off x="0" y="142875"/>
                <a:ext cx="5143500" cy="142800"/>
              </a:xfrm>
              <a:prstGeom prst="rect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74"/>
              <p:cNvSpPr/>
              <p:nvPr/>
            </p:nvSpPr>
            <p:spPr>
              <a:xfrm>
                <a:off x="95250" y="95250"/>
                <a:ext cx="95400" cy="954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74"/>
              <p:cNvSpPr/>
              <p:nvPr/>
            </p:nvSpPr>
            <p:spPr>
              <a:xfrm>
                <a:off x="238125" y="95250"/>
                <a:ext cx="95400" cy="954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74"/>
              <p:cNvSpPr/>
              <p:nvPr/>
            </p:nvSpPr>
            <p:spPr>
              <a:xfrm>
                <a:off x="381000" y="95250"/>
                <a:ext cx="95400" cy="954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74"/>
              <p:cNvSpPr txBox="1"/>
              <p:nvPr/>
            </p:nvSpPr>
            <p:spPr>
              <a:xfrm>
                <a:off x="2150869" y="97155"/>
                <a:ext cx="841800" cy="1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858585"/>
                    </a:solidFill>
                    <a:latin typeface="Inter"/>
                    <a:ea typeface="Inter"/>
                    <a:cs typeface="Inter"/>
                    <a:sym typeface="Inter"/>
                  </a:rPr>
                  <a:t>calculator.js</a:t>
                </a:r>
                <a:endParaRPr b="0" i="0" sz="825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1186" name="Google Shape;1186;p74"/>
            <p:cNvSpPr txBox="1"/>
            <p:nvPr/>
          </p:nvSpPr>
          <p:spPr>
            <a:xfrm>
              <a:off x="571500" y="3409950"/>
              <a:ext cx="4762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0" i="1" lang="en" sz="785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Simple backend processing with multiple operators</a:t>
              </a:r>
              <a:endParaRPr b="0" i="0" sz="78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0" i="0" lang="en" sz="785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num1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12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, </a:t>
              </a:r>
              <a:r>
                <a:rPr b="0" i="0" lang="en" sz="78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num2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5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78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0" i="0" lang="en" sz="785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op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"+"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78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0" i="0" lang="en" sz="785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if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(</a:t>
              </a:r>
              <a:r>
                <a:rPr b="0" i="0" lang="en" sz="78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op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===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"+"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 {</a:t>
              </a:r>
              <a:endParaRPr b="0" i="0" sz="78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905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0" i="0" lang="en" sz="78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console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785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log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78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num1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+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num2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 </a:t>
              </a:r>
              <a:r>
                <a:rPr b="0" i="1" lang="en" sz="785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Adds num1 and num2</a:t>
              </a:r>
              <a:endParaRPr b="0" i="0" sz="78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} </a:t>
              </a:r>
              <a:r>
                <a:rPr b="0" i="0" lang="en" sz="785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else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if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(</a:t>
              </a:r>
              <a:r>
                <a:rPr b="0" i="0" lang="en" sz="78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op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===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"-"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 {</a:t>
              </a:r>
              <a:endParaRPr b="0" i="0" sz="78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905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0" i="0" lang="en" sz="78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console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785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log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78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num1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-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78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num2</a:t>
              </a: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</a:t>
              </a:r>
              <a:endParaRPr b="0" i="0" sz="78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0" i="0" lang="en" sz="78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b="0" i="0" sz="78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1187" name="Google Shape;1187;p74"/>
          <p:cNvGrpSpPr/>
          <p:nvPr/>
        </p:nvGrpSpPr>
        <p:grpSpPr>
          <a:xfrm>
            <a:off x="4716780" y="2712720"/>
            <a:ext cx="4046220" cy="1145055"/>
            <a:chOff x="4716780" y="2712720"/>
            <a:chExt cx="4046220" cy="1145055"/>
          </a:xfrm>
        </p:grpSpPr>
        <p:sp>
          <p:nvSpPr>
            <p:cNvPr id="1188" name="Google Shape;1188;p74"/>
            <p:cNvSpPr/>
            <p:nvPr/>
          </p:nvSpPr>
          <p:spPr>
            <a:xfrm>
              <a:off x="5715000" y="3000375"/>
              <a:ext cx="3048000" cy="857400"/>
            </a:xfrm>
            <a:prstGeom prst="roundRect">
              <a:avLst>
                <a:gd fmla="val 6666" name="adj"/>
              </a:avLst>
            </a:prstGeom>
            <a:solidFill>
              <a:srgbClr val="000000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9" name="Google Shape;1189;p74"/>
            <p:cNvGrpSpPr/>
            <p:nvPr/>
          </p:nvGrpSpPr>
          <p:grpSpPr>
            <a:xfrm>
              <a:off x="5715000" y="3000375"/>
              <a:ext cx="3048000" cy="285900"/>
              <a:chOff x="0" y="0"/>
              <a:chExt cx="3048000" cy="285900"/>
            </a:xfrm>
          </p:grpSpPr>
          <p:sp>
            <p:nvSpPr>
              <p:cNvPr id="1190" name="Google Shape;1190;p74"/>
              <p:cNvSpPr/>
              <p:nvPr/>
            </p:nvSpPr>
            <p:spPr>
              <a:xfrm>
                <a:off x="0" y="0"/>
                <a:ext cx="3048000" cy="285900"/>
              </a:xfrm>
              <a:prstGeom prst="roundRect">
                <a:avLst>
                  <a:gd fmla="val 20000" name="adj"/>
                </a:avLst>
              </a:prstGeom>
              <a:solidFill>
                <a:srgbClr val="1E1E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74"/>
              <p:cNvSpPr/>
              <p:nvPr/>
            </p:nvSpPr>
            <p:spPr>
              <a:xfrm>
                <a:off x="0" y="142875"/>
                <a:ext cx="3048000" cy="142800"/>
              </a:xfrm>
              <a:prstGeom prst="rect">
                <a:avLst/>
              </a:prstGeom>
              <a:solidFill>
                <a:srgbClr val="1E1E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74"/>
              <p:cNvSpPr txBox="1"/>
              <p:nvPr/>
            </p:nvSpPr>
            <p:spPr>
              <a:xfrm>
                <a:off x="142875" y="97155"/>
                <a:ext cx="453300" cy="1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858585"/>
                    </a:solidFill>
                    <a:latin typeface="Inter"/>
                    <a:ea typeface="Inter"/>
                    <a:cs typeface="Inter"/>
                    <a:sym typeface="Inter"/>
                  </a:rPr>
                  <a:t>Console</a:t>
                </a:r>
                <a:endParaRPr b="0" i="0" sz="825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93" name="Google Shape;1193;p74"/>
            <p:cNvGrpSpPr/>
            <p:nvPr/>
          </p:nvGrpSpPr>
          <p:grpSpPr>
            <a:xfrm>
              <a:off x="4716780" y="2712720"/>
              <a:ext cx="167760" cy="129480"/>
              <a:chOff x="38100" y="38100"/>
              <a:chExt cx="209700" cy="161850"/>
            </a:xfrm>
          </p:grpSpPr>
          <p:sp>
            <p:nvSpPr>
              <p:cNvPr id="1194" name="Google Shape;1194;p74"/>
              <p:cNvSpPr/>
              <p:nvPr/>
            </p:nvSpPr>
            <p:spPr>
              <a:xfrm>
                <a:off x="38100" y="38100"/>
                <a:ext cx="76200" cy="152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8575">
                <a:solidFill>
                  <a:srgbClr val="569C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74"/>
              <p:cNvSpPr/>
              <p:nvPr/>
            </p:nvSpPr>
            <p:spPr>
              <a:xfrm>
                <a:off x="152400" y="171450"/>
                <a:ext cx="95400" cy="28500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6" name="Google Shape;1196;p74"/>
            <p:cNvSpPr txBox="1"/>
            <p:nvPr/>
          </p:nvSpPr>
          <p:spPr>
            <a:xfrm>
              <a:off x="6048375" y="334327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1" i="0" lang="en" sz="1125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17</a:t>
              </a:r>
              <a:endParaRPr b="1" i="0" sz="1125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1197" name="Google Shape;1197;p74"/>
          <p:cNvGrpSpPr/>
          <p:nvPr/>
        </p:nvGrpSpPr>
        <p:grpSpPr>
          <a:xfrm>
            <a:off x="5744813" y="3990963"/>
            <a:ext cx="3057600" cy="771600"/>
            <a:chOff x="6401788" y="4207063"/>
            <a:chExt cx="3057600" cy="771600"/>
          </a:xfrm>
        </p:grpSpPr>
        <p:pic>
          <p:nvPicPr>
            <p:cNvPr id="1198" name="Google Shape;1198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01788" y="4207063"/>
              <a:ext cx="3057600" cy="7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9" name="Google Shape;1199;p74"/>
            <p:cNvSpPr txBox="1"/>
            <p:nvPr/>
          </p:nvSpPr>
          <p:spPr>
            <a:xfrm>
              <a:off x="6549400" y="4326175"/>
              <a:ext cx="2762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1" i="0" lang="en" sz="97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Building Logic</a:t>
              </a:r>
              <a:endParaRPr b="1" i="0" sz="975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CCCCCC"/>
                  </a:solidFill>
                  <a:latin typeface="Inter"/>
                  <a:ea typeface="Inter"/>
                  <a:cs typeface="Inter"/>
                  <a:sym typeface="Inter"/>
                </a:rPr>
                <a:t>Using these base operators, you can easily build logic to process scripts for a simple calculator.</a:t>
              </a:r>
              <a:endParaRPr b="0" i="0" sz="825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200" name="Google Shape;1200;p74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5" name="Google Shape;120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1047750"/>
            <a:ext cx="9600" cy="352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6" name="Google Shape;1206;p75"/>
          <p:cNvGrpSpPr/>
          <p:nvPr/>
        </p:nvGrpSpPr>
        <p:grpSpPr>
          <a:xfrm>
            <a:off x="381000" y="333375"/>
            <a:ext cx="7191375" cy="381000"/>
            <a:chOff x="0" y="0"/>
            <a:chExt cx="7191375" cy="381000"/>
          </a:xfrm>
        </p:grpSpPr>
        <p:grpSp>
          <p:nvGrpSpPr>
            <p:cNvPr id="1207" name="Google Shape;1207;p75"/>
            <p:cNvGrpSpPr/>
            <p:nvPr/>
          </p:nvGrpSpPr>
          <p:grpSpPr>
            <a:xfrm>
              <a:off x="0" y="0"/>
              <a:ext cx="381000" cy="381000"/>
              <a:chOff x="0" y="0"/>
              <a:chExt cx="381000" cy="381000"/>
            </a:xfrm>
          </p:grpSpPr>
          <p:sp>
            <p:nvSpPr>
              <p:cNvPr id="1208" name="Google Shape;1208;p75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7DF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75"/>
              <p:cNvSpPr/>
              <p:nvPr/>
            </p:nvSpPr>
            <p:spPr>
              <a:xfrm>
                <a:off x="140017" y="140017"/>
                <a:ext cx="123900" cy="176100"/>
              </a:xfrm>
              <a:custGeom>
                <a:rect b="b" l="l" r="r" t="t"/>
                <a:pathLst>
                  <a:path extrusionOk="0" h="120000" w="120000">
                    <a:moveTo>
                      <a:pt x="106154" y="109622"/>
                    </a:moveTo>
                    <a:cubicBezTo>
                      <a:pt x="92308" y="116757"/>
                      <a:pt x="74769" y="120000"/>
                      <a:pt x="57231" y="120000"/>
                    </a:cubicBezTo>
                    <a:cubicBezTo>
                      <a:pt x="36000" y="120000"/>
                      <a:pt x="18462" y="115459"/>
                      <a:pt x="3692" y="107027"/>
                    </a:cubicBezTo>
                    <a:lnTo>
                      <a:pt x="24923" y="84973"/>
                    </a:lnTo>
                    <a:cubicBezTo>
                      <a:pt x="35077" y="90811"/>
                      <a:pt x="47077" y="94703"/>
                      <a:pt x="59077" y="94703"/>
                    </a:cubicBezTo>
                    <a:cubicBezTo>
                      <a:pt x="71077" y="94703"/>
                      <a:pt x="79385" y="91459"/>
                      <a:pt x="79385" y="85622"/>
                    </a:cubicBezTo>
                    <a:cubicBezTo>
                      <a:pt x="79385" y="79135"/>
                      <a:pt x="72000" y="75892"/>
                      <a:pt x="51692" y="72649"/>
                    </a:cubicBezTo>
                    <a:cubicBezTo>
                      <a:pt x="17538" y="66811"/>
                      <a:pt x="0" y="55784"/>
                      <a:pt x="0" y="35027"/>
                    </a:cubicBezTo>
                    <a:cubicBezTo>
                      <a:pt x="0" y="14919"/>
                      <a:pt x="22154" y="0"/>
                      <a:pt x="59077" y="0"/>
                    </a:cubicBezTo>
                    <a:cubicBezTo>
                      <a:pt x="78462" y="0"/>
                      <a:pt x="96000" y="3892"/>
                      <a:pt x="110769" y="11027"/>
                    </a:cubicBezTo>
                    <a:lnTo>
                      <a:pt x="90462" y="33081"/>
                    </a:lnTo>
                    <a:cubicBezTo>
                      <a:pt x="78462" y="27243"/>
                      <a:pt x="67385" y="24000"/>
                      <a:pt x="57231" y="24000"/>
                    </a:cubicBezTo>
                    <a:cubicBezTo>
                      <a:pt x="47077" y="24000"/>
                      <a:pt x="39692" y="27243"/>
                      <a:pt x="39692" y="33081"/>
                    </a:cubicBezTo>
                    <a:cubicBezTo>
                      <a:pt x="39692" y="39568"/>
                      <a:pt x="47077" y="42162"/>
                      <a:pt x="69231" y="46054"/>
                    </a:cubicBezTo>
                    <a:cubicBezTo>
                      <a:pt x="103385" y="51892"/>
                      <a:pt x="120000" y="62270"/>
                      <a:pt x="120000" y="83676"/>
                    </a:cubicBezTo>
                    <a:cubicBezTo>
                      <a:pt x="120000" y="103784"/>
                      <a:pt x="98769" y="120000"/>
                      <a:pt x="57231" y="12000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75"/>
              <p:cNvSpPr/>
              <p:nvPr/>
            </p:nvSpPr>
            <p:spPr>
              <a:xfrm>
                <a:off x="70485" y="143828"/>
                <a:ext cx="39900" cy="168600"/>
              </a:xfrm>
              <a:custGeom>
                <a:rect b="b" l="l" r="r" t="t"/>
                <a:pathLst>
                  <a:path extrusionOk="0" h="120000" w="120000">
                    <a:moveTo>
                      <a:pt x="120000" y="120000"/>
                    </a:moveTo>
                    <a:lnTo>
                      <a:pt x="0" y="120000"/>
                    </a:lnTo>
                    <a:lnTo>
                      <a:pt x="0" y="0"/>
                    </a:lnTo>
                    <a:lnTo>
                      <a:pt x="12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1" name="Google Shape;1211;p75"/>
            <p:cNvSpPr txBox="1"/>
            <p:nvPr/>
          </p:nvSpPr>
          <p:spPr>
            <a:xfrm>
              <a:off x="523875" y="0"/>
              <a:ext cx="666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21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Making Decisions with Conditions</a:t>
              </a:r>
              <a:endParaRPr b="1" i="0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2" name="Google Shape;1212;p75"/>
          <p:cNvGrpSpPr/>
          <p:nvPr/>
        </p:nvGrpSpPr>
        <p:grpSpPr>
          <a:xfrm>
            <a:off x="381000" y="952500"/>
            <a:ext cx="3905400" cy="3667200"/>
            <a:chOff x="381000" y="952500"/>
            <a:chExt cx="3905400" cy="3667200"/>
          </a:xfrm>
        </p:grpSpPr>
        <p:sp>
          <p:nvSpPr>
            <p:cNvPr id="1213" name="Google Shape;1213;p75"/>
            <p:cNvSpPr txBox="1"/>
            <p:nvPr/>
          </p:nvSpPr>
          <p:spPr>
            <a:xfrm>
              <a:off x="381000" y="952500"/>
              <a:ext cx="3905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0" i="0" lang="en" sz="112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Conditions allow your program to make decisions and execute different code based on specific criteria.</a:t>
              </a:r>
              <a:endParaRPr b="0" i="0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14" name="Google Shape;1214;p75"/>
            <p:cNvGrpSpPr/>
            <p:nvPr/>
          </p:nvGrpSpPr>
          <p:grpSpPr>
            <a:xfrm>
              <a:off x="381000" y="1714500"/>
              <a:ext cx="3905400" cy="1571700"/>
              <a:chOff x="381000" y="0"/>
              <a:chExt cx="3905400" cy="1571700"/>
            </a:xfrm>
          </p:grpSpPr>
          <p:sp>
            <p:nvSpPr>
              <p:cNvPr id="1215" name="Google Shape;1215;p75"/>
              <p:cNvSpPr/>
              <p:nvPr/>
            </p:nvSpPr>
            <p:spPr>
              <a:xfrm>
                <a:off x="381000" y="0"/>
                <a:ext cx="3905400" cy="1571700"/>
              </a:xfrm>
              <a:prstGeom prst="roundRect">
                <a:avLst>
                  <a:gd fmla="val 3636" name="adj"/>
                </a:avLst>
              </a:prstGeom>
              <a:solidFill>
                <a:srgbClr val="252526"/>
              </a:solidFill>
              <a:ln cap="flat" cmpd="sng" w="9525">
                <a:solidFill>
                  <a:srgbClr val="3E3E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75"/>
              <p:cNvSpPr/>
              <p:nvPr/>
            </p:nvSpPr>
            <p:spPr>
              <a:xfrm>
                <a:off x="381000" y="0"/>
                <a:ext cx="3905400" cy="228600"/>
              </a:xfrm>
              <a:custGeom>
                <a:rect b="b" l="l" r="r" t="t"/>
                <a:pathLst>
                  <a:path extrusionOk="0" h="120000" w="120000">
                    <a:moveTo>
                      <a:pt x="0" y="30000"/>
                    </a:moveTo>
                    <a:cubicBezTo>
                      <a:pt x="0" y="13500"/>
                      <a:pt x="790" y="0"/>
                      <a:pt x="1756" y="0"/>
                    </a:cubicBezTo>
                    <a:lnTo>
                      <a:pt x="118244" y="0"/>
                    </a:lnTo>
                    <a:cubicBezTo>
                      <a:pt x="119210" y="0"/>
                      <a:pt x="120000" y="13500"/>
                      <a:pt x="120000" y="3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p75"/>
              <p:cNvSpPr/>
              <p:nvPr/>
            </p:nvSpPr>
            <p:spPr>
              <a:xfrm>
                <a:off x="495300" y="7620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75"/>
              <p:cNvSpPr/>
              <p:nvPr/>
            </p:nvSpPr>
            <p:spPr>
              <a:xfrm>
                <a:off x="609600" y="7620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p75"/>
              <p:cNvSpPr/>
              <p:nvPr/>
            </p:nvSpPr>
            <p:spPr>
              <a:xfrm>
                <a:off x="723900" y="7620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p75"/>
              <p:cNvSpPr txBox="1"/>
              <p:nvPr/>
            </p:nvSpPr>
            <p:spPr>
              <a:xfrm>
                <a:off x="904875" y="0"/>
                <a:ext cx="952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858585"/>
                    </a:solidFill>
                    <a:latin typeface="Inter"/>
                    <a:ea typeface="Inter"/>
                    <a:cs typeface="Inter"/>
                    <a:sym typeface="Inter"/>
                  </a:rPr>
                  <a:t>syntax.js</a:t>
                </a:r>
                <a:endParaRPr b="0" i="0" sz="825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21" name="Google Shape;1221;p75"/>
              <p:cNvSpPr txBox="1"/>
              <p:nvPr/>
            </p:nvSpPr>
            <p:spPr>
              <a:xfrm>
                <a:off x="523875" y="304800"/>
                <a:ext cx="3619500" cy="11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6"/>
                  <a:buFont typeface="Arial"/>
                  <a:buNone/>
                </a:pPr>
                <a:r>
                  <a:rPr b="0" i="1" lang="en" sz="756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// Syntax</a:t>
                </a:r>
                <a:endParaRPr b="0" i="0" sz="756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756"/>
                  <a:buFont typeface="Arial"/>
                  <a:buNone/>
                </a:pPr>
                <a:r>
                  <a:rPr b="0" i="0" lang="en" sz="756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if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(</a:t>
                </a:r>
                <a:r>
                  <a:rPr b="0" i="0" lang="en" sz="756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condition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) { </a:t>
                </a:r>
                <a:r>
                  <a:rPr b="0" i="1" lang="en" sz="756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/* code */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}</a:t>
                </a:r>
                <a:endParaRPr b="0" i="0" sz="756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756"/>
                  <a:buFont typeface="Arial"/>
                  <a:buNone/>
                </a:pPr>
                <a:r>
                  <a:rPr b="0" i="1" lang="en" sz="756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// Basic Example</a:t>
                </a:r>
                <a:endParaRPr b="0" i="0" sz="756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756"/>
                  <a:buFont typeface="Arial"/>
                  <a:buNone/>
                </a:pPr>
                <a:r>
                  <a:rPr b="0" i="0" lang="en" sz="756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if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(</a:t>
                </a:r>
                <a:r>
                  <a:rPr b="0" i="0" lang="en" sz="756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age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756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&gt;=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756" u="none" cap="none" strike="noStrike">
                    <a:solidFill>
                      <a:srgbClr val="B5CEA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18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) {</a:t>
                </a:r>
                <a:endParaRPr b="0" i="0" sz="756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142875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756"/>
                  <a:buFont typeface="Arial"/>
                  <a:buNone/>
                </a:pPr>
                <a:r>
                  <a:rPr b="0" i="0" lang="en" sz="756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console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.</a:t>
                </a:r>
                <a:r>
                  <a:rPr b="0" i="0" lang="en" sz="756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log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(</a:t>
                </a:r>
                <a:r>
                  <a:rPr b="0" i="0" lang="en" sz="756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"Adult"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);</a:t>
                </a:r>
                <a:endParaRPr b="0" i="0" sz="756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756"/>
                  <a:buFont typeface="Arial"/>
                  <a:buNone/>
                </a:pP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} </a:t>
                </a:r>
                <a:r>
                  <a:rPr b="0" i="0" lang="en" sz="756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else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{</a:t>
                </a:r>
                <a:endParaRPr b="0" i="0" sz="756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142875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756"/>
                  <a:buFont typeface="Arial"/>
                  <a:buNone/>
                </a:pPr>
                <a:r>
                  <a:rPr b="0" i="0" lang="en" sz="756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console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.</a:t>
                </a:r>
                <a:r>
                  <a:rPr b="0" i="0" lang="en" sz="756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log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(</a:t>
                </a:r>
                <a:r>
                  <a:rPr b="0" i="0" lang="en" sz="756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"Minor"</a:t>
                </a: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);</a:t>
                </a:r>
                <a:endParaRPr b="0" i="0" sz="756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756"/>
                  <a:buFont typeface="Arial"/>
                  <a:buNone/>
                </a:pPr>
                <a:r>
                  <a:rPr b="0" i="0" lang="en" sz="756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}</a:t>
                </a:r>
                <a:endParaRPr b="0" i="0" sz="756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grpSp>
          <p:nvGrpSpPr>
            <p:cNvPr id="1222" name="Google Shape;1222;p75"/>
            <p:cNvGrpSpPr/>
            <p:nvPr/>
          </p:nvGrpSpPr>
          <p:grpSpPr>
            <a:xfrm>
              <a:off x="381000" y="3429000"/>
              <a:ext cx="3905400" cy="1190700"/>
              <a:chOff x="381000" y="0"/>
              <a:chExt cx="3905400" cy="1190700"/>
            </a:xfrm>
          </p:grpSpPr>
          <p:sp>
            <p:nvSpPr>
              <p:cNvPr id="1223" name="Google Shape;1223;p75"/>
              <p:cNvSpPr/>
              <p:nvPr/>
            </p:nvSpPr>
            <p:spPr>
              <a:xfrm>
                <a:off x="381000" y="0"/>
                <a:ext cx="3905400" cy="1190700"/>
              </a:xfrm>
              <a:prstGeom prst="roundRect">
                <a:avLst>
                  <a:gd fmla="val 6400" name="adj"/>
                </a:avLst>
              </a:prstGeom>
              <a:solidFill>
                <a:srgbClr val="252526"/>
              </a:solidFill>
              <a:ln cap="flat" cmpd="sng" w="9525">
                <a:solidFill>
                  <a:srgbClr val="3E3E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4" name="Google Shape;1224;p75"/>
              <p:cNvSpPr/>
              <p:nvPr/>
            </p:nvSpPr>
            <p:spPr>
              <a:xfrm>
                <a:off x="381000" y="0"/>
                <a:ext cx="57300" cy="1190700"/>
              </a:xfrm>
              <a:custGeom>
                <a:rect b="b" l="l" r="r" t="t"/>
                <a:pathLst>
                  <a:path extrusionOk="0" h="120000" w="120000">
                    <a:moveTo>
                      <a:pt x="0" y="3840"/>
                    </a:moveTo>
                    <a:cubicBezTo>
                      <a:pt x="0" y="1728"/>
                      <a:pt x="36000" y="0"/>
                      <a:pt x="80000" y="0"/>
                    </a:cubicBez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80000" y="120000"/>
                    </a:lnTo>
                    <a:cubicBezTo>
                      <a:pt x="36000" y="120000"/>
                      <a:pt x="0" y="118272"/>
                      <a:pt x="0" y="116160"/>
                    </a:cubicBezTo>
                    <a:close/>
                  </a:path>
                </a:pathLst>
              </a:custGeom>
              <a:solidFill>
                <a:srgbClr val="F7DF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25" name="Google Shape;1225;p75"/>
              <p:cNvGrpSpPr/>
              <p:nvPr/>
            </p:nvGrpSpPr>
            <p:grpSpPr>
              <a:xfrm>
                <a:off x="552450" y="114300"/>
                <a:ext cx="304800" cy="304800"/>
                <a:chOff x="0" y="0"/>
                <a:chExt cx="381000" cy="381000"/>
              </a:xfrm>
            </p:grpSpPr>
            <p:sp>
              <p:nvSpPr>
                <p:cNvPr id="1226" name="Google Shape;1226;p75"/>
                <p:cNvSpPr/>
                <p:nvPr/>
              </p:nvSpPr>
              <p:spPr>
                <a:xfrm>
                  <a:off x="0" y="0"/>
                  <a:ext cx="381000" cy="381000"/>
                </a:xfrm>
                <a:prstGeom prst="ellipse">
                  <a:avLst/>
                </a:prstGeom>
                <a:solidFill>
                  <a:srgbClr val="F7DF1E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7" name="Google Shape;1227;p75"/>
                <p:cNvSpPr/>
                <p:nvPr/>
              </p:nvSpPr>
              <p:spPr>
                <a:xfrm>
                  <a:off x="95250" y="57150"/>
                  <a:ext cx="171600" cy="266700"/>
                </a:xfrm>
                <a:custGeom>
                  <a:rect b="b" l="l" r="r" t="t"/>
                  <a:pathLst>
                    <a:path extrusionOk="0" h="120000" w="120000">
                      <a:moveTo>
                        <a:pt x="80000" y="0"/>
                      </a:moveTo>
                      <a:lnTo>
                        <a:pt x="0" y="60000"/>
                      </a:lnTo>
                      <a:lnTo>
                        <a:pt x="53333" y="60000"/>
                      </a:lnTo>
                      <a:lnTo>
                        <a:pt x="40000" y="120000"/>
                      </a:lnTo>
                      <a:lnTo>
                        <a:pt x="120000" y="60000"/>
                      </a:lnTo>
                      <a:lnTo>
                        <a:pt x="66667" y="60000"/>
                      </a:lnTo>
                      <a:lnTo>
                        <a:pt x="80000" y="0"/>
                      </a:lnTo>
                      <a:close/>
                    </a:path>
                  </a:pathLst>
                </a:custGeom>
                <a:solidFill>
                  <a:srgbClr val="F7DF1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28" name="Google Shape;1228;p75"/>
              <p:cNvSpPr txBox="1"/>
              <p:nvPr/>
            </p:nvSpPr>
            <p:spPr>
              <a:xfrm>
                <a:off x="952500" y="114300"/>
                <a:ext cx="31908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" sz="1200" u="none" cap="none" strike="noStrike">
                    <a:solidFill>
                      <a:srgbClr val="F7DF1E"/>
                    </a:solidFill>
                    <a:latin typeface="Inter"/>
                    <a:ea typeface="Inter"/>
                    <a:cs typeface="Inter"/>
                    <a:sym typeface="Inter"/>
                  </a:rPr>
                  <a:t>Live Challenge</a:t>
                </a:r>
                <a:endParaRPr b="1" i="0" sz="1200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Build a program that checks whether a number is positive, negative, or zero.</a:t>
                </a:r>
                <a:endParaRPr b="0" i="0" sz="97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29" name="Google Shape;1229;p75"/>
          <p:cNvGrpSpPr/>
          <p:nvPr/>
        </p:nvGrpSpPr>
        <p:grpSpPr>
          <a:xfrm>
            <a:off x="4857750" y="952500"/>
            <a:ext cx="3905400" cy="3667200"/>
            <a:chOff x="4857750" y="0"/>
            <a:chExt cx="3905400" cy="3667200"/>
          </a:xfrm>
        </p:grpSpPr>
        <p:sp>
          <p:nvSpPr>
            <p:cNvPr id="1230" name="Google Shape;1230;p75"/>
            <p:cNvSpPr/>
            <p:nvPr/>
          </p:nvSpPr>
          <p:spPr>
            <a:xfrm>
              <a:off x="4857750" y="0"/>
              <a:ext cx="3905400" cy="3667200"/>
            </a:xfrm>
            <a:prstGeom prst="roundRect">
              <a:avLst>
                <a:gd fmla="val 1558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75"/>
            <p:cNvSpPr/>
            <p:nvPr/>
          </p:nvSpPr>
          <p:spPr>
            <a:xfrm>
              <a:off x="4857750" y="0"/>
              <a:ext cx="3905400" cy="304800"/>
            </a:xfrm>
            <a:custGeom>
              <a:rect b="b" l="l" r="r" t="t"/>
              <a:pathLst>
                <a:path extrusionOk="0" h="120000" w="120000">
                  <a:moveTo>
                    <a:pt x="0" y="22500"/>
                  </a:moveTo>
                  <a:cubicBezTo>
                    <a:pt x="0" y="10125"/>
                    <a:pt x="790" y="0"/>
                    <a:pt x="1756" y="0"/>
                  </a:cubicBezTo>
                  <a:lnTo>
                    <a:pt x="118244" y="0"/>
                  </a:lnTo>
                  <a:cubicBezTo>
                    <a:pt x="119210" y="0"/>
                    <a:pt x="120000" y="10125"/>
                    <a:pt x="120000" y="225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75"/>
            <p:cNvSpPr/>
            <p:nvPr/>
          </p:nvSpPr>
          <p:spPr>
            <a:xfrm>
              <a:off x="4972050" y="114300"/>
              <a:ext cx="76200" cy="76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75"/>
            <p:cNvSpPr/>
            <p:nvPr/>
          </p:nvSpPr>
          <p:spPr>
            <a:xfrm>
              <a:off x="5086350" y="114300"/>
              <a:ext cx="76200" cy="76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75"/>
            <p:cNvSpPr/>
            <p:nvPr/>
          </p:nvSpPr>
          <p:spPr>
            <a:xfrm>
              <a:off x="5200650" y="114300"/>
              <a:ext cx="76200" cy="76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75"/>
            <p:cNvSpPr txBox="1"/>
            <p:nvPr/>
          </p:nvSpPr>
          <p:spPr>
            <a:xfrm>
              <a:off x="5381625" y="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rPr>
                <a:t>marks.js</a:t>
              </a:r>
              <a:endParaRPr b="0" i="0" sz="825" u="none" cap="none" strike="noStrike">
                <a:solidFill>
                  <a:srgbClr val="85858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36" name="Google Shape;1236;p75"/>
            <p:cNvSpPr txBox="1"/>
            <p:nvPr/>
          </p:nvSpPr>
          <p:spPr>
            <a:xfrm>
              <a:off x="5048250" y="428625"/>
              <a:ext cx="35244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1" lang="en" sz="975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Chaining conditions with else if</a:t>
              </a:r>
              <a:endParaRPr b="0" i="0" sz="97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marks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75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97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if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(</a:t>
              </a:r>
              <a:r>
                <a:rPr b="0" i="0" lang="en" sz="97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marks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&gt;=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90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 {</a:t>
              </a:r>
              <a:endParaRPr b="0" i="0" sz="97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42875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console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975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log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975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"Grade A"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</a:t>
              </a:r>
              <a:endParaRPr b="0" i="0" sz="97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} </a:t>
              </a:r>
              <a:r>
                <a:rPr b="0" i="0" lang="en" sz="975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else if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(</a:t>
              </a:r>
              <a:r>
                <a:rPr b="0" i="0" lang="en" sz="97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marks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&gt;=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75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 {</a:t>
              </a:r>
              <a:endParaRPr b="0" i="0" sz="97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42875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console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975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log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975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"Grade B"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 </a:t>
              </a:r>
              <a:r>
                <a:rPr b="0" i="1" lang="en" sz="975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Qualifies!</a:t>
              </a:r>
              <a:endParaRPr b="0" i="0" sz="97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} </a:t>
              </a:r>
              <a:r>
                <a:rPr b="0" i="0" lang="en" sz="975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else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{</a:t>
              </a:r>
              <a:endParaRPr b="0" i="0" sz="97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42875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console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975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log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975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"Grade C"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</a:t>
              </a:r>
              <a:endParaRPr b="0" i="0" sz="97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b="0" i="0" sz="97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1" lang="en" sz="975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Shorthand: Ternary Operator</a:t>
              </a:r>
              <a:endParaRPr b="0" i="0" sz="97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1" lang="en" sz="975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Simple checks in a single line</a:t>
              </a:r>
              <a:endParaRPr b="0" i="0" sz="97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result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age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&gt;=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18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?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"Adult"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: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975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"Minor"</a:t>
              </a:r>
              <a:r>
                <a:rPr b="0" i="0" lang="en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97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237" name="Google Shape;1237;p75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2" name="Google Shape;1242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1143000"/>
            <a:ext cx="9600" cy="3390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3" name="Google Shape;1243;p76"/>
          <p:cNvGrpSpPr/>
          <p:nvPr/>
        </p:nvGrpSpPr>
        <p:grpSpPr>
          <a:xfrm>
            <a:off x="8572500" y="4572000"/>
            <a:ext cx="190500" cy="190500"/>
            <a:chOff x="0" y="0"/>
            <a:chExt cx="381000" cy="381000"/>
          </a:xfrm>
        </p:grpSpPr>
        <p:sp>
          <p:nvSpPr>
            <p:cNvPr id="1244" name="Google Shape;1244;p76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10000" name="adj"/>
              </a:avLst>
            </a:pr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76"/>
            <p:cNvSpPr/>
            <p:nvPr/>
          </p:nvSpPr>
          <p:spPr>
            <a:xfrm>
              <a:off x="140017" y="140017"/>
              <a:ext cx="123900" cy="176100"/>
            </a:xfrm>
            <a:custGeom>
              <a:rect b="b" l="l" r="r" t="t"/>
              <a:pathLst>
                <a:path extrusionOk="0" h="120000" w="120000">
                  <a:moveTo>
                    <a:pt x="106154" y="109622"/>
                  </a:moveTo>
                  <a:cubicBezTo>
                    <a:pt x="92308" y="116757"/>
                    <a:pt x="74769" y="120000"/>
                    <a:pt x="57231" y="120000"/>
                  </a:cubicBezTo>
                  <a:cubicBezTo>
                    <a:pt x="36000" y="120000"/>
                    <a:pt x="18462" y="115459"/>
                    <a:pt x="3692" y="107027"/>
                  </a:cubicBezTo>
                  <a:lnTo>
                    <a:pt x="24923" y="84973"/>
                  </a:lnTo>
                  <a:cubicBezTo>
                    <a:pt x="35077" y="90811"/>
                    <a:pt x="47077" y="94703"/>
                    <a:pt x="59077" y="94703"/>
                  </a:cubicBezTo>
                  <a:cubicBezTo>
                    <a:pt x="71077" y="94703"/>
                    <a:pt x="79385" y="91459"/>
                    <a:pt x="79385" y="85622"/>
                  </a:cubicBezTo>
                  <a:cubicBezTo>
                    <a:pt x="79385" y="79135"/>
                    <a:pt x="72000" y="75892"/>
                    <a:pt x="51692" y="72649"/>
                  </a:cubicBezTo>
                  <a:cubicBezTo>
                    <a:pt x="17538" y="66811"/>
                    <a:pt x="0" y="55784"/>
                    <a:pt x="0" y="35027"/>
                  </a:cubicBezTo>
                  <a:cubicBezTo>
                    <a:pt x="0" y="14919"/>
                    <a:pt x="22154" y="0"/>
                    <a:pt x="59077" y="0"/>
                  </a:cubicBezTo>
                  <a:cubicBezTo>
                    <a:pt x="78462" y="0"/>
                    <a:pt x="96000" y="3892"/>
                    <a:pt x="110769" y="11027"/>
                  </a:cubicBezTo>
                  <a:lnTo>
                    <a:pt x="90462" y="33081"/>
                  </a:lnTo>
                  <a:cubicBezTo>
                    <a:pt x="78462" y="27243"/>
                    <a:pt x="67385" y="24000"/>
                    <a:pt x="57231" y="24000"/>
                  </a:cubicBezTo>
                  <a:cubicBezTo>
                    <a:pt x="47077" y="24000"/>
                    <a:pt x="39692" y="27243"/>
                    <a:pt x="39692" y="33081"/>
                  </a:cubicBezTo>
                  <a:cubicBezTo>
                    <a:pt x="39692" y="39568"/>
                    <a:pt x="47077" y="42162"/>
                    <a:pt x="69231" y="46054"/>
                  </a:cubicBezTo>
                  <a:cubicBezTo>
                    <a:pt x="103385" y="51892"/>
                    <a:pt x="120000" y="62270"/>
                    <a:pt x="120000" y="83676"/>
                  </a:cubicBezTo>
                  <a:cubicBezTo>
                    <a:pt x="120000" y="103784"/>
                    <a:pt x="98769" y="120000"/>
                    <a:pt x="57231" y="12000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76"/>
            <p:cNvSpPr/>
            <p:nvPr/>
          </p:nvSpPr>
          <p:spPr>
            <a:xfrm>
              <a:off x="70485" y="143828"/>
              <a:ext cx="39900" cy="1686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lnTo>
                    <a:pt x="0" y="120000"/>
                  </a:lnTo>
                  <a:lnTo>
                    <a:pt x="0" y="0"/>
                  </a:lnTo>
                  <a:lnTo>
                    <a:pt x="12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7" name="Google Shape;1247;p76"/>
          <p:cNvSpPr txBox="1"/>
          <p:nvPr/>
        </p:nvSpPr>
        <p:spPr>
          <a:xfrm>
            <a:off x="381000" y="333375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" sz="2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JavaScript Loops</a:t>
            </a:r>
            <a:endParaRPr b="1" i="0" sz="255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8" name="Google Shape;1248;p76"/>
          <p:cNvSpPr txBox="1"/>
          <p:nvPr/>
        </p:nvSpPr>
        <p:spPr>
          <a:xfrm>
            <a:off x="381000" y="904875"/>
            <a:ext cx="4000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Loops are essential tools used to run the same block of code multiple times, eliminating repetitive typing.</a:t>
            </a:r>
            <a:endParaRPr b="0" i="0" sz="1125" u="none" cap="none" strike="noStrike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They are powered by three core concepts: </a:t>
            </a:r>
            <a:r>
              <a:rPr b="0" i="0" lang="en" sz="1125" u="none" cap="none" strike="noStrike">
                <a:solidFill>
                  <a:srgbClr val="F7DF1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Initialization</a:t>
            </a:r>
            <a:r>
              <a:rPr b="0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" sz="1125" u="none" cap="none" strike="noStrike">
                <a:solidFill>
                  <a:srgbClr val="F7DF1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Condition</a:t>
            </a:r>
            <a:r>
              <a:rPr b="0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0" i="0" lang="en" sz="1125" u="none" cap="none" strike="noStrike">
                <a:solidFill>
                  <a:srgbClr val="F7DF1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Increment</a:t>
            </a:r>
            <a:r>
              <a:rPr b="0" i="0" lang="en" sz="11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25" u="none" cap="none" strike="noStrike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9" name="Google Shape;1249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8250" y="2047875"/>
            <a:ext cx="2286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76"/>
          <p:cNvSpPr txBox="1"/>
          <p:nvPr/>
        </p:nvSpPr>
        <p:spPr>
          <a:xfrm>
            <a:off x="381000" y="3857625"/>
            <a:ext cx="4000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rPr b="1" i="0" lang="en" sz="1013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rPr>
              <a:t>Quick Greeting Example (10 Iterations):</a:t>
            </a:r>
            <a:endParaRPr b="0" i="0" sz="1013" u="none" cap="none" strike="noStrike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69CD6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b="0" i="0" lang="en" sz="900" u="none" cap="none" strike="noStrike">
                <a:solidFill>
                  <a:srgbClr val="D4D4D4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 (</a:t>
            </a:r>
            <a:r>
              <a:rPr b="0" i="0" lang="en" sz="900" u="none" cap="none" strike="noStrike">
                <a:solidFill>
                  <a:srgbClr val="569CD6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let</a:t>
            </a:r>
            <a:r>
              <a:rPr b="0" i="0" lang="en" sz="900" u="none" cap="none" strike="noStrike">
                <a:solidFill>
                  <a:srgbClr val="D4D4D4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" sz="900" u="none" cap="none" strike="noStrike">
                <a:solidFill>
                  <a:srgbClr val="9CDCFE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b="0" i="0" lang="en" sz="900" u="none" cap="none" strike="noStrike">
                <a:solidFill>
                  <a:srgbClr val="D4D4D4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" sz="900" u="none" cap="none" strike="noStrike">
                <a:solidFill>
                  <a:srgbClr val="C586C0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b="0" i="0" lang="en" sz="900" u="none" cap="none" strike="noStrike">
                <a:solidFill>
                  <a:srgbClr val="D4D4D4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" sz="900" u="none" cap="none" strike="noStrike">
                <a:solidFill>
                  <a:srgbClr val="B5CEA8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b="0" i="0" lang="en" sz="900" u="none" cap="none" strike="noStrike">
                <a:solidFill>
                  <a:srgbClr val="D4D4D4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; </a:t>
            </a:r>
            <a:r>
              <a:rPr b="0" i="0" lang="en" sz="900" u="none" cap="none" strike="noStrike">
                <a:solidFill>
                  <a:srgbClr val="9CDCFE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b="0" i="0" lang="en" sz="900" u="none" cap="none" strike="noStrike">
                <a:solidFill>
                  <a:srgbClr val="D4D4D4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" sz="900" u="none" cap="none" strike="noStrike">
                <a:solidFill>
                  <a:srgbClr val="C586C0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&lt;=</a:t>
            </a:r>
            <a:r>
              <a:rPr b="0" i="0" lang="en" sz="900" u="none" cap="none" strike="noStrike">
                <a:solidFill>
                  <a:srgbClr val="D4D4D4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" sz="900" u="none" cap="none" strike="noStrike">
                <a:solidFill>
                  <a:srgbClr val="B5CEA8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10</a:t>
            </a:r>
            <a:r>
              <a:rPr b="0" i="0" lang="en" sz="900" u="none" cap="none" strike="noStrike">
                <a:solidFill>
                  <a:srgbClr val="D4D4D4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; </a:t>
            </a:r>
            <a:r>
              <a:rPr b="0" i="0" lang="en" sz="900" u="none" cap="none" strike="noStrike">
                <a:solidFill>
                  <a:srgbClr val="9CDCFE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b="0" i="0" lang="en" sz="900" u="none" cap="none" strike="noStrike">
                <a:solidFill>
                  <a:srgbClr val="C586C0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++</a:t>
            </a:r>
            <a:r>
              <a:rPr b="0" i="0" lang="en" sz="900" u="none" cap="none" strike="noStrike">
                <a:solidFill>
                  <a:srgbClr val="D4D4D4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) { </a:t>
            </a:r>
            <a:r>
              <a:rPr b="0" i="0" lang="en" sz="900" u="none" cap="none" strike="noStrike">
                <a:solidFill>
                  <a:srgbClr val="9CDCFE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console</a:t>
            </a:r>
            <a:r>
              <a:rPr b="0" i="0" lang="en" sz="900" u="none" cap="none" strike="noStrike">
                <a:solidFill>
                  <a:srgbClr val="D4D4D4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b="0" i="0" lang="en" sz="900" u="none" cap="none" strike="noStrike">
                <a:solidFill>
                  <a:srgbClr val="DCDCAA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log</a:t>
            </a:r>
            <a:r>
              <a:rPr b="0" i="0" lang="en" sz="900" u="none" cap="none" strike="noStrike">
                <a:solidFill>
                  <a:srgbClr val="D4D4D4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b="0" i="0" lang="en" sz="900" u="none" cap="none" strike="noStrike">
                <a:solidFill>
                  <a:srgbClr val="CE9178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"Hello"</a:t>
            </a:r>
            <a:r>
              <a:rPr b="0" i="0" lang="en" sz="900" u="none" cap="none" strike="noStrike">
                <a:solidFill>
                  <a:srgbClr val="D4D4D4"/>
                </a:solidFill>
                <a:highlight>
                  <a:srgbClr val="252526"/>
                </a:highlight>
                <a:latin typeface="Fira Code"/>
                <a:ea typeface="Fira Code"/>
                <a:cs typeface="Fira Code"/>
                <a:sym typeface="Fira Code"/>
              </a:rPr>
              <a:t>); }</a:t>
            </a:r>
            <a:endParaRPr b="0" i="0" sz="900" u="none" cap="none" strike="noStrike">
              <a:solidFill>
                <a:srgbClr val="D4D4D4"/>
              </a:solidFill>
              <a:highlight>
                <a:srgbClr val="252526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rPr b="0" i="1" lang="en" sz="1013" u="none" cap="none" strike="noStrike">
                <a:solidFill>
                  <a:srgbClr val="858585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i="0" lang="en" sz="1013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do...while</a:t>
            </a:r>
            <a:r>
              <a:rPr b="0" i="1" lang="en" sz="1013" u="none" cap="none" strike="noStrike">
                <a:solidFill>
                  <a:srgbClr val="858585"/>
                </a:solidFill>
                <a:latin typeface="Inter"/>
                <a:ea typeface="Inter"/>
                <a:cs typeface="Inter"/>
                <a:sym typeface="Inter"/>
              </a:rPr>
              <a:t> loop is a variation that guarantees the code runs at least once.</a:t>
            </a:r>
            <a:endParaRPr b="0" i="1" sz="1013" u="none" cap="none" strike="noStrike">
              <a:solidFill>
                <a:srgbClr val="85858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51" name="Google Shape;1251;p76"/>
          <p:cNvGrpSpPr/>
          <p:nvPr/>
        </p:nvGrpSpPr>
        <p:grpSpPr>
          <a:xfrm>
            <a:off x="4762500" y="904875"/>
            <a:ext cx="4000500" cy="1762200"/>
            <a:chOff x="0" y="0"/>
            <a:chExt cx="4000500" cy="1762200"/>
          </a:xfrm>
        </p:grpSpPr>
        <p:sp>
          <p:nvSpPr>
            <p:cNvPr id="1252" name="Google Shape;1252;p76"/>
            <p:cNvSpPr/>
            <p:nvPr/>
          </p:nvSpPr>
          <p:spPr>
            <a:xfrm>
              <a:off x="0" y="0"/>
              <a:ext cx="4000500" cy="1762200"/>
            </a:xfrm>
            <a:prstGeom prst="roundRect">
              <a:avLst>
                <a:gd fmla="val 3243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76"/>
            <p:cNvSpPr/>
            <p:nvPr/>
          </p:nvSpPr>
          <p:spPr>
            <a:xfrm>
              <a:off x="0" y="0"/>
              <a:ext cx="4000500" cy="266700"/>
            </a:xfrm>
            <a:prstGeom prst="roundRect">
              <a:avLst>
                <a:gd fmla="val 21428" name="adj"/>
              </a:avLst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76"/>
            <p:cNvSpPr/>
            <p:nvPr/>
          </p:nvSpPr>
          <p:spPr>
            <a:xfrm>
              <a:off x="0" y="133350"/>
              <a:ext cx="4000500" cy="1335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76"/>
            <p:cNvSpPr/>
            <p:nvPr/>
          </p:nvSpPr>
          <p:spPr>
            <a:xfrm>
              <a:off x="104775" y="8572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76"/>
            <p:cNvSpPr/>
            <p:nvPr/>
          </p:nvSpPr>
          <p:spPr>
            <a:xfrm>
              <a:off x="257175" y="8572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76"/>
            <p:cNvSpPr/>
            <p:nvPr/>
          </p:nvSpPr>
          <p:spPr>
            <a:xfrm>
              <a:off x="409575" y="8572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76"/>
            <p:cNvSpPr txBox="1"/>
            <p:nvPr/>
          </p:nvSpPr>
          <p:spPr>
            <a:xfrm>
              <a:off x="619125" y="4762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85858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for-loop.js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76"/>
            <p:cNvSpPr txBox="1"/>
            <p:nvPr/>
          </p:nvSpPr>
          <p:spPr>
            <a:xfrm>
              <a:off x="190500" y="400050"/>
              <a:ext cx="3619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1" lang="en" sz="1088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For Loop (Initialization; Condition; Increment)</a:t>
              </a:r>
              <a:endParaRPr b="0" i="0" sz="1088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" sz="1088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for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(</a:t>
              </a:r>
              <a:r>
                <a:rPr b="0" i="0" lang="en" sz="1088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88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i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88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88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1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 </a:t>
              </a:r>
              <a:r>
                <a:rPr b="0" i="0" lang="en" sz="1088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i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88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&lt;=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88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5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 </a:t>
              </a:r>
              <a:r>
                <a:rPr b="0" i="0" lang="en" sz="1088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i</a:t>
              </a:r>
              <a:r>
                <a:rPr b="0" i="0" lang="en" sz="1088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++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 {</a:t>
              </a:r>
              <a:endParaRPr b="0" i="0" sz="1088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905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" sz="1088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console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1088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log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1088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i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</a:t>
              </a:r>
              <a:endParaRPr b="0" i="0" sz="1088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b="0" i="0" sz="1088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1260" name="Google Shape;1260;p76"/>
          <p:cNvGrpSpPr/>
          <p:nvPr/>
        </p:nvGrpSpPr>
        <p:grpSpPr>
          <a:xfrm>
            <a:off x="4762500" y="2809875"/>
            <a:ext cx="4000500" cy="2000100"/>
            <a:chOff x="0" y="0"/>
            <a:chExt cx="4000500" cy="2000100"/>
          </a:xfrm>
        </p:grpSpPr>
        <p:sp>
          <p:nvSpPr>
            <p:cNvPr id="1261" name="Google Shape;1261;p76"/>
            <p:cNvSpPr/>
            <p:nvPr/>
          </p:nvSpPr>
          <p:spPr>
            <a:xfrm>
              <a:off x="0" y="0"/>
              <a:ext cx="4000500" cy="2000100"/>
            </a:xfrm>
            <a:prstGeom prst="roundRect">
              <a:avLst>
                <a:gd fmla="val 2857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76"/>
            <p:cNvSpPr/>
            <p:nvPr/>
          </p:nvSpPr>
          <p:spPr>
            <a:xfrm>
              <a:off x="0" y="0"/>
              <a:ext cx="4000500" cy="266700"/>
            </a:xfrm>
            <a:prstGeom prst="roundRect">
              <a:avLst>
                <a:gd fmla="val 21428" name="adj"/>
              </a:avLst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76"/>
            <p:cNvSpPr/>
            <p:nvPr/>
          </p:nvSpPr>
          <p:spPr>
            <a:xfrm>
              <a:off x="0" y="133350"/>
              <a:ext cx="4000500" cy="1335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76"/>
            <p:cNvSpPr/>
            <p:nvPr/>
          </p:nvSpPr>
          <p:spPr>
            <a:xfrm>
              <a:off x="104775" y="8572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76"/>
            <p:cNvSpPr/>
            <p:nvPr/>
          </p:nvSpPr>
          <p:spPr>
            <a:xfrm>
              <a:off x="257175" y="8572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76"/>
            <p:cNvSpPr/>
            <p:nvPr/>
          </p:nvSpPr>
          <p:spPr>
            <a:xfrm>
              <a:off x="409575" y="8572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76"/>
            <p:cNvSpPr txBox="1"/>
            <p:nvPr/>
          </p:nvSpPr>
          <p:spPr>
            <a:xfrm>
              <a:off x="619125" y="4762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85858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while-loop.js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76"/>
            <p:cNvSpPr txBox="1"/>
            <p:nvPr/>
          </p:nvSpPr>
          <p:spPr>
            <a:xfrm>
              <a:off x="190500" y="400050"/>
              <a:ext cx="3619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1" lang="en" sz="1088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While Loop (External Initializer &amp; Step inside)</a:t>
              </a:r>
              <a:endParaRPr b="0" i="0" sz="1088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" sz="1088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88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i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88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88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1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088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" sz="1088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while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(</a:t>
              </a:r>
              <a:r>
                <a:rPr b="0" i="0" lang="en" sz="1088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i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88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&lt;=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88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5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 {</a:t>
              </a:r>
              <a:endParaRPr b="0" i="0" sz="1088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905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" sz="1088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console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1088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log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1088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i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</a:t>
              </a:r>
              <a:endParaRPr b="0" i="0" sz="1088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905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" sz="1088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i</a:t>
              </a:r>
              <a:r>
                <a:rPr b="0" i="0" lang="en" sz="1088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++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1088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" sz="108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b="0" i="0" sz="1088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269" name="Google Shape;1269;p76" title="Technical Council Orientation Presentation 20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7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5" name="Google Shape;1275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2475" y="1428750"/>
            <a:ext cx="19200" cy="31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77"/>
          <p:cNvSpPr txBox="1"/>
          <p:nvPr/>
        </p:nvSpPr>
        <p:spPr>
          <a:xfrm>
            <a:off x="381000" y="28575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JavaScript Functions</a:t>
            </a:r>
            <a:endParaRPr b="1" i="0" sz="285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Google Shape;1277;p77"/>
          <p:cNvSpPr txBox="1"/>
          <p:nvPr/>
        </p:nvSpPr>
        <p:spPr>
          <a:xfrm>
            <a:off x="381000" y="809625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D4D4D4"/>
                </a:solidFill>
                <a:latin typeface="Inter Medium"/>
                <a:ea typeface="Inter Medium"/>
                <a:cs typeface="Inter Medium"/>
                <a:sym typeface="Inter Medium"/>
              </a:rPr>
              <a:t>Functions are </a:t>
            </a:r>
            <a:r>
              <a:rPr b="1" i="0" lang="en" sz="1350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rPr>
              <a:t>reusable blocks of code</a:t>
            </a:r>
            <a:r>
              <a:rPr b="0" i="0" lang="en" sz="1350" u="none" cap="none" strike="noStrike">
                <a:solidFill>
                  <a:srgbClr val="D4D4D4"/>
                </a:solidFill>
                <a:latin typeface="Inter Medium"/>
                <a:ea typeface="Inter Medium"/>
                <a:cs typeface="Inter Medium"/>
                <a:sym typeface="Inter Medium"/>
              </a:rPr>
              <a:t> designed to perform a specific task.</a:t>
            </a:r>
            <a:endParaRPr b="0" i="0" sz="1350" u="none" cap="none" strike="noStrike">
              <a:solidFill>
                <a:srgbClr val="D4D4D4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278" name="Google Shape;1278;p77"/>
          <p:cNvGrpSpPr/>
          <p:nvPr/>
        </p:nvGrpSpPr>
        <p:grpSpPr>
          <a:xfrm>
            <a:off x="381000" y="1533525"/>
            <a:ext cx="4000650" cy="381000"/>
            <a:chOff x="381000" y="1533525"/>
            <a:chExt cx="4000650" cy="381000"/>
          </a:xfrm>
        </p:grpSpPr>
        <p:sp>
          <p:nvSpPr>
            <p:cNvPr id="1279" name="Google Shape;1279;p77"/>
            <p:cNvSpPr/>
            <p:nvPr/>
          </p:nvSpPr>
          <p:spPr>
            <a:xfrm>
              <a:off x="381000" y="1571625"/>
              <a:ext cx="1095300" cy="304800"/>
            </a:xfrm>
            <a:prstGeom prst="roundRect">
              <a:avLst>
                <a:gd fmla="val 12500" name="adj"/>
              </a:avLst>
            </a:prstGeom>
            <a:solidFill>
              <a:srgbClr val="252526"/>
            </a:solidFill>
            <a:ln cap="flat" cmpd="sng" w="14300">
              <a:solidFill>
                <a:srgbClr val="569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77"/>
            <p:cNvSpPr txBox="1"/>
            <p:nvPr/>
          </p:nvSpPr>
          <p:spPr>
            <a:xfrm>
              <a:off x="381000" y="1571625"/>
              <a:ext cx="1095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Declaration</a:t>
              </a:r>
              <a:endParaRPr b="1" i="0" sz="825" u="none" cap="none" strike="noStrike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1281" name="Google Shape;1281;p77"/>
            <p:cNvSpPr txBox="1"/>
            <p:nvPr/>
          </p:nvSpPr>
          <p:spPr>
            <a:xfrm>
              <a:off x="1619250" y="1533525"/>
              <a:ext cx="276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Defines a reusable block of code using the </a:t>
              </a:r>
              <a:r>
                <a:rPr b="1" i="0" lang="en" sz="1013" u="none" cap="none" strike="noStrike">
                  <a:solidFill>
                    <a:srgbClr val="569CD6"/>
                  </a:solidFill>
                  <a:latin typeface="Inter"/>
                  <a:ea typeface="Inter"/>
                  <a:cs typeface="Inter"/>
                  <a:sym typeface="Inter"/>
                </a:rPr>
                <a:t>function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keyword.</a:t>
              </a:r>
              <a:endParaRPr b="0" i="0" sz="1013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82" name="Google Shape;1282;p77"/>
          <p:cNvGrpSpPr/>
          <p:nvPr/>
        </p:nvGrpSpPr>
        <p:grpSpPr>
          <a:xfrm>
            <a:off x="381000" y="2105025"/>
            <a:ext cx="4000650" cy="381000"/>
            <a:chOff x="381000" y="2105025"/>
            <a:chExt cx="4000650" cy="381000"/>
          </a:xfrm>
        </p:grpSpPr>
        <p:sp>
          <p:nvSpPr>
            <p:cNvPr id="1283" name="Google Shape;1283;p77"/>
            <p:cNvSpPr/>
            <p:nvPr/>
          </p:nvSpPr>
          <p:spPr>
            <a:xfrm>
              <a:off x="381000" y="2143125"/>
              <a:ext cx="1095300" cy="304800"/>
            </a:xfrm>
            <a:prstGeom prst="roundRect">
              <a:avLst>
                <a:gd fmla="val 12500" name="adj"/>
              </a:avLst>
            </a:prstGeom>
            <a:solidFill>
              <a:srgbClr val="252526"/>
            </a:solidFill>
            <a:ln cap="flat" cmpd="sng" w="14300">
              <a:solidFill>
                <a:srgbClr val="9CDC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77"/>
            <p:cNvSpPr txBox="1"/>
            <p:nvPr/>
          </p:nvSpPr>
          <p:spPr>
            <a:xfrm>
              <a:off x="381000" y="2143125"/>
              <a:ext cx="1095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Parameter</a:t>
              </a:r>
              <a:endParaRPr b="1" i="0" sz="825" u="none" cap="none" strike="noStrike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1285" name="Google Shape;1285;p77"/>
            <p:cNvSpPr txBox="1"/>
            <p:nvPr/>
          </p:nvSpPr>
          <p:spPr>
            <a:xfrm>
              <a:off x="1619250" y="2105025"/>
              <a:ext cx="276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Placeholders listed in the function definition (e.g., </a:t>
              </a:r>
              <a:r>
                <a:rPr b="0" i="0" lang="en" sz="1013" u="none" cap="none" strike="noStrike">
                  <a:solidFill>
                    <a:srgbClr val="9CDCFE"/>
                  </a:solidFill>
                  <a:latin typeface="Inter"/>
                  <a:ea typeface="Inter"/>
                  <a:cs typeface="Inter"/>
                  <a:sym typeface="Inter"/>
                </a:rPr>
                <a:t>a, b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i="0" sz="1013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86" name="Google Shape;1286;p77"/>
          <p:cNvGrpSpPr/>
          <p:nvPr/>
        </p:nvGrpSpPr>
        <p:grpSpPr>
          <a:xfrm>
            <a:off x="381000" y="2676525"/>
            <a:ext cx="4000650" cy="381000"/>
            <a:chOff x="381000" y="2676525"/>
            <a:chExt cx="4000650" cy="381000"/>
          </a:xfrm>
        </p:grpSpPr>
        <p:sp>
          <p:nvSpPr>
            <p:cNvPr id="1287" name="Google Shape;1287;p77"/>
            <p:cNvSpPr/>
            <p:nvPr/>
          </p:nvSpPr>
          <p:spPr>
            <a:xfrm>
              <a:off x="381000" y="2714625"/>
              <a:ext cx="1095300" cy="304800"/>
            </a:xfrm>
            <a:prstGeom prst="roundRect">
              <a:avLst>
                <a:gd fmla="val 12500" name="adj"/>
              </a:avLst>
            </a:prstGeom>
            <a:solidFill>
              <a:srgbClr val="252526"/>
            </a:solidFill>
            <a:ln cap="flat" cmpd="sng" w="14300">
              <a:solidFill>
                <a:srgbClr val="C586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77"/>
            <p:cNvSpPr txBox="1"/>
            <p:nvPr/>
          </p:nvSpPr>
          <p:spPr>
            <a:xfrm>
              <a:off x="381000" y="2714625"/>
              <a:ext cx="1095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Return</a:t>
              </a:r>
              <a:endParaRPr b="1" i="0" sz="825" u="none" cap="none" strike="noStrike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1289" name="Google Shape;1289;p77"/>
            <p:cNvSpPr txBox="1"/>
            <p:nvPr/>
          </p:nvSpPr>
          <p:spPr>
            <a:xfrm>
              <a:off x="1619250" y="2676525"/>
              <a:ext cx="276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Outputs a value back to the code that invoked the function.</a:t>
              </a:r>
              <a:endParaRPr b="0" i="0" sz="1013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0" name="Google Shape;1290;p77"/>
          <p:cNvGrpSpPr/>
          <p:nvPr/>
        </p:nvGrpSpPr>
        <p:grpSpPr>
          <a:xfrm>
            <a:off x="381000" y="3248025"/>
            <a:ext cx="4000650" cy="381000"/>
            <a:chOff x="381000" y="3248025"/>
            <a:chExt cx="4000650" cy="381000"/>
          </a:xfrm>
        </p:grpSpPr>
        <p:sp>
          <p:nvSpPr>
            <p:cNvPr id="1291" name="Google Shape;1291;p77"/>
            <p:cNvSpPr/>
            <p:nvPr/>
          </p:nvSpPr>
          <p:spPr>
            <a:xfrm>
              <a:off x="381000" y="3286125"/>
              <a:ext cx="1095300" cy="304800"/>
            </a:xfrm>
            <a:prstGeom prst="roundRect">
              <a:avLst>
                <a:gd fmla="val 12500" name="adj"/>
              </a:avLst>
            </a:prstGeom>
            <a:solidFill>
              <a:srgbClr val="252526"/>
            </a:solidFill>
            <a:ln cap="flat" cmpd="sng" w="14300">
              <a:solidFill>
                <a:srgbClr val="CE91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77"/>
            <p:cNvSpPr txBox="1"/>
            <p:nvPr/>
          </p:nvSpPr>
          <p:spPr>
            <a:xfrm>
              <a:off x="381000" y="3286125"/>
              <a:ext cx="1095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Argument</a:t>
              </a:r>
              <a:endParaRPr b="1" i="0" sz="825" u="none" cap="none" strike="noStrike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1293" name="Google Shape;1293;p77"/>
            <p:cNvSpPr txBox="1"/>
            <p:nvPr/>
          </p:nvSpPr>
          <p:spPr>
            <a:xfrm>
              <a:off x="1619250" y="3248025"/>
              <a:ext cx="276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The actual values passed into the function when calling it.</a:t>
              </a:r>
              <a:endParaRPr b="0" i="0" sz="1013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4" name="Google Shape;1294;p77"/>
          <p:cNvGrpSpPr/>
          <p:nvPr/>
        </p:nvGrpSpPr>
        <p:grpSpPr>
          <a:xfrm>
            <a:off x="381000" y="3819525"/>
            <a:ext cx="4000650" cy="381000"/>
            <a:chOff x="381000" y="3819525"/>
            <a:chExt cx="4000650" cy="381000"/>
          </a:xfrm>
        </p:grpSpPr>
        <p:sp>
          <p:nvSpPr>
            <p:cNvPr id="1295" name="Google Shape;1295;p77"/>
            <p:cNvSpPr/>
            <p:nvPr/>
          </p:nvSpPr>
          <p:spPr>
            <a:xfrm>
              <a:off x="381000" y="3857625"/>
              <a:ext cx="1095300" cy="304800"/>
            </a:xfrm>
            <a:prstGeom prst="roundRect">
              <a:avLst>
                <a:gd fmla="val 12500" name="adj"/>
              </a:avLst>
            </a:prstGeom>
            <a:solidFill>
              <a:srgbClr val="252526"/>
            </a:solidFill>
            <a:ln cap="flat" cmpd="sng" w="14300">
              <a:solidFill>
                <a:srgbClr val="DCDCA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77"/>
            <p:cNvSpPr txBox="1"/>
            <p:nvPr/>
          </p:nvSpPr>
          <p:spPr>
            <a:xfrm>
              <a:off x="381000" y="3857625"/>
              <a:ext cx="1095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Call / Invoke</a:t>
              </a:r>
              <a:endParaRPr b="1" i="0" sz="825" u="none" cap="none" strike="noStrike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1297" name="Google Shape;1297;p77"/>
            <p:cNvSpPr txBox="1"/>
            <p:nvPr/>
          </p:nvSpPr>
          <p:spPr>
            <a:xfrm>
              <a:off x="1619250" y="3819525"/>
              <a:ext cx="276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Runs the function's block of code by using its name followed by </a:t>
              </a:r>
              <a:r>
                <a:rPr b="0" i="0" lang="en" sz="1013" u="none" cap="none" strike="noStrike">
                  <a:solidFill>
                    <a:srgbClr val="DCDCAA"/>
                  </a:solidFill>
                  <a:latin typeface="Inter"/>
                  <a:ea typeface="Inter"/>
                  <a:cs typeface="Inter"/>
                  <a:sym typeface="Inter"/>
                </a:rPr>
                <a:t>()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i="0" sz="1013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8" name="Google Shape;1298;p77"/>
          <p:cNvGrpSpPr/>
          <p:nvPr/>
        </p:nvGrpSpPr>
        <p:grpSpPr>
          <a:xfrm>
            <a:off x="4762500" y="1428750"/>
            <a:ext cx="4000500" cy="3048000"/>
            <a:chOff x="4762500" y="1428750"/>
            <a:chExt cx="4000500" cy="3048000"/>
          </a:xfrm>
        </p:grpSpPr>
        <p:sp>
          <p:nvSpPr>
            <p:cNvPr id="1299" name="Google Shape;1299;p77"/>
            <p:cNvSpPr/>
            <p:nvPr/>
          </p:nvSpPr>
          <p:spPr>
            <a:xfrm>
              <a:off x="4762500" y="1428750"/>
              <a:ext cx="4000500" cy="3048000"/>
            </a:xfrm>
            <a:prstGeom prst="roundRect">
              <a:avLst>
                <a:gd fmla="val 1875" name="adj"/>
              </a:avLst>
            </a:prstGeom>
            <a:solidFill>
              <a:srgbClr val="252526"/>
            </a:solidFill>
            <a:ln cap="flat" cmpd="sng" w="14300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0" name="Google Shape;1300;p77"/>
            <p:cNvGrpSpPr/>
            <p:nvPr/>
          </p:nvGrpSpPr>
          <p:grpSpPr>
            <a:xfrm>
              <a:off x="4762500" y="1428750"/>
              <a:ext cx="4000500" cy="304950"/>
              <a:chOff x="0" y="0"/>
              <a:chExt cx="4000500" cy="304950"/>
            </a:xfrm>
          </p:grpSpPr>
          <p:sp>
            <p:nvSpPr>
              <p:cNvPr id="1301" name="Google Shape;1301;p77"/>
              <p:cNvSpPr/>
              <p:nvPr/>
            </p:nvSpPr>
            <p:spPr>
              <a:xfrm>
                <a:off x="0" y="0"/>
                <a:ext cx="4000500" cy="304800"/>
              </a:xfrm>
              <a:prstGeom prst="roundRect">
                <a:avLst>
                  <a:gd fmla="val 18750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77"/>
              <p:cNvSpPr/>
              <p:nvPr/>
            </p:nvSpPr>
            <p:spPr>
              <a:xfrm>
                <a:off x="0" y="152400"/>
                <a:ext cx="4000500" cy="152400"/>
              </a:xfrm>
              <a:prstGeom prst="rect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77"/>
              <p:cNvSpPr/>
              <p:nvPr/>
            </p:nvSpPr>
            <p:spPr>
              <a:xfrm>
                <a:off x="95250" y="95250"/>
                <a:ext cx="114300" cy="1143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77"/>
              <p:cNvSpPr/>
              <p:nvPr/>
            </p:nvSpPr>
            <p:spPr>
              <a:xfrm>
                <a:off x="285750" y="95250"/>
                <a:ext cx="114300" cy="1143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77"/>
              <p:cNvSpPr/>
              <p:nvPr/>
            </p:nvSpPr>
            <p:spPr>
              <a:xfrm>
                <a:off x="476250" y="95250"/>
                <a:ext cx="114300" cy="1143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77"/>
              <p:cNvSpPr/>
              <p:nvPr/>
            </p:nvSpPr>
            <p:spPr>
              <a:xfrm>
                <a:off x="762000" y="57150"/>
                <a:ext cx="1143000" cy="247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10000" y="0"/>
                    </a:lnTo>
                    <a:lnTo>
                      <a:pt x="11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2525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77"/>
              <p:cNvSpPr txBox="1"/>
              <p:nvPr/>
            </p:nvSpPr>
            <p:spPr>
              <a:xfrm>
                <a:off x="944994" y="125730"/>
                <a:ext cx="777000" cy="1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D4D4D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functions.js</a:t>
                </a:r>
                <a:endParaRPr b="0" i="0" sz="825" u="none" cap="none" strike="noStrike">
                  <a:solidFill>
                    <a:srgbClr val="D4D4D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1308" name="Google Shape;1308;p77"/>
            <p:cNvSpPr txBox="1"/>
            <p:nvPr/>
          </p:nvSpPr>
          <p:spPr>
            <a:xfrm>
              <a:off x="4905375" y="1857375"/>
              <a:ext cx="3714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1. Declaration (Parameters &amp; Return)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1" i="0" lang="en" sz="1013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function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add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1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a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, </a:t>
              </a:r>
              <a:r>
                <a:rPr b="1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b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 {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1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return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a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+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b;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2. Call / Invoke (with Arguments)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1" i="0" lang="en" sz="1013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result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add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1" i="0" lang="en" sz="101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10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, </a:t>
              </a:r>
              <a:r>
                <a:rPr b="1" i="0" lang="en" sz="101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20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3. Concise Arrow Function Equivalent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1" i="0" lang="en" sz="1013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const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add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(</a:t>
              </a:r>
              <a:r>
                <a:rPr b="1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a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, </a:t>
              </a:r>
              <a:r>
                <a:rPr b="1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b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=&gt;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a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+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b;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309" name="Google Shape;1309;p77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4" name="Google Shape;1314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1143000"/>
            <a:ext cx="96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78"/>
          <p:cNvSpPr txBox="1"/>
          <p:nvPr/>
        </p:nvSpPr>
        <p:spPr>
          <a:xfrm>
            <a:off x="381000" y="285750"/>
            <a:ext cx="8382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JavaScript Arrays</a:t>
            </a:r>
            <a:endParaRPr b="1" i="0" sz="27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Special variables capable of holding multiple values in a single collection.</a:t>
            </a:r>
            <a:endParaRPr b="0" i="0" sz="1350" u="none" cap="none" strike="noStrike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6" name="Google Shape;1316;p78"/>
          <p:cNvSpPr txBox="1"/>
          <p:nvPr/>
        </p:nvSpPr>
        <p:spPr>
          <a:xfrm>
            <a:off x="381000" y="1095375"/>
            <a:ext cx="4000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6"/>
              <a:buFont typeface="Arial"/>
              <a:buNone/>
            </a:pPr>
            <a:r>
              <a:rPr b="0" i="0" lang="en" sz="956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Arrays use </a:t>
            </a:r>
            <a:r>
              <a:rPr b="1" i="0" lang="en" sz="956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rPr>
              <a:t>zero-based indexing</a:t>
            </a:r>
            <a:r>
              <a:rPr b="0" i="0" lang="en" sz="956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, meaning fruits[0] retrieves "Apple".</a:t>
            </a:r>
            <a:endParaRPr b="0" i="0" sz="956" u="none" cap="none" strike="noStrike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56"/>
              <a:buFont typeface="Arial"/>
              <a:buNone/>
            </a:pPr>
            <a:r>
              <a:rPr b="0" i="0" lang="en" sz="956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Check the total items dynamically using the fruits.length property.</a:t>
            </a:r>
            <a:endParaRPr b="0" i="0" sz="956" u="none" cap="none" strike="noStrike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17" name="Google Shape;1317;p78"/>
          <p:cNvGrpSpPr/>
          <p:nvPr/>
        </p:nvGrpSpPr>
        <p:grpSpPr>
          <a:xfrm>
            <a:off x="457200" y="1828800"/>
            <a:ext cx="1190700" cy="523800"/>
            <a:chOff x="0" y="0"/>
            <a:chExt cx="1190700" cy="523800"/>
          </a:xfrm>
        </p:grpSpPr>
        <p:sp>
          <p:nvSpPr>
            <p:cNvPr id="1318" name="Google Shape;1318;p78"/>
            <p:cNvSpPr/>
            <p:nvPr/>
          </p:nvSpPr>
          <p:spPr>
            <a:xfrm>
              <a:off x="0" y="0"/>
              <a:ext cx="1190700" cy="523800"/>
            </a:xfrm>
            <a:prstGeom prst="roundRect">
              <a:avLst>
                <a:gd fmla="val 10909" name="adj"/>
              </a:avLst>
            </a:prstGeom>
            <a:solidFill>
              <a:srgbClr val="252526"/>
            </a:solidFill>
            <a:ln cap="flat" cmpd="sng" w="14300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9" name="Google Shape;1319;p78"/>
            <p:cNvCxnSpPr/>
            <p:nvPr/>
          </p:nvCxnSpPr>
          <p:spPr>
            <a:xfrm>
              <a:off x="0" y="209550"/>
              <a:ext cx="11907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0" name="Google Shape;1320;p78"/>
            <p:cNvSpPr txBox="1"/>
            <p:nvPr/>
          </p:nvSpPr>
          <p:spPr>
            <a:xfrm>
              <a:off x="0" y="19050"/>
              <a:ext cx="1190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858585"/>
                  </a:solidFill>
                  <a:latin typeface="Fira Code"/>
                  <a:ea typeface="Fira Code"/>
                  <a:cs typeface="Fira Code"/>
                  <a:sym typeface="Fira Code"/>
                </a:rPr>
                <a:t>index [0]</a:t>
              </a:r>
              <a:endParaRPr b="0" i="0" sz="825" u="none" cap="none" strike="noStrike">
                <a:solidFill>
                  <a:srgbClr val="858585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1321" name="Google Shape;1321;p78"/>
            <p:cNvSpPr txBox="1"/>
            <p:nvPr/>
          </p:nvSpPr>
          <p:spPr>
            <a:xfrm>
              <a:off x="0" y="247650"/>
              <a:ext cx="11907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"Apple"</a:t>
              </a:r>
              <a:endParaRPr b="1" i="0" sz="1050" u="none" cap="none" strike="noStrike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1322" name="Google Shape;1322;p78"/>
          <p:cNvGrpSpPr/>
          <p:nvPr/>
        </p:nvGrpSpPr>
        <p:grpSpPr>
          <a:xfrm>
            <a:off x="1790700" y="1828800"/>
            <a:ext cx="1190700" cy="523800"/>
            <a:chOff x="0" y="0"/>
            <a:chExt cx="1190700" cy="523800"/>
          </a:xfrm>
        </p:grpSpPr>
        <p:sp>
          <p:nvSpPr>
            <p:cNvPr id="1323" name="Google Shape;1323;p78"/>
            <p:cNvSpPr/>
            <p:nvPr/>
          </p:nvSpPr>
          <p:spPr>
            <a:xfrm>
              <a:off x="0" y="0"/>
              <a:ext cx="1190700" cy="523800"/>
            </a:xfrm>
            <a:prstGeom prst="roundRect">
              <a:avLst>
                <a:gd fmla="val 10909" name="adj"/>
              </a:avLst>
            </a:prstGeom>
            <a:solidFill>
              <a:srgbClr val="252526"/>
            </a:solidFill>
            <a:ln cap="flat" cmpd="sng" w="14300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4" name="Google Shape;1324;p78"/>
            <p:cNvCxnSpPr/>
            <p:nvPr/>
          </p:nvCxnSpPr>
          <p:spPr>
            <a:xfrm>
              <a:off x="0" y="209550"/>
              <a:ext cx="11907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5" name="Google Shape;1325;p78"/>
            <p:cNvSpPr txBox="1"/>
            <p:nvPr/>
          </p:nvSpPr>
          <p:spPr>
            <a:xfrm>
              <a:off x="0" y="19050"/>
              <a:ext cx="1190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858585"/>
                  </a:solidFill>
                  <a:latin typeface="Fira Code"/>
                  <a:ea typeface="Fira Code"/>
                  <a:cs typeface="Fira Code"/>
                  <a:sym typeface="Fira Code"/>
                </a:rPr>
                <a:t>index [1]</a:t>
              </a:r>
              <a:endParaRPr b="0" i="0" sz="825" u="none" cap="none" strike="noStrike">
                <a:solidFill>
                  <a:srgbClr val="858585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1326" name="Google Shape;1326;p78"/>
            <p:cNvSpPr txBox="1"/>
            <p:nvPr/>
          </p:nvSpPr>
          <p:spPr>
            <a:xfrm>
              <a:off x="0" y="247650"/>
              <a:ext cx="11907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"Banana"</a:t>
              </a:r>
              <a:endParaRPr b="1" i="0" sz="1050" u="none" cap="none" strike="noStrike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1327" name="Google Shape;1327;p78"/>
          <p:cNvGrpSpPr/>
          <p:nvPr/>
        </p:nvGrpSpPr>
        <p:grpSpPr>
          <a:xfrm>
            <a:off x="3124200" y="1828800"/>
            <a:ext cx="1190700" cy="523800"/>
            <a:chOff x="0" y="0"/>
            <a:chExt cx="1190700" cy="523800"/>
          </a:xfrm>
        </p:grpSpPr>
        <p:sp>
          <p:nvSpPr>
            <p:cNvPr id="1328" name="Google Shape;1328;p78"/>
            <p:cNvSpPr/>
            <p:nvPr/>
          </p:nvSpPr>
          <p:spPr>
            <a:xfrm>
              <a:off x="0" y="0"/>
              <a:ext cx="1190700" cy="523800"/>
            </a:xfrm>
            <a:prstGeom prst="roundRect">
              <a:avLst>
                <a:gd fmla="val 10909" name="adj"/>
              </a:avLst>
            </a:prstGeom>
            <a:solidFill>
              <a:srgbClr val="252526"/>
            </a:solidFill>
            <a:ln cap="flat" cmpd="sng" w="14300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9" name="Google Shape;1329;p78"/>
            <p:cNvCxnSpPr/>
            <p:nvPr/>
          </p:nvCxnSpPr>
          <p:spPr>
            <a:xfrm>
              <a:off x="0" y="209550"/>
              <a:ext cx="11907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0" name="Google Shape;1330;p78"/>
            <p:cNvSpPr txBox="1"/>
            <p:nvPr/>
          </p:nvSpPr>
          <p:spPr>
            <a:xfrm>
              <a:off x="0" y="19050"/>
              <a:ext cx="1190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858585"/>
                  </a:solidFill>
                  <a:latin typeface="Fira Code"/>
                  <a:ea typeface="Fira Code"/>
                  <a:cs typeface="Fira Code"/>
                  <a:sym typeface="Fira Code"/>
                </a:rPr>
                <a:t>index [2]</a:t>
              </a:r>
              <a:endParaRPr b="0" i="0" sz="825" u="none" cap="none" strike="noStrike">
                <a:solidFill>
                  <a:srgbClr val="858585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1331" name="Google Shape;1331;p78"/>
            <p:cNvSpPr txBox="1"/>
            <p:nvPr/>
          </p:nvSpPr>
          <p:spPr>
            <a:xfrm>
              <a:off x="0" y="247650"/>
              <a:ext cx="11907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" sz="1050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"Mango"</a:t>
              </a:r>
              <a:endParaRPr b="1" i="0" sz="1050" u="none" cap="none" strike="noStrike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1332" name="Google Shape;1332;p78"/>
          <p:cNvGrpSpPr/>
          <p:nvPr/>
        </p:nvGrpSpPr>
        <p:grpSpPr>
          <a:xfrm>
            <a:off x="381000" y="2552700"/>
            <a:ext cx="4000500" cy="2019300"/>
            <a:chOff x="0" y="0"/>
            <a:chExt cx="4000500" cy="2019300"/>
          </a:xfrm>
        </p:grpSpPr>
        <p:sp>
          <p:nvSpPr>
            <p:cNvPr id="1333" name="Google Shape;1333;p78"/>
            <p:cNvSpPr/>
            <p:nvPr/>
          </p:nvSpPr>
          <p:spPr>
            <a:xfrm>
              <a:off x="0" y="0"/>
              <a:ext cx="4000500" cy="2019300"/>
            </a:xfrm>
            <a:prstGeom prst="roundRect">
              <a:avLst>
                <a:gd fmla="val 3773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78"/>
            <p:cNvSpPr/>
            <p:nvPr/>
          </p:nvSpPr>
          <p:spPr>
            <a:xfrm>
              <a:off x="0" y="0"/>
              <a:ext cx="57300" cy="2019300"/>
            </a:xfrm>
            <a:prstGeom prst="roundRect">
              <a:avLst>
                <a:gd fmla="val 50000" name="adj"/>
              </a:avLst>
            </a:pr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5" name="Google Shape;1335;p78"/>
            <p:cNvGrpSpPr/>
            <p:nvPr/>
          </p:nvGrpSpPr>
          <p:grpSpPr>
            <a:xfrm>
              <a:off x="190500" y="190500"/>
              <a:ext cx="342900" cy="342900"/>
              <a:chOff x="0" y="0"/>
              <a:chExt cx="381000" cy="381000"/>
            </a:xfrm>
          </p:grpSpPr>
          <p:sp>
            <p:nvSpPr>
              <p:cNvPr id="1336" name="Google Shape;1336;p78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7DF1E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78"/>
              <p:cNvSpPr/>
              <p:nvPr/>
            </p:nvSpPr>
            <p:spPr>
              <a:xfrm>
                <a:off x="95250" y="57150"/>
                <a:ext cx="171600" cy="266700"/>
              </a:xfrm>
              <a:custGeom>
                <a:rect b="b" l="l" r="r" t="t"/>
                <a:pathLst>
                  <a:path extrusionOk="0" h="120000" w="120000">
                    <a:moveTo>
                      <a:pt x="80000" y="0"/>
                    </a:moveTo>
                    <a:lnTo>
                      <a:pt x="0" y="60000"/>
                    </a:lnTo>
                    <a:lnTo>
                      <a:pt x="53333" y="60000"/>
                    </a:lnTo>
                    <a:lnTo>
                      <a:pt x="40000" y="120000"/>
                    </a:lnTo>
                    <a:lnTo>
                      <a:pt x="120000" y="60000"/>
                    </a:lnTo>
                    <a:lnTo>
                      <a:pt x="66667" y="60000"/>
                    </a:lnTo>
                    <a:lnTo>
                      <a:pt x="80000" y="0"/>
                    </a:lnTo>
                    <a:close/>
                  </a:path>
                </a:pathLst>
              </a:custGeom>
              <a:solidFill>
                <a:srgbClr val="F7DF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38" name="Google Shape;1338;p78"/>
            <p:cNvSpPr txBox="1"/>
            <p:nvPr/>
          </p:nvSpPr>
          <p:spPr>
            <a:xfrm>
              <a:off x="666750" y="171450"/>
              <a:ext cx="3143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Live Challenge</a:t>
              </a:r>
              <a:endParaRPr b="1" i="0" sz="1500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" sz="1088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Create an array of </a:t>
              </a:r>
              <a:r>
                <a:rPr b="1" i="0" lang="en" sz="1088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5 favorite movies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and print each one using a standard loop.</a:t>
              </a:r>
              <a:endParaRPr b="0" i="0" sz="1088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38"/>
                <a:buFont typeface="Arial"/>
                <a:buNone/>
              </a:pPr>
              <a:r>
                <a:rPr b="0" i="0" lang="en" sz="938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Expected Console Output:</a:t>
              </a:r>
              <a:endParaRPr b="0" i="0" sz="938" u="none" cap="none" strike="noStrik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38"/>
                <a:buFont typeface="Arial"/>
                <a:buNone/>
              </a:pPr>
              <a:r>
                <a:rPr b="0" i="0" lang="en" sz="938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Movie: Inception</a:t>
              </a:r>
              <a:br>
                <a:rPr b="0" i="0" lang="en" sz="938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</a:br>
              <a:r>
                <a:rPr b="0" i="0" lang="en" sz="938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Movie: Interstellar</a:t>
              </a:r>
              <a:br>
                <a:rPr b="0" i="0" lang="en" sz="938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</a:br>
              <a:r>
                <a:rPr b="0" i="0" lang="en" sz="938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rPr>
                <a:t>Movie: The Matrix...</a:t>
              </a:r>
              <a:endParaRPr b="0" i="0" sz="938" u="none" cap="none" strike="noStrike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1339" name="Google Shape;1339;p78"/>
          <p:cNvGrpSpPr/>
          <p:nvPr/>
        </p:nvGrpSpPr>
        <p:grpSpPr>
          <a:xfrm>
            <a:off x="4525000" y="1143000"/>
            <a:ext cx="9144000" cy="3476700"/>
            <a:chOff x="0" y="0"/>
            <a:chExt cx="9144000" cy="3476700"/>
          </a:xfrm>
        </p:grpSpPr>
        <p:sp>
          <p:nvSpPr>
            <p:cNvPr id="1340" name="Google Shape;1340;p78"/>
            <p:cNvSpPr/>
            <p:nvPr/>
          </p:nvSpPr>
          <p:spPr>
            <a:xfrm>
              <a:off x="0" y="0"/>
              <a:ext cx="4000500" cy="3476700"/>
            </a:xfrm>
            <a:prstGeom prst="roundRect">
              <a:avLst>
                <a:gd fmla="val 2191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1" name="Google Shape;1341;p78"/>
            <p:cNvGrpSpPr/>
            <p:nvPr/>
          </p:nvGrpSpPr>
          <p:grpSpPr>
            <a:xfrm>
              <a:off x="0" y="0"/>
              <a:ext cx="9144000" cy="304800"/>
              <a:chOff x="0" y="0"/>
              <a:chExt cx="9144000" cy="304800"/>
            </a:xfrm>
          </p:grpSpPr>
          <p:pic>
            <p:nvPicPr>
              <p:cNvPr id="1342" name="Google Shape;1342;p7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0"/>
                <a:ext cx="91440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3" name="Google Shape;1343;p7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0" y="152400"/>
                <a:ext cx="9144000" cy="152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44" name="Google Shape;1344;p78"/>
              <p:cNvSpPr/>
              <p:nvPr/>
            </p:nvSpPr>
            <p:spPr>
              <a:xfrm>
                <a:off x="95250" y="95250"/>
                <a:ext cx="114300" cy="1143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78"/>
              <p:cNvSpPr/>
              <p:nvPr/>
            </p:nvSpPr>
            <p:spPr>
              <a:xfrm>
                <a:off x="285750" y="95250"/>
                <a:ext cx="114300" cy="1143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78"/>
              <p:cNvSpPr/>
              <p:nvPr/>
            </p:nvSpPr>
            <p:spPr>
              <a:xfrm>
                <a:off x="476250" y="95250"/>
                <a:ext cx="114300" cy="1143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7" name="Google Shape;1347;p78"/>
            <p:cNvSpPr txBox="1"/>
            <p:nvPr/>
          </p:nvSpPr>
          <p:spPr>
            <a:xfrm>
              <a:off x="762000" y="571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85858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arrays.js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78"/>
            <p:cNvSpPr txBox="1"/>
            <p:nvPr/>
          </p:nvSpPr>
          <p:spPr>
            <a:xfrm>
              <a:off x="209550" y="495300"/>
              <a:ext cx="3619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1. Declaration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fruits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[</a:t>
              </a:r>
              <a:r>
                <a:rPr b="0" i="0" lang="en" sz="101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"Apple"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, </a:t>
              </a:r>
              <a:r>
                <a:rPr b="0" i="0" lang="en" sz="101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"Banana"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, </a:t>
              </a:r>
              <a:r>
                <a:rPr b="0" i="0" lang="en" sz="101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"Mango"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];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2. Modifying with Methods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fruits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1013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push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101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"Orange"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 </a:t>
              </a: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Adds to end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fruits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1013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pop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(); </a:t>
              </a: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Removes from end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fruits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1013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shift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(); </a:t>
              </a: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Removes from start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fruits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1013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unshift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101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"Kiwi"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 </a:t>
              </a: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Adds to start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1" lang="en" sz="101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3. Looping through the array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for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(</a:t>
              </a:r>
              <a:r>
                <a:rPr b="0" i="0" lang="en" sz="1013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let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fruit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of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fruits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 {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1905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console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1013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log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101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fruit</a:t>
              </a: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b="0" i="0" sz="101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349" name="Google Shape;1349;p78" title="Technical Council Orientation Presentation 202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4" name="Google Shape;1354;p7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55" name="Google Shape;1355;p7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56" name="Google Shape;1356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67238" y="1143000"/>
              <a:ext cx="9600" cy="3390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79"/>
            <p:cNvSpPr/>
            <p:nvPr/>
          </p:nvSpPr>
          <p:spPr>
            <a:xfrm>
              <a:off x="8572500" y="4619625"/>
              <a:ext cx="190500" cy="190500"/>
            </a:xfrm>
            <a:prstGeom prst="roundRect">
              <a:avLst>
                <a:gd fmla="val 10000" name="adj"/>
              </a:avLst>
            </a:pr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8" name="Google Shape;1358;p79"/>
          <p:cNvGrpSpPr/>
          <p:nvPr/>
        </p:nvGrpSpPr>
        <p:grpSpPr>
          <a:xfrm>
            <a:off x="381000" y="285750"/>
            <a:ext cx="8334375" cy="571500"/>
            <a:chOff x="0" y="0"/>
            <a:chExt cx="8334375" cy="571500"/>
          </a:xfrm>
        </p:grpSpPr>
        <p:grpSp>
          <p:nvGrpSpPr>
            <p:cNvPr id="1359" name="Google Shape;1359;p79"/>
            <p:cNvGrpSpPr/>
            <p:nvPr/>
          </p:nvGrpSpPr>
          <p:grpSpPr>
            <a:xfrm>
              <a:off x="0" y="76200"/>
              <a:ext cx="247650" cy="247650"/>
              <a:chOff x="0" y="0"/>
              <a:chExt cx="381000" cy="381000"/>
            </a:xfrm>
          </p:grpSpPr>
          <p:sp>
            <p:nvSpPr>
              <p:cNvPr id="1360" name="Google Shape;1360;p79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7DF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79"/>
              <p:cNvSpPr/>
              <p:nvPr/>
            </p:nvSpPr>
            <p:spPr>
              <a:xfrm>
                <a:off x="140017" y="140017"/>
                <a:ext cx="123900" cy="176100"/>
              </a:xfrm>
              <a:custGeom>
                <a:rect b="b" l="l" r="r" t="t"/>
                <a:pathLst>
                  <a:path extrusionOk="0" h="120000" w="120000">
                    <a:moveTo>
                      <a:pt x="106154" y="109622"/>
                    </a:moveTo>
                    <a:cubicBezTo>
                      <a:pt x="92308" y="116757"/>
                      <a:pt x="74769" y="120000"/>
                      <a:pt x="57231" y="120000"/>
                    </a:cubicBezTo>
                    <a:cubicBezTo>
                      <a:pt x="36000" y="120000"/>
                      <a:pt x="18462" y="115459"/>
                      <a:pt x="3692" y="107027"/>
                    </a:cubicBezTo>
                    <a:lnTo>
                      <a:pt x="24923" y="84973"/>
                    </a:lnTo>
                    <a:cubicBezTo>
                      <a:pt x="35077" y="90811"/>
                      <a:pt x="47077" y="94703"/>
                      <a:pt x="59077" y="94703"/>
                    </a:cubicBezTo>
                    <a:cubicBezTo>
                      <a:pt x="71077" y="94703"/>
                      <a:pt x="79385" y="91459"/>
                      <a:pt x="79385" y="85622"/>
                    </a:cubicBezTo>
                    <a:cubicBezTo>
                      <a:pt x="79385" y="79135"/>
                      <a:pt x="72000" y="75892"/>
                      <a:pt x="51692" y="72649"/>
                    </a:cubicBezTo>
                    <a:cubicBezTo>
                      <a:pt x="17538" y="66811"/>
                      <a:pt x="0" y="55784"/>
                      <a:pt x="0" y="35027"/>
                    </a:cubicBezTo>
                    <a:cubicBezTo>
                      <a:pt x="0" y="14919"/>
                      <a:pt x="22154" y="0"/>
                      <a:pt x="59077" y="0"/>
                    </a:cubicBezTo>
                    <a:cubicBezTo>
                      <a:pt x="78462" y="0"/>
                      <a:pt x="96000" y="3892"/>
                      <a:pt x="110769" y="11027"/>
                    </a:cubicBezTo>
                    <a:lnTo>
                      <a:pt x="90462" y="33081"/>
                    </a:lnTo>
                    <a:cubicBezTo>
                      <a:pt x="78462" y="27243"/>
                      <a:pt x="67385" y="24000"/>
                      <a:pt x="57231" y="24000"/>
                    </a:cubicBezTo>
                    <a:cubicBezTo>
                      <a:pt x="47077" y="24000"/>
                      <a:pt x="39692" y="27243"/>
                      <a:pt x="39692" y="33081"/>
                    </a:cubicBezTo>
                    <a:cubicBezTo>
                      <a:pt x="39692" y="39568"/>
                      <a:pt x="47077" y="42162"/>
                      <a:pt x="69231" y="46054"/>
                    </a:cubicBezTo>
                    <a:cubicBezTo>
                      <a:pt x="103385" y="51892"/>
                      <a:pt x="120000" y="62270"/>
                      <a:pt x="120000" y="83676"/>
                    </a:cubicBezTo>
                    <a:cubicBezTo>
                      <a:pt x="120000" y="103784"/>
                      <a:pt x="98769" y="120000"/>
                      <a:pt x="57231" y="12000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79"/>
              <p:cNvSpPr/>
              <p:nvPr/>
            </p:nvSpPr>
            <p:spPr>
              <a:xfrm>
                <a:off x="70485" y="143828"/>
                <a:ext cx="39900" cy="168600"/>
              </a:xfrm>
              <a:custGeom>
                <a:rect b="b" l="l" r="r" t="t"/>
                <a:pathLst>
                  <a:path extrusionOk="0" h="120000" w="120000">
                    <a:moveTo>
                      <a:pt x="120000" y="120000"/>
                    </a:moveTo>
                    <a:lnTo>
                      <a:pt x="0" y="120000"/>
                    </a:lnTo>
                    <a:lnTo>
                      <a:pt x="0" y="0"/>
                    </a:lnTo>
                    <a:lnTo>
                      <a:pt x="12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3" name="Google Shape;1363;p79"/>
            <p:cNvSpPr txBox="1"/>
            <p:nvPr/>
          </p:nvSpPr>
          <p:spPr>
            <a:xfrm>
              <a:off x="333375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JavaScript Data Structures: Objects</a:t>
              </a:r>
              <a:endParaRPr b="1" i="0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64" name="Google Shape;1364;p79"/>
          <p:cNvGrpSpPr/>
          <p:nvPr/>
        </p:nvGrpSpPr>
        <p:grpSpPr>
          <a:xfrm>
            <a:off x="381000" y="1047750"/>
            <a:ext cx="3905400" cy="3667050"/>
            <a:chOff x="381000" y="1047750"/>
            <a:chExt cx="3905400" cy="3667050"/>
          </a:xfrm>
        </p:grpSpPr>
        <p:grpSp>
          <p:nvGrpSpPr>
            <p:cNvPr id="1365" name="Google Shape;1365;p79"/>
            <p:cNvGrpSpPr/>
            <p:nvPr/>
          </p:nvGrpSpPr>
          <p:grpSpPr>
            <a:xfrm>
              <a:off x="381000" y="1047750"/>
              <a:ext cx="3905400" cy="1428900"/>
              <a:chOff x="0" y="0"/>
              <a:chExt cx="3905400" cy="1428900"/>
            </a:xfrm>
          </p:grpSpPr>
          <p:sp>
            <p:nvSpPr>
              <p:cNvPr id="1366" name="Google Shape;1366;p79"/>
              <p:cNvSpPr/>
              <p:nvPr/>
            </p:nvSpPr>
            <p:spPr>
              <a:xfrm>
                <a:off x="0" y="0"/>
                <a:ext cx="3905400" cy="1428900"/>
              </a:xfrm>
              <a:prstGeom prst="roundRect">
                <a:avLst>
                  <a:gd fmla="val 4000" name="adj"/>
                </a:avLst>
              </a:prstGeom>
              <a:solidFill>
                <a:srgbClr val="252526"/>
              </a:solidFill>
              <a:ln cap="flat" cmpd="sng" w="9525">
                <a:solidFill>
                  <a:srgbClr val="3E3E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p79"/>
              <p:cNvSpPr txBox="1"/>
              <p:nvPr/>
            </p:nvSpPr>
            <p:spPr>
              <a:xfrm>
                <a:off x="190500" y="190500"/>
                <a:ext cx="35244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rPr b="0" i="0" lang="en" sz="1350" u="none" cap="none" strike="noStrike">
                    <a:solidFill>
                      <a:srgbClr val="F7DF1E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Objects vs. Arrays</a:t>
                </a:r>
                <a:endParaRPr b="0" i="0" sz="1350" u="none" cap="none" strike="noStrike">
                  <a:solidFill>
                    <a:srgbClr val="F7DF1E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25"/>
                  <a:buFont typeface="Arial"/>
                  <a:buNone/>
                </a:pPr>
                <a:r>
                  <a:rPr b="0" i="0" lang="en" sz="1125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While </a:t>
                </a:r>
                <a:r>
                  <a:rPr b="0" i="0" lang="en" sz="1125" u="none" cap="none" strike="noStrike">
                    <a:solidFill>
                      <a:srgbClr val="569CD6"/>
                    </a:solidFill>
                    <a:latin typeface="Inter"/>
                    <a:ea typeface="Inter"/>
                    <a:cs typeface="Inter"/>
                    <a:sym typeface="Inter"/>
                  </a:rPr>
                  <a:t>arrays</a:t>
                </a:r>
                <a:r>
                  <a:rPr b="0" i="0" lang="en" sz="1125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 are ordered collections of values, </a:t>
                </a:r>
                <a:r>
                  <a:rPr b="0" i="0" lang="en" sz="1125" u="none" cap="none" strike="noStrike">
                    <a:solidFill>
                      <a:srgbClr val="569CD6"/>
                    </a:solidFill>
                    <a:latin typeface="Inter"/>
                    <a:ea typeface="Inter"/>
                    <a:cs typeface="Inter"/>
                    <a:sym typeface="Inter"/>
                  </a:rPr>
                  <a:t>Objects</a:t>
                </a:r>
                <a:r>
                  <a:rPr b="0" i="0" lang="en" sz="1125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 store related information structured as key-value pairs.</a:t>
                </a:r>
                <a:endParaRPr b="0" i="0" sz="112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68" name="Google Shape;1368;p79"/>
            <p:cNvGrpSpPr/>
            <p:nvPr/>
          </p:nvGrpSpPr>
          <p:grpSpPr>
            <a:xfrm>
              <a:off x="381000" y="2667000"/>
              <a:ext cx="3905400" cy="2047800"/>
              <a:chOff x="0" y="0"/>
              <a:chExt cx="3905400" cy="2047800"/>
            </a:xfrm>
          </p:grpSpPr>
          <p:sp>
            <p:nvSpPr>
              <p:cNvPr id="1369" name="Google Shape;1369;p79"/>
              <p:cNvSpPr/>
              <p:nvPr/>
            </p:nvSpPr>
            <p:spPr>
              <a:xfrm>
                <a:off x="0" y="0"/>
                <a:ext cx="3905400" cy="2047800"/>
              </a:xfrm>
              <a:prstGeom prst="roundRect">
                <a:avLst>
                  <a:gd fmla="val 2790" name="adj"/>
                </a:avLst>
              </a:prstGeom>
              <a:solidFill>
                <a:srgbClr val="252526"/>
              </a:solidFill>
              <a:ln cap="flat" cmpd="sng" w="9525">
                <a:solidFill>
                  <a:srgbClr val="3E3E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79"/>
              <p:cNvSpPr txBox="1"/>
              <p:nvPr/>
            </p:nvSpPr>
            <p:spPr>
              <a:xfrm>
                <a:off x="190500" y="190500"/>
                <a:ext cx="35244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rPr b="0" i="0" lang="en" sz="1350" u="none" cap="none" strike="noStrike">
                    <a:solidFill>
                      <a:srgbClr val="007AC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Working with Properties</a:t>
                </a:r>
                <a:endParaRPr b="0" i="0" sz="1350" u="none" cap="none" strike="noStrike">
                  <a:solidFill>
                    <a:srgbClr val="007AC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25"/>
                  <a:buFont typeface="Arial"/>
                  <a:buNone/>
                </a:pPr>
                <a:r>
                  <a:rPr b="1" i="0" lang="en" sz="1125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Dot Notation:</a:t>
                </a:r>
                <a:r>
                  <a:rPr b="0" i="0" lang="en" sz="1125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 Access object properties easily using a dot (e.g., </a:t>
                </a:r>
                <a:r>
                  <a:rPr b="0" i="0" lang="en" sz="1050" u="none" cap="none" strike="noStrike">
                    <a:solidFill>
                      <a:srgbClr val="F7DF1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student.name</a:t>
                </a:r>
                <a:r>
                  <a:rPr b="0" i="0" lang="en" sz="1125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 or </a:t>
                </a:r>
                <a:r>
                  <a:rPr b="0" i="0" lang="en" sz="1050" u="none" cap="none" strike="noStrike">
                    <a:solidFill>
                      <a:srgbClr val="F7DF1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student.age</a:t>
                </a:r>
                <a:r>
                  <a:rPr b="0" i="0" lang="en" sz="1125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).</a:t>
                </a:r>
                <a:endParaRPr b="0" i="0" sz="112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125"/>
                  <a:buFont typeface="Arial"/>
                  <a:buNone/>
                </a:pPr>
                <a:r>
                  <a:rPr b="1" i="0" lang="en" sz="1125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On-the-Fly Modification:</a:t>
                </a:r>
                <a:r>
                  <a:rPr b="0" i="0" lang="en" sz="1125" u="none" cap="none" strike="noStrike">
                    <a:solidFill>
                      <a:srgbClr val="D4D4D4"/>
                    </a:solidFill>
                    <a:latin typeface="Inter"/>
                    <a:ea typeface="Inter"/>
                    <a:cs typeface="Inter"/>
                    <a:sym typeface="Inter"/>
                  </a:rPr>
                  <a:t> You can easily update existing properties or add new ones at any time using a simple assignment.</a:t>
                </a:r>
                <a:endParaRPr b="0" i="0" sz="112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71" name="Google Shape;1371;p79"/>
          <p:cNvGrpSpPr/>
          <p:nvPr/>
        </p:nvGrpSpPr>
        <p:grpSpPr>
          <a:xfrm>
            <a:off x="4762500" y="1047750"/>
            <a:ext cx="4000500" cy="3667275"/>
            <a:chOff x="4762500" y="1047750"/>
            <a:chExt cx="4000500" cy="3667275"/>
          </a:xfrm>
        </p:grpSpPr>
        <p:grpSp>
          <p:nvGrpSpPr>
            <p:cNvPr id="1372" name="Google Shape;1372;p79"/>
            <p:cNvGrpSpPr/>
            <p:nvPr/>
          </p:nvGrpSpPr>
          <p:grpSpPr>
            <a:xfrm>
              <a:off x="4762500" y="1047750"/>
              <a:ext cx="4000500" cy="2476500"/>
              <a:chOff x="0" y="0"/>
              <a:chExt cx="4000500" cy="2476500"/>
            </a:xfrm>
          </p:grpSpPr>
          <p:sp>
            <p:nvSpPr>
              <p:cNvPr id="1373" name="Google Shape;1373;p79"/>
              <p:cNvSpPr/>
              <p:nvPr/>
            </p:nvSpPr>
            <p:spPr>
              <a:xfrm>
                <a:off x="0" y="0"/>
                <a:ext cx="4000500" cy="2476500"/>
              </a:xfrm>
              <a:prstGeom prst="roundRect">
                <a:avLst>
                  <a:gd fmla="val 2307" name="adj"/>
                </a:avLst>
              </a:prstGeom>
              <a:solidFill>
                <a:srgbClr val="252526"/>
              </a:solidFill>
              <a:ln cap="flat" cmpd="sng" w="9525">
                <a:solidFill>
                  <a:srgbClr val="3E3E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74" name="Google Shape;1374;p79"/>
              <p:cNvGrpSpPr/>
              <p:nvPr/>
            </p:nvGrpSpPr>
            <p:grpSpPr>
              <a:xfrm>
                <a:off x="0" y="0"/>
                <a:ext cx="4000500" cy="304800"/>
                <a:chOff x="0" y="0"/>
                <a:chExt cx="4000500" cy="304800"/>
              </a:xfrm>
            </p:grpSpPr>
            <p:sp>
              <p:nvSpPr>
                <p:cNvPr id="1375" name="Google Shape;1375;p79"/>
                <p:cNvSpPr/>
                <p:nvPr/>
              </p:nvSpPr>
              <p:spPr>
                <a:xfrm>
                  <a:off x="0" y="0"/>
                  <a:ext cx="40005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6" name="Google Shape;1376;p79"/>
                <p:cNvSpPr/>
                <p:nvPr/>
              </p:nvSpPr>
              <p:spPr>
                <a:xfrm>
                  <a:off x="0" y="152400"/>
                  <a:ext cx="4000500" cy="152400"/>
                </a:xfrm>
                <a:prstGeom prst="rect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7" name="Google Shape;1377;p79"/>
                <p:cNvSpPr/>
                <p:nvPr/>
              </p:nvSpPr>
              <p:spPr>
                <a:xfrm>
                  <a:off x="95250" y="95250"/>
                  <a:ext cx="114300" cy="114300"/>
                </a:xfrm>
                <a:prstGeom prst="ellipse">
                  <a:avLst/>
                </a:prstGeom>
                <a:solidFill>
                  <a:srgbClr val="FF5F5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8" name="Google Shape;1378;p79"/>
                <p:cNvSpPr/>
                <p:nvPr/>
              </p:nvSpPr>
              <p:spPr>
                <a:xfrm>
                  <a:off x="285750" y="95250"/>
                  <a:ext cx="114300" cy="114300"/>
                </a:xfrm>
                <a:prstGeom prst="ellipse">
                  <a:avLst/>
                </a:prstGeom>
                <a:solidFill>
                  <a:srgbClr val="FFBD2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9" name="Google Shape;1379;p79"/>
                <p:cNvSpPr/>
                <p:nvPr/>
              </p:nvSpPr>
              <p:spPr>
                <a:xfrm>
                  <a:off x="476250" y="95250"/>
                  <a:ext cx="114300" cy="114300"/>
                </a:xfrm>
                <a:prstGeom prst="ellipse">
                  <a:avLst/>
                </a:prstGeom>
                <a:solidFill>
                  <a:srgbClr val="27C93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80" name="Google Shape;1380;p79"/>
              <p:cNvSpPr txBox="1"/>
              <p:nvPr/>
            </p:nvSpPr>
            <p:spPr>
              <a:xfrm>
                <a:off x="666750" y="571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858585"/>
                    </a:solidFill>
                    <a:latin typeface="Inter"/>
                    <a:ea typeface="Inter"/>
                    <a:cs typeface="Inter"/>
                    <a:sym typeface="Inter"/>
                  </a:rPr>
                  <a:t>student_record.js</a:t>
                </a:r>
                <a:endParaRPr b="0" i="0" sz="825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1" name="Google Shape;1381;p79"/>
              <p:cNvSpPr txBox="1"/>
              <p:nvPr/>
            </p:nvSpPr>
            <p:spPr>
              <a:xfrm>
                <a:off x="190500" y="428625"/>
                <a:ext cx="3619500" cy="19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14"/>
                  <a:buFont typeface="Arial"/>
                  <a:buNone/>
                </a:pPr>
                <a:r>
                  <a:rPr b="0" i="0" lang="en" sz="814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let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student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=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{</a:t>
                </a:r>
                <a:endParaRPr b="0" i="0" sz="814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190500" marR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Pts val="814"/>
                  <a:buFont typeface="Arial"/>
                  <a:buNone/>
                </a:pPr>
                <a:r>
                  <a:rPr b="0" i="0" lang="en" sz="814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name</a:t>
                </a:r>
                <a:r>
                  <a:rPr b="0" i="0" lang="en" sz="814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: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"Rahul"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</a:t>
                </a:r>
                <a:endParaRPr b="0" i="0" sz="814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190500" marR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Pts val="814"/>
                  <a:buFont typeface="Arial"/>
                  <a:buNone/>
                </a:pPr>
                <a:r>
                  <a:rPr b="0" i="0" lang="en" sz="814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age</a:t>
                </a:r>
                <a:r>
                  <a:rPr b="0" i="0" lang="en" sz="814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: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B5CEA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20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</a:t>
                </a:r>
                <a:endParaRPr b="0" i="0" sz="814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190500" marR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Pts val="814"/>
                  <a:buFont typeface="Arial"/>
                  <a:buNone/>
                </a:pPr>
                <a:r>
                  <a:rPr b="0" i="0" lang="en" sz="814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course</a:t>
                </a:r>
                <a:r>
                  <a:rPr b="0" i="0" lang="en" sz="814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: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"Web Development"</a:t>
                </a:r>
                <a:endParaRPr b="0" i="0" sz="814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Pts val="814"/>
                  <a:buFont typeface="Arial"/>
                  <a:buNone/>
                </a:pP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};</a:t>
                </a:r>
                <a:endParaRPr b="0" i="0" sz="814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Pts val="814"/>
                  <a:buFont typeface="Arial"/>
                  <a:buNone/>
                </a:pPr>
                <a:r>
                  <a:rPr b="0" i="1" lang="en" sz="814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// Modify &amp; Add properties</a:t>
                </a:r>
                <a:endParaRPr b="0" i="0" sz="814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Pts val="814"/>
                  <a:buFont typeface="Arial"/>
                  <a:buNone/>
                </a:pPr>
                <a:r>
                  <a:rPr b="0" i="0" lang="en" sz="814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student</a:t>
                </a:r>
                <a:r>
                  <a:rPr b="0" i="0" lang="en" sz="814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.</a:t>
                </a:r>
                <a:r>
                  <a:rPr b="0" i="0" lang="en" sz="814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age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=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B5CEA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21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;</a:t>
                </a:r>
                <a:endParaRPr b="0" i="0" sz="814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Pts val="814"/>
                  <a:buFont typeface="Arial"/>
                  <a:buNone/>
                </a:pPr>
                <a:r>
                  <a:rPr b="0" i="0" lang="en" sz="814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student</a:t>
                </a:r>
                <a:r>
                  <a:rPr b="0" i="0" lang="en" sz="814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.</a:t>
                </a:r>
                <a:r>
                  <a:rPr b="0" i="0" lang="en" sz="814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city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=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"Ahmedabad"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;</a:t>
                </a:r>
                <a:endParaRPr b="0" i="0" sz="814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Pts val="814"/>
                  <a:buFont typeface="Arial"/>
                  <a:buNone/>
                </a:pPr>
                <a:r>
                  <a:rPr b="0" i="1" lang="en" sz="814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// Practical Example</a:t>
                </a:r>
                <a:endParaRPr b="0" i="0" sz="814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450"/>
                  </a:spcAft>
                  <a:buClr>
                    <a:srgbClr val="000000"/>
                  </a:buClr>
                  <a:buSzPts val="814"/>
                  <a:buFont typeface="Arial"/>
                  <a:buNone/>
                </a:pPr>
                <a:r>
                  <a:rPr b="0" i="0" lang="en" sz="814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let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product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=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{ </a:t>
                </a:r>
                <a:r>
                  <a:rPr b="0" i="0" lang="en" sz="814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name</a:t>
                </a:r>
                <a:r>
                  <a:rPr b="0" i="0" lang="en" sz="814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: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"Laptop"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814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price</a:t>
                </a:r>
                <a:r>
                  <a:rPr b="0" i="0" lang="en" sz="814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: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B5CEA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50000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814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inStock</a:t>
                </a:r>
                <a:r>
                  <a:rPr b="0" i="0" lang="en" sz="814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: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:r>
                  <a:rPr b="0" i="0" lang="en" sz="814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true</a:t>
                </a:r>
                <a:r>
                  <a:rPr b="0" i="0" lang="en" sz="814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};</a:t>
                </a:r>
                <a:endParaRPr b="0" i="0" sz="814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grpSp>
          <p:nvGrpSpPr>
            <p:cNvPr id="1382" name="Google Shape;1382;p79"/>
            <p:cNvGrpSpPr/>
            <p:nvPr/>
          </p:nvGrpSpPr>
          <p:grpSpPr>
            <a:xfrm>
              <a:off x="4762500" y="3667125"/>
              <a:ext cx="4000500" cy="1047900"/>
              <a:chOff x="0" y="0"/>
              <a:chExt cx="4000500" cy="1047900"/>
            </a:xfrm>
          </p:grpSpPr>
          <p:sp>
            <p:nvSpPr>
              <p:cNvPr id="1383" name="Google Shape;1383;p79"/>
              <p:cNvSpPr/>
              <p:nvPr/>
            </p:nvSpPr>
            <p:spPr>
              <a:xfrm>
                <a:off x="0" y="0"/>
                <a:ext cx="4000500" cy="1047900"/>
              </a:xfrm>
              <a:prstGeom prst="roundRect">
                <a:avLst>
                  <a:gd fmla="val 5454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3E3E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79"/>
              <p:cNvSpPr/>
              <p:nvPr/>
            </p:nvSpPr>
            <p:spPr>
              <a:xfrm>
                <a:off x="0" y="0"/>
                <a:ext cx="4000500" cy="238200"/>
              </a:xfrm>
              <a:prstGeom prst="roundRect">
                <a:avLst>
                  <a:gd fmla="val 24000" name="adj"/>
                </a:avLst>
              </a:prstGeom>
              <a:solidFill>
                <a:srgbClr val="1E1E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79"/>
              <p:cNvSpPr/>
              <p:nvPr/>
            </p:nvSpPr>
            <p:spPr>
              <a:xfrm>
                <a:off x="0" y="142875"/>
                <a:ext cx="4000500" cy="95400"/>
              </a:xfrm>
              <a:prstGeom prst="rect">
                <a:avLst/>
              </a:prstGeom>
              <a:solidFill>
                <a:srgbClr val="1E1E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79"/>
              <p:cNvSpPr txBox="1"/>
              <p:nvPr/>
            </p:nvSpPr>
            <p:spPr>
              <a:xfrm>
                <a:off x="142875" y="38100"/>
                <a:ext cx="952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858585"/>
                    </a:solidFill>
                    <a:latin typeface="Inter"/>
                    <a:ea typeface="Inter"/>
                    <a:cs typeface="Inter"/>
                    <a:sym typeface="Inter"/>
                  </a:rPr>
                  <a:t>Console</a:t>
                </a:r>
                <a:endParaRPr b="0" i="0" sz="825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1387" name="Google Shape;1387;p79"/>
              <p:cNvGrpSpPr/>
              <p:nvPr/>
            </p:nvGrpSpPr>
            <p:grpSpPr>
              <a:xfrm>
                <a:off x="153829" y="340043"/>
                <a:ext cx="178245" cy="137573"/>
                <a:chOff x="38100" y="38100"/>
                <a:chExt cx="209700" cy="161850"/>
              </a:xfrm>
            </p:grpSpPr>
            <p:sp>
              <p:nvSpPr>
                <p:cNvPr id="1388" name="Google Shape;1388;p79"/>
                <p:cNvSpPr/>
                <p:nvPr/>
              </p:nvSpPr>
              <p:spPr>
                <a:xfrm>
                  <a:off x="38100" y="38100"/>
                  <a:ext cx="76200" cy="152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120000" y="60000"/>
                      </a:lnTo>
                      <a:lnTo>
                        <a:pt x="0" y="12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28575">
                  <a:solidFill>
                    <a:srgbClr val="569CD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9" name="Google Shape;1389;p79"/>
                <p:cNvSpPr/>
                <p:nvPr/>
              </p:nvSpPr>
              <p:spPr>
                <a:xfrm>
                  <a:off x="152400" y="171450"/>
                  <a:ext cx="95400" cy="28500"/>
                </a:xfrm>
                <a:prstGeom prst="rect">
                  <a:avLst/>
                </a:prstGeom>
                <a:solidFill>
                  <a:srgbClr val="D4D4D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90" name="Google Shape;1390;p79"/>
              <p:cNvSpPr txBox="1"/>
              <p:nvPr/>
            </p:nvSpPr>
            <p:spPr>
              <a:xfrm>
                <a:off x="428625" y="333375"/>
                <a:ext cx="3429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1" lang="en" sz="975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console.log(student.name); </a:t>
                </a:r>
                <a:r>
                  <a:rPr b="0" i="0" lang="en" sz="975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"Rahul"</a:t>
                </a:r>
                <a:endParaRPr b="0" i="0" sz="975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1" lang="en" sz="975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console.log(student.age); </a:t>
                </a:r>
                <a:r>
                  <a:rPr b="0" i="0" lang="en" sz="975" u="none" cap="none" strike="noStrike">
                    <a:solidFill>
                      <a:srgbClr val="B5CEA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21</a:t>
                </a:r>
                <a:endParaRPr b="0" i="0" sz="975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1" lang="en" sz="975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console.log(student.city); </a:t>
                </a:r>
                <a:r>
                  <a:rPr b="0" i="0" lang="en" sz="975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"Ahmedabad"</a:t>
                </a:r>
                <a:endParaRPr b="0" i="0" sz="975" u="none" cap="none" strike="noStrike">
                  <a:solidFill>
                    <a:srgbClr val="B5CEA8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</p:grpSp>
      <p:pic>
        <p:nvPicPr>
          <p:cNvPr id="1391" name="Google Shape;1391;p79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6" name="Google Shape;1396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1143000"/>
            <a:ext cx="9600" cy="3390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7" name="Google Shape;1397;p80"/>
          <p:cNvGrpSpPr/>
          <p:nvPr/>
        </p:nvGrpSpPr>
        <p:grpSpPr>
          <a:xfrm>
            <a:off x="381000" y="1143000"/>
            <a:ext cx="3810000" cy="3619425"/>
            <a:chOff x="381000" y="1143000"/>
            <a:chExt cx="3810000" cy="3619425"/>
          </a:xfrm>
        </p:grpSpPr>
        <p:sp>
          <p:nvSpPr>
            <p:cNvPr id="1398" name="Google Shape;1398;p80"/>
            <p:cNvSpPr txBox="1"/>
            <p:nvPr/>
          </p:nvSpPr>
          <p:spPr>
            <a:xfrm>
              <a:off x="381000" y="1143000"/>
              <a:ext cx="3810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" sz="1088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When the browser reads your HTML, it creates a </a:t>
              </a:r>
              <a:r>
                <a:rPr b="1" i="0" lang="en" sz="1088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DOM Tree</a:t>
              </a:r>
              <a:r>
                <a:rPr b="0" i="0" lang="en" sz="1088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—a structured, hierarchical representation of the page.</a:t>
              </a:r>
              <a:endParaRPr b="0" i="0" sz="1088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" sz="1088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It serves as a programming interface for web documents.</a:t>
              </a:r>
              <a:endParaRPr b="0" i="0" sz="1088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99" name="Google Shape;1399;p80"/>
            <p:cNvGrpSpPr/>
            <p:nvPr/>
          </p:nvGrpSpPr>
          <p:grpSpPr>
            <a:xfrm>
              <a:off x="1333500" y="2000250"/>
              <a:ext cx="1905000" cy="2143050"/>
              <a:chOff x="1333500" y="2000250"/>
              <a:chExt cx="1905000" cy="2143050"/>
            </a:xfrm>
          </p:grpSpPr>
          <p:cxnSp>
            <p:nvCxnSpPr>
              <p:cNvPr id="1400" name="Google Shape;1400;p80"/>
              <p:cNvCxnSpPr/>
              <p:nvPr/>
            </p:nvCxnSpPr>
            <p:spPr>
              <a:xfrm>
                <a:off x="2286000" y="2524125"/>
                <a:ext cx="0" cy="285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7AC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1" name="Google Shape;1401;p80"/>
              <p:cNvCxnSpPr/>
              <p:nvPr/>
            </p:nvCxnSpPr>
            <p:spPr>
              <a:xfrm>
                <a:off x="2286000" y="3333750"/>
                <a:ext cx="0" cy="285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7ACC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402" name="Google Shape;1402;p80"/>
              <p:cNvGrpSpPr/>
              <p:nvPr/>
            </p:nvGrpSpPr>
            <p:grpSpPr>
              <a:xfrm>
                <a:off x="1333500" y="2000250"/>
                <a:ext cx="1905000" cy="523800"/>
                <a:chOff x="0" y="0"/>
                <a:chExt cx="1905000" cy="523800"/>
              </a:xfrm>
            </p:grpSpPr>
            <p:sp>
              <p:nvSpPr>
                <p:cNvPr id="1403" name="Google Shape;1403;p80"/>
                <p:cNvSpPr/>
                <p:nvPr/>
              </p:nvSpPr>
              <p:spPr>
                <a:xfrm>
                  <a:off x="0" y="0"/>
                  <a:ext cx="1905000" cy="523800"/>
                </a:xfrm>
                <a:prstGeom prst="roundRect">
                  <a:avLst>
                    <a:gd fmla="val 10909" name="adj"/>
                  </a:avLst>
                </a:prstGeom>
                <a:solidFill>
                  <a:srgbClr val="252526"/>
                </a:solidFill>
                <a:ln cap="flat" cmpd="sng" w="19050">
                  <a:solidFill>
                    <a:srgbClr val="007AC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4" name="Google Shape;1404;p80"/>
                <p:cNvSpPr txBox="1"/>
                <p:nvPr/>
              </p:nvSpPr>
              <p:spPr>
                <a:xfrm>
                  <a:off x="95250" y="47625"/>
                  <a:ext cx="17145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rPr b="0" i="0" lang="en" sz="1050" u="none" cap="none" strike="noStrike">
                      <a:solidFill>
                        <a:srgbClr val="569CD6"/>
                      </a:solidFill>
                      <a:latin typeface="Fira Code"/>
                      <a:ea typeface="Fira Code"/>
                      <a:cs typeface="Fira Code"/>
                      <a:sym typeface="Fira Code"/>
                    </a:rPr>
                    <a:t>document</a:t>
                  </a:r>
                  <a:endParaRPr b="0" i="0" sz="1050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15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" sz="825" u="none" cap="none" strike="noStrike">
                      <a:solidFill>
                        <a:srgbClr val="858585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Root Node</a:t>
                  </a:r>
                  <a:endParaRPr b="0" i="0" sz="825" u="none" cap="none" strike="noStrike">
                    <a:solidFill>
                      <a:srgbClr val="858585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405" name="Google Shape;1405;p80"/>
              <p:cNvGrpSpPr/>
              <p:nvPr/>
            </p:nvGrpSpPr>
            <p:grpSpPr>
              <a:xfrm>
                <a:off x="1333500" y="2809875"/>
                <a:ext cx="1905000" cy="523800"/>
                <a:chOff x="0" y="0"/>
                <a:chExt cx="1905000" cy="523800"/>
              </a:xfrm>
            </p:grpSpPr>
            <p:sp>
              <p:nvSpPr>
                <p:cNvPr id="1406" name="Google Shape;1406;p80"/>
                <p:cNvSpPr/>
                <p:nvPr/>
              </p:nvSpPr>
              <p:spPr>
                <a:xfrm>
                  <a:off x="0" y="0"/>
                  <a:ext cx="1905000" cy="523800"/>
                </a:xfrm>
                <a:prstGeom prst="roundRect">
                  <a:avLst>
                    <a:gd fmla="val 10909" name="adj"/>
                  </a:avLst>
                </a:prstGeom>
                <a:solidFill>
                  <a:srgbClr val="252526"/>
                </a:solidFill>
                <a:ln cap="flat" cmpd="sng" w="19050">
                  <a:solidFill>
                    <a:srgbClr val="007AC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7" name="Google Shape;1407;p80"/>
                <p:cNvSpPr txBox="1"/>
                <p:nvPr/>
              </p:nvSpPr>
              <p:spPr>
                <a:xfrm>
                  <a:off x="95250" y="47625"/>
                  <a:ext cx="17145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rPr b="0" i="0" lang="en" sz="1050" u="none" cap="none" strike="noStrike">
                      <a:solidFill>
                        <a:srgbClr val="569CD6"/>
                      </a:solidFill>
                      <a:latin typeface="Fira Code"/>
                      <a:ea typeface="Fira Code"/>
                      <a:cs typeface="Fira Code"/>
                      <a:sym typeface="Fira Code"/>
                    </a:rPr>
                    <a:t>&lt;body&gt;</a:t>
                  </a:r>
                  <a:endParaRPr b="0" i="0" sz="1050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15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" sz="825" u="none" cap="none" strike="noStrike">
                      <a:solidFill>
                        <a:srgbClr val="858585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Hierarchical Parent</a:t>
                  </a:r>
                  <a:endParaRPr b="0" i="0" sz="825" u="none" cap="none" strike="noStrike">
                    <a:solidFill>
                      <a:srgbClr val="858585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408" name="Google Shape;1408;p80"/>
              <p:cNvGrpSpPr/>
              <p:nvPr/>
            </p:nvGrpSpPr>
            <p:grpSpPr>
              <a:xfrm>
                <a:off x="1333500" y="3619500"/>
                <a:ext cx="1905000" cy="523800"/>
                <a:chOff x="0" y="0"/>
                <a:chExt cx="1905000" cy="523800"/>
              </a:xfrm>
            </p:grpSpPr>
            <p:sp>
              <p:nvSpPr>
                <p:cNvPr id="1409" name="Google Shape;1409;p80"/>
                <p:cNvSpPr/>
                <p:nvPr/>
              </p:nvSpPr>
              <p:spPr>
                <a:xfrm>
                  <a:off x="0" y="0"/>
                  <a:ext cx="1905000" cy="523800"/>
                </a:xfrm>
                <a:prstGeom prst="roundRect">
                  <a:avLst>
                    <a:gd fmla="val 10909" name="adj"/>
                  </a:avLst>
                </a:prstGeom>
                <a:solidFill>
                  <a:srgbClr val="252526"/>
                </a:solidFill>
                <a:ln cap="flat" cmpd="sng" w="19050">
                  <a:solidFill>
                    <a:srgbClr val="F7DF1E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0" name="Google Shape;1410;p80"/>
                <p:cNvSpPr txBox="1"/>
                <p:nvPr/>
              </p:nvSpPr>
              <p:spPr>
                <a:xfrm>
                  <a:off x="95250" y="47625"/>
                  <a:ext cx="17145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rPr b="0" i="0" lang="en" sz="1050" u="none" cap="none" strike="noStrike">
                      <a:solidFill>
                        <a:srgbClr val="F7DF1E"/>
                      </a:solidFill>
                      <a:latin typeface="Fira Code"/>
                      <a:ea typeface="Fira Code"/>
                      <a:cs typeface="Fira Code"/>
                      <a:sym typeface="Fira Code"/>
                    </a:rPr>
                    <a:t>&lt;h1 id="title"&gt;</a:t>
                  </a:r>
                  <a:endParaRPr b="0" i="0" sz="1050" u="none" cap="none" strike="noStrike">
                    <a:solidFill>
                      <a:srgbClr val="F7DF1E"/>
                    </a:solidFill>
                    <a:latin typeface="Fira Code"/>
                    <a:ea typeface="Fira Code"/>
                    <a:cs typeface="Fira Code"/>
                    <a:sym typeface="Fira Code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15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25"/>
                    <a:buFont typeface="Arial"/>
                    <a:buNone/>
                  </a:pPr>
                  <a:r>
                    <a:rPr b="0" i="0" lang="en" sz="825" u="none" cap="none" strike="noStrike">
                      <a:solidFill>
                        <a:srgbClr val="CE917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"Hello"</a:t>
                  </a:r>
                  <a:endParaRPr b="0" i="0" sz="825" u="none" cap="none" strike="noStrike">
                    <a:solidFill>
                      <a:srgbClr val="CE9178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sp>
          <p:nvSpPr>
            <p:cNvPr id="1411" name="Google Shape;1411;p80"/>
            <p:cNvSpPr txBox="1"/>
            <p:nvPr/>
          </p:nvSpPr>
          <p:spPr>
            <a:xfrm>
              <a:off x="381000" y="4238625"/>
              <a:ext cx="3810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0" i="0" lang="en" sz="975" u="none" cap="none" strike="noStrike">
                  <a:solidFill>
                    <a:srgbClr val="CE9178"/>
                  </a:solidFill>
                  <a:latin typeface="Inter"/>
                  <a:ea typeface="Inter"/>
                  <a:cs typeface="Inter"/>
                  <a:sym typeface="Inter"/>
                </a:rPr>
                <a:t>For example, &lt;h1 id="title"&gt;Hello&lt;/h1&gt; becomes a selectable node in this tree.</a:t>
              </a:r>
              <a:endParaRPr b="0" i="0" sz="975" u="none" cap="none" strike="noStrike">
                <a:solidFill>
                  <a:srgbClr val="CE917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2" name="Google Shape;1412;p80"/>
          <p:cNvGrpSpPr/>
          <p:nvPr/>
        </p:nvGrpSpPr>
        <p:grpSpPr>
          <a:xfrm>
            <a:off x="4857750" y="1143000"/>
            <a:ext cx="3905400" cy="3619425"/>
            <a:chOff x="4857750" y="1143000"/>
            <a:chExt cx="3905400" cy="3619425"/>
          </a:xfrm>
        </p:grpSpPr>
        <p:sp>
          <p:nvSpPr>
            <p:cNvPr id="1413" name="Google Shape;1413;p80"/>
            <p:cNvSpPr txBox="1"/>
            <p:nvPr/>
          </p:nvSpPr>
          <p:spPr>
            <a:xfrm>
              <a:off x="4857750" y="1143000"/>
              <a:ext cx="3905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45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" sz="1088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JavaScript uses targeted query methods to search through and locate these nodes in the active document model.</a:t>
              </a:r>
              <a:endParaRPr b="0" i="0" sz="1088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14" name="Google Shape;1414;p80"/>
            <p:cNvGrpSpPr/>
            <p:nvPr/>
          </p:nvGrpSpPr>
          <p:grpSpPr>
            <a:xfrm>
              <a:off x="4857750" y="1857375"/>
              <a:ext cx="3905400" cy="2190900"/>
              <a:chOff x="0" y="0"/>
              <a:chExt cx="3905400" cy="2190900"/>
            </a:xfrm>
          </p:grpSpPr>
          <p:sp>
            <p:nvSpPr>
              <p:cNvPr id="1415" name="Google Shape;1415;p80"/>
              <p:cNvSpPr/>
              <p:nvPr/>
            </p:nvSpPr>
            <p:spPr>
              <a:xfrm>
                <a:off x="0" y="0"/>
                <a:ext cx="3905400" cy="2190900"/>
              </a:xfrm>
              <a:prstGeom prst="roundRect">
                <a:avLst>
                  <a:gd fmla="val 2608" name="adj"/>
                </a:avLst>
              </a:prstGeom>
              <a:solidFill>
                <a:srgbClr val="252526"/>
              </a:solidFill>
              <a:ln cap="flat" cmpd="sng" w="9525">
                <a:solidFill>
                  <a:srgbClr val="3E3E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80"/>
              <p:cNvSpPr/>
              <p:nvPr/>
            </p:nvSpPr>
            <p:spPr>
              <a:xfrm>
                <a:off x="0" y="0"/>
                <a:ext cx="3905400" cy="304800"/>
              </a:xfrm>
              <a:custGeom>
                <a:rect b="b" l="l" r="r" t="t"/>
                <a:pathLst>
                  <a:path extrusionOk="0" h="120000" w="120000">
                    <a:moveTo>
                      <a:pt x="0" y="22500"/>
                    </a:moveTo>
                    <a:cubicBezTo>
                      <a:pt x="0" y="10074"/>
                      <a:pt x="786" y="0"/>
                      <a:pt x="1756" y="0"/>
                    </a:cubicBezTo>
                    <a:lnTo>
                      <a:pt x="118244" y="0"/>
                    </a:lnTo>
                    <a:cubicBezTo>
                      <a:pt x="119214" y="1"/>
                      <a:pt x="120000" y="10074"/>
                      <a:pt x="120000" y="225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80"/>
              <p:cNvSpPr/>
              <p:nvPr/>
            </p:nvSpPr>
            <p:spPr>
              <a:xfrm>
                <a:off x="95250" y="95250"/>
                <a:ext cx="114300" cy="1143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80"/>
              <p:cNvSpPr/>
              <p:nvPr/>
            </p:nvSpPr>
            <p:spPr>
              <a:xfrm>
                <a:off x="285750" y="95250"/>
                <a:ext cx="114300" cy="1143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80"/>
              <p:cNvSpPr/>
              <p:nvPr/>
            </p:nvSpPr>
            <p:spPr>
              <a:xfrm>
                <a:off x="476250" y="95250"/>
                <a:ext cx="114300" cy="1143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80"/>
              <p:cNvSpPr txBox="1"/>
              <p:nvPr/>
            </p:nvSpPr>
            <p:spPr>
              <a:xfrm>
                <a:off x="1428750" y="57150"/>
                <a:ext cx="1047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0" i="0" lang="en" sz="825" u="none" cap="none" strike="noStrike">
                    <a:solidFill>
                      <a:srgbClr val="85858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query_methods.js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80"/>
              <p:cNvSpPr txBox="1"/>
              <p:nvPr/>
            </p:nvSpPr>
            <p:spPr>
              <a:xfrm>
                <a:off x="142875" y="447675"/>
                <a:ext cx="36195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1" lang="en" sz="975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// 1. Select specific element by ID</a:t>
                </a:r>
                <a:endParaRPr b="0" i="0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document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.</a:t>
                </a:r>
                <a:r>
                  <a:rPr b="0" i="0" lang="en" sz="975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getElementById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(</a:t>
                </a:r>
                <a:r>
                  <a:rPr b="0" i="0" lang="en" sz="975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"title"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);</a:t>
                </a:r>
                <a:endParaRPr b="0" i="0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1" lang="en" sz="975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// 2. Select first matching element by selector</a:t>
                </a:r>
                <a:endParaRPr b="0" i="0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document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.</a:t>
                </a:r>
                <a:r>
                  <a:rPr b="0" i="0" lang="en" sz="975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querySelector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(</a:t>
                </a:r>
                <a:r>
                  <a:rPr b="0" i="0" lang="en" sz="975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".class-name"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);</a:t>
                </a:r>
                <a:endParaRPr b="0" i="0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1" lang="en" sz="975" u="none" cap="none" strike="noStrike">
                    <a:solidFill>
                      <a:srgbClr val="6A9955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// 3. Select all matching elements in a node collection</a:t>
                </a:r>
                <a:endParaRPr b="0" i="0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75"/>
                  <a:buFont typeface="Arial"/>
                  <a:buNone/>
                </a:pPr>
                <a:r>
                  <a:rPr b="0" i="0" lang="en" sz="975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document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.</a:t>
                </a:r>
                <a:r>
                  <a:rPr b="0" i="0" lang="en" sz="975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querySelectorAll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(</a:t>
                </a:r>
                <a:r>
                  <a:rPr b="0" i="0" lang="en" sz="975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"p"</a:t>
                </a:r>
                <a:r>
                  <a:rPr b="0" i="0" lang="en" sz="975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);</a:t>
                </a:r>
                <a:endParaRPr b="0" i="0" sz="97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sp>
          <p:nvSpPr>
            <p:cNvPr id="1422" name="Google Shape;1422;p80"/>
            <p:cNvSpPr txBox="1"/>
            <p:nvPr/>
          </p:nvSpPr>
          <p:spPr>
            <a:xfrm>
              <a:off x="4857750" y="4238625"/>
              <a:ext cx="3905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rPr>
                <a:t>The HTML source acts as the initial blueprint, but the active DOM is the real, live representation JavaScript actually interacts with and changes.</a:t>
              </a:r>
              <a:endParaRPr b="0" i="0" sz="1013" u="none" cap="none" strike="noStrike">
                <a:solidFill>
                  <a:srgbClr val="85858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23" name="Google Shape;1423;p80"/>
          <p:cNvSpPr txBox="1"/>
          <p:nvPr/>
        </p:nvSpPr>
        <p:spPr>
          <a:xfrm>
            <a:off x="381050" y="294575"/>
            <a:ext cx="7620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Document Object Model (DOM)</a:t>
            </a:r>
            <a:endParaRPr b="1" i="0" sz="285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24" name="Google Shape;1424;p80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9" name="Google Shape;1429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1143000"/>
            <a:ext cx="96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81"/>
          <p:cNvSpPr txBox="1"/>
          <p:nvPr/>
        </p:nvSpPr>
        <p:spPr>
          <a:xfrm>
            <a:off x="381000" y="238125"/>
            <a:ext cx="8382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Dynamic DOM Manipulation</a:t>
            </a:r>
            <a:endParaRPr b="1" i="0" sz="21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E9178"/>
                </a:solidFill>
                <a:latin typeface="Inter"/>
                <a:ea typeface="Inter"/>
                <a:cs typeface="Inter"/>
                <a:sym typeface="Inter"/>
              </a:rPr>
              <a:t>JavaScript can dynamically alter the content and appearance of your webpage.</a:t>
            </a:r>
            <a:endParaRPr b="0" i="0" sz="1050" u="none" cap="none" strike="noStrike">
              <a:solidFill>
                <a:srgbClr val="CE917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31" name="Google Shape;1431;p81"/>
          <p:cNvGrpSpPr/>
          <p:nvPr/>
        </p:nvGrpSpPr>
        <p:grpSpPr>
          <a:xfrm>
            <a:off x="381000" y="1143000"/>
            <a:ext cx="3905400" cy="2095500"/>
            <a:chOff x="0" y="0"/>
            <a:chExt cx="3905400" cy="2095500"/>
          </a:xfrm>
        </p:grpSpPr>
        <p:sp>
          <p:nvSpPr>
            <p:cNvPr id="1432" name="Google Shape;1432;p81"/>
            <p:cNvSpPr/>
            <p:nvPr/>
          </p:nvSpPr>
          <p:spPr>
            <a:xfrm>
              <a:off x="0" y="0"/>
              <a:ext cx="3905400" cy="2095500"/>
            </a:xfrm>
            <a:prstGeom prst="roundRect">
              <a:avLst>
                <a:gd fmla="val 2727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81"/>
            <p:cNvSpPr/>
            <p:nvPr/>
          </p:nvSpPr>
          <p:spPr>
            <a:xfrm>
              <a:off x="0" y="0"/>
              <a:ext cx="3905400" cy="228600"/>
            </a:xfrm>
            <a:prstGeom prst="roundRect">
              <a:avLst>
                <a:gd fmla="val 25000" name="adj"/>
              </a:avLst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81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81"/>
            <p:cNvSpPr/>
            <p:nvPr/>
          </p:nvSpPr>
          <p:spPr>
            <a:xfrm>
              <a:off x="190500" y="76200"/>
              <a:ext cx="76200" cy="76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81"/>
            <p:cNvSpPr/>
            <p:nvPr/>
          </p:nvSpPr>
          <p:spPr>
            <a:xfrm>
              <a:off x="304800" y="76200"/>
              <a:ext cx="76200" cy="76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81"/>
            <p:cNvSpPr txBox="1"/>
            <p:nvPr/>
          </p:nvSpPr>
          <p:spPr>
            <a:xfrm>
              <a:off x="476250" y="38100"/>
              <a:ext cx="1905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858585"/>
                  </a:solidFill>
                  <a:latin typeface="Inter"/>
                  <a:ea typeface="Inter"/>
                  <a:cs typeface="Inter"/>
                  <a:sym typeface="Inter"/>
                </a:rPr>
                <a:t>dom-api-demo.js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81"/>
            <p:cNvSpPr txBox="1"/>
            <p:nvPr/>
          </p:nvSpPr>
          <p:spPr>
            <a:xfrm>
              <a:off x="142875" y="323850"/>
              <a:ext cx="36195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47625" spcFirstLastPara="1" rIns="47625" wrap="square" tIns="95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b="0" i="1" lang="en" sz="86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1. Modifying Content</a:t>
              </a:r>
              <a:endParaRPr b="0" i="0" sz="86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b="0" i="0" lang="en" sz="86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document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863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getElementById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86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"title"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).</a:t>
              </a:r>
              <a:r>
                <a:rPr b="0" i="0" lang="en" sz="86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textContent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86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86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"Welcome!"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86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b="0" i="1" lang="en" sz="86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2. Modifying Styles</a:t>
              </a:r>
              <a:endParaRPr b="0" i="0" sz="86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b="0" i="0" lang="en" sz="86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document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863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getElementById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86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"title"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).</a:t>
              </a:r>
              <a:r>
                <a:rPr b="0" i="0" lang="en" sz="86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style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86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color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863" u="none" cap="none" strike="noStrike">
                  <a:solidFill>
                    <a:srgbClr val="C586C0"/>
                  </a:solidFill>
                  <a:latin typeface="Fira Code"/>
                  <a:ea typeface="Fira Code"/>
                  <a:cs typeface="Fira Code"/>
                  <a:sym typeface="Fira Code"/>
                </a:rPr>
                <a:t>=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 </a:t>
              </a:r>
              <a:r>
                <a:rPr b="0" i="0" lang="en" sz="86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"red"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endParaRPr b="0" i="0" sz="86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b="0" i="1" lang="en" sz="86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3. Modifying Classes</a:t>
              </a:r>
              <a:endParaRPr b="0" i="0" sz="86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63"/>
                <a:buFont typeface="Arial"/>
                <a:buNone/>
              </a:pPr>
              <a:r>
                <a:rPr b="0" i="0" lang="en" sz="86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element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863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classList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863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add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863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"active"</a:t>
              </a:r>
              <a:r>
                <a:rPr b="0" i="0" lang="en" sz="863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 </a:t>
              </a:r>
              <a:r>
                <a:rPr b="0" i="1" lang="en" sz="863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or classList.toggle("active")</a:t>
              </a:r>
              <a:endParaRPr b="0" i="0" sz="863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1439" name="Google Shape;1439;p81"/>
          <p:cNvGrpSpPr/>
          <p:nvPr/>
        </p:nvGrpSpPr>
        <p:grpSpPr>
          <a:xfrm>
            <a:off x="381000" y="3476625"/>
            <a:ext cx="714300" cy="904800"/>
            <a:chOff x="0" y="0"/>
            <a:chExt cx="714300" cy="904800"/>
          </a:xfrm>
        </p:grpSpPr>
        <p:sp>
          <p:nvSpPr>
            <p:cNvPr id="1440" name="Google Shape;1440;p81"/>
            <p:cNvSpPr/>
            <p:nvPr/>
          </p:nvSpPr>
          <p:spPr>
            <a:xfrm>
              <a:off x="0" y="0"/>
              <a:ext cx="714300" cy="904800"/>
            </a:xfrm>
            <a:prstGeom prst="roundRect">
              <a:avLst>
                <a:gd fmla="val 8000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81"/>
            <p:cNvSpPr/>
            <p:nvPr/>
          </p:nvSpPr>
          <p:spPr>
            <a:xfrm>
              <a:off x="0" y="0"/>
              <a:ext cx="714300" cy="38100"/>
            </a:xfrm>
            <a:prstGeom prst="roundRect">
              <a:avLst>
                <a:gd fmla="val 50000" name="adj"/>
              </a:avLst>
            </a:pr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81"/>
            <p:cNvSpPr txBox="1"/>
            <p:nvPr/>
          </p:nvSpPr>
          <p:spPr>
            <a:xfrm>
              <a:off x="38100" y="95250"/>
              <a:ext cx="638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01. Click</a:t>
              </a:r>
              <a:endParaRPr b="1" i="0" sz="675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User clicks button</a:t>
              </a:r>
              <a:endParaRPr b="0" i="0" sz="7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443" name="Google Shape;1443;p81"/>
          <p:cNvGrpSpPr/>
          <p:nvPr/>
        </p:nvGrpSpPr>
        <p:grpSpPr>
          <a:xfrm>
            <a:off x="1123950" y="3876675"/>
            <a:ext cx="162000" cy="57300"/>
            <a:chOff x="0" y="-28575"/>
            <a:chExt cx="162000" cy="57300"/>
          </a:xfrm>
        </p:grpSpPr>
        <p:cxnSp>
          <p:nvCxnSpPr>
            <p:cNvPr id="1444" name="Google Shape;1444;p81"/>
            <p:cNvCxnSpPr/>
            <p:nvPr/>
          </p:nvCxnSpPr>
          <p:spPr>
            <a:xfrm>
              <a:off x="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7A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45" name="Google Shape;1445;p81"/>
            <p:cNvSpPr/>
            <p:nvPr/>
          </p:nvSpPr>
          <p:spPr>
            <a:xfrm>
              <a:off x="114300" y="-28575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7A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6" name="Google Shape;1446;p81"/>
          <p:cNvGrpSpPr/>
          <p:nvPr/>
        </p:nvGrpSpPr>
        <p:grpSpPr>
          <a:xfrm>
            <a:off x="1333500" y="3476625"/>
            <a:ext cx="714300" cy="904800"/>
            <a:chOff x="0" y="0"/>
            <a:chExt cx="714300" cy="904800"/>
          </a:xfrm>
        </p:grpSpPr>
        <p:sp>
          <p:nvSpPr>
            <p:cNvPr id="1447" name="Google Shape;1447;p81"/>
            <p:cNvSpPr/>
            <p:nvPr/>
          </p:nvSpPr>
          <p:spPr>
            <a:xfrm>
              <a:off x="0" y="0"/>
              <a:ext cx="714300" cy="904800"/>
            </a:xfrm>
            <a:prstGeom prst="roundRect">
              <a:avLst>
                <a:gd fmla="val 8000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81"/>
            <p:cNvSpPr/>
            <p:nvPr/>
          </p:nvSpPr>
          <p:spPr>
            <a:xfrm>
              <a:off x="0" y="0"/>
              <a:ext cx="714300" cy="38100"/>
            </a:xfrm>
            <a:prstGeom prst="roundRect">
              <a:avLst>
                <a:gd fmla="val 50000" name="adj"/>
              </a:avLst>
            </a:prstGeom>
            <a:solidFill>
              <a:srgbClr val="007A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81"/>
            <p:cNvSpPr txBox="1"/>
            <p:nvPr/>
          </p:nvSpPr>
          <p:spPr>
            <a:xfrm>
              <a:off x="38100" y="95250"/>
              <a:ext cx="638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007ACC"/>
                  </a:solidFill>
                  <a:latin typeface="Inter"/>
                  <a:ea typeface="Inter"/>
                  <a:cs typeface="Inter"/>
                  <a:sym typeface="Inter"/>
                </a:rPr>
                <a:t>02. Engine</a:t>
              </a:r>
              <a:endParaRPr b="1" i="0" sz="675" u="none" cap="none" strike="noStrike">
                <a:solidFill>
                  <a:srgbClr val="007AC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JS code runs</a:t>
              </a:r>
              <a:endParaRPr b="0" i="0" sz="7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450" name="Google Shape;1450;p81"/>
          <p:cNvGrpSpPr/>
          <p:nvPr/>
        </p:nvGrpSpPr>
        <p:grpSpPr>
          <a:xfrm>
            <a:off x="2076450" y="3876675"/>
            <a:ext cx="162000" cy="57300"/>
            <a:chOff x="0" y="-28575"/>
            <a:chExt cx="162000" cy="57300"/>
          </a:xfrm>
        </p:grpSpPr>
        <p:cxnSp>
          <p:nvCxnSpPr>
            <p:cNvPr id="1451" name="Google Shape;1451;p81"/>
            <p:cNvCxnSpPr/>
            <p:nvPr/>
          </p:nvCxnSpPr>
          <p:spPr>
            <a:xfrm>
              <a:off x="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7A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2" name="Google Shape;1452;p81"/>
            <p:cNvSpPr/>
            <p:nvPr/>
          </p:nvSpPr>
          <p:spPr>
            <a:xfrm>
              <a:off x="114300" y="-28575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7A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3" name="Google Shape;1453;p81"/>
          <p:cNvGrpSpPr/>
          <p:nvPr/>
        </p:nvGrpSpPr>
        <p:grpSpPr>
          <a:xfrm>
            <a:off x="2286000" y="3476625"/>
            <a:ext cx="714300" cy="904800"/>
            <a:chOff x="0" y="0"/>
            <a:chExt cx="714300" cy="904800"/>
          </a:xfrm>
        </p:grpSpPr>
        <p:sp>
          <p:nvSpPr>
            <p:cNvPr id="1454" name="Google Shape;1454;p81"/>
            <p:cNvSpPr/>
            <p:nvPr/>
          </p:nvSpPr>
          <p:spPr>
            <a:xfrm>
              <a:off x="0" y="0"/>
              <a:ext cx="714300" cy="904800"/>
            </a:xfrm>
            <a:prstGeom prst="roundRect">
              <a:avLst>
                <a:gd fmla="val 8000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81"/>
            <p:cNvSpPr/>
            <p:nvPr/>
          </p:nvSpPr>
          <p:spPr>
            <a:xfrm>
              <a:off x="0" y="0"/>
              <a:ext cx="714300" cy="38100"/>
            </a:xfrm>
            <a:prstGeom prst="roundRect">
              <a:avLst>
                <a:gd fmla="val 50000" name="adj"/>
              </a:avLst>
            </a:prstGeom>
            <a:solidFill>
              <a:srgbClr val="CE91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81"/>
            <p:cNvSpPr txBox="1"/>
            <p:nvPr/>
          </p:nvSpPr>
          <p:spPr>
            <a:xfrm>
              <a:off x="38100" y="95250"/>
              <a:ext cx="638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CE9178"/>
                  </a:solidFill>
                  <a:latin typeface="Inter"/>
                  <a:ea typeface="Inter"/>
                  <a:cs typeface="Inter"/>
                  <a:sym typeface="Inter"/>
                </a:rPr>
                <a:t>03. DOM</a:t>
              </a:r>
              <a:endParaRPr b="1" i="0" sz="675" u="none" cap="none" strike="noStrike">
                <a:solidFill>
                  <a:srgbClr val="CE917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Properties change</a:t>
              </a:r>
              <a:endParaRPr b="0" i="0" sz="7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457" name="Google Shape;1457;p81"/>
          <p:cNvGrpSpPr/>
          <p:nvPr/>
        </p:nvGrpSpPr>
        <p:grpSpPr>
          <a:xfrm>
            <a:off x="3028950" y="3876675"/>
            <a:ext cx="162000" cy="57300"/>
            <a:chOff x="0" y="-28575"/>
            <a:chExt cx="162000" cy="57300"/>
          </a:xfrm>
        </p:grpSpPr>
        <p:cxnSp>
          <p:nvCxnSpPr>
            <p:cNvPr id="1458" name="Google Shape;1458;p81"/>
            <p:cNvCxnSpPr/>
            <p:nvPr/>
          </p:nvCxnSpPr>
          <p:spPr>
            <a:xfrm>
              <a:off x="0" y="0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7A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9" name="Google Shape;1459;p81"/>
            <p:cNvSpPr/>
            <p:nvPr/>
          </p:nvSpPr>
          <p:spPr>
            <a:xfrm>
              <a:off x="114300" y="-28575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7A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0" name="Google Shape;1460;p81"/>
          <p:cNvGrpSpPr/>
          <p:nvPr/>
        </p:nvGrpSpPr>
        <p:grpSpPr>
          <a:xfrm>
            <a:off x="3238500" y="3476625"/>
            <a:ext cx="714300" cy="904800"/>
            <a:chOff x="0" y="0"/>
            <a:chExt cx="714300" cy="904800"/>
          </a:xfrm>
        </p:grpSpPr>
        <p:sp>
          <p:nvSpPr>
            <p:cNvPr id="1461" name="Google Shape;1461;p81"/>
            <p:cNvSpPr/>
            <p:nvPr/>
          </p:nvSpPr>
          <p:spPr>
            <a:xfrm>
              <a:off x="0" y="0"/>
              <a:ext cx="714300" cy="904800"/>
            </a:xfrm>
            <a:prstGeom prst="roundRect">
              <a:avLst>
                <a:gd fmla="val 8000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81"/>
            <p:cNvSpPr/>
            <p:nvPr/>
          </p:nvSpPr>
          <p:spPr>
            <a:xfrm>
              <a:off x="0" y="0"/>
              <a:ext cx="714300" cy="38100"/>
            </a:xfrm>
            <a:prstGeom prst="roundRect">
              <a:avLst>
                <a:gd fmla="val 50000" name="adj"/>
              </a:avLst>
            </a:prstGeom>
            <a:solidFill>
              <a:srgbClr val="6A99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81"/>
            <p:cNvSpPr txBox="1"/>
            <p:nvPr/>
          </p:nvSpPr>
          <p:spPr>
            <a:xfrm>
              <a:off x="38100" y="95250"/>
              <a:ext cx="638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6A9955"/>
                  </a:solidFill>
                  <a:latin typeface="Inter"/>
                  <a:ea typeface="Inter"/>
                  <a:cs typeface="Inter"/>
                  <a:sym typeface="Inter"/>
                </a:rPr>
                <a:t>04. Paint</a:t>
              </a:r>
              <a:endParaRPr b="1" i="0" sz="675" u="none" cap="none" strike="noStrike">
                <a:solidFill>
                  <a:srgbClr val="6A99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UI visually paints</a:t>
              </a:r>
              <a:endParaRPr b="0" i="0" sz="7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464" name="Google Shape;1464;p81"/>
          <p:cNvGrpSpPr/>
          <p:nvPr/>
        </p:nvGrpSpPr>
        <p:grpSpPr>
          <a:xfrm>
            <a:off x="4857750" y="1143000"/>
            <a:ext cx="3905400" cy="1428900"/>
            <a:chOff x="0" y="0"/>
            <a:chExt cx="3905400" cy="1428900"/>
          </a:xfrm>
        </p:grpSpPr>
        <p:sp>
          <p:nvSpPr>
            <p:cNvPr id="1465" name="Google Shape;1465;p81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81"/>
            <p:cNvSpPr/>
            <p:nvPr/>
          </p:nvSpPr>
          <p:spPr>
            <a:xfrm>
              <a:off x="0" y="0"/>
              <a:ext cx="3905400" cy="228600"/>
            </a:xfrm>
            <a:prstGeom prst="roundRect">
              <a:avLst>
                <a:gd fmla="val 25000" name="adj"/>
              </a:avLst>
            </a:pr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81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81"/>
            <p:cNvSpPr/>
            <p:nvPr/>
          </p:nvSpPr>
          <p:spPr>
            <a:xfrm>
              <a:off x="190500" y="76200"/>
              <a:ext cx="76200" cy="76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81"/>
            <p:cNvSpPr/>
            <p:nvPr/>
          </p:nvSpPr>
          <p:spPr>
            <a:xfrm>
              <a:off x="304800" y="76200"/>
              <a:ext cx="76200" cy="76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81"/>
            <p:cNvSpPr/>
            <p:nvPr/>
          </p:nvSpPr>
          <p:spPr>
            <a:xfrm>
              <a:off x="571500" y="47625"/>
              <a:ext cx="2762400" cy="133500"/>
            </a:xfrm>
            <a:prstGeom prst="roundRect">
              <a:avLst>
                <a:gd fmla="val 2857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81"/>
            <p:cNvSpPr txBox="1"/>
            <p:nvPr/>
          </p:nvSpPr>
          <p:spPr>
            <a:xfrm>
              <a:off x="571500" y="47625"/>
              <a:ext cx="27624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http://localhost:3000 — original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81"/>
            <p:cNvSpPr txBox="1"/>
            <p:nvPr/>
          </p:nvSpPr>
          <p:spPr>
            <a:xfrm>
              <a:off x="142875" y="30480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222222"/>
                  </a:solidFill>
                  <a:latin typeface="Inter"/>
                  <a:ea typeface="Inter"/>
                  <a:cs typeface="Inter"/>
                  <a:sym typeface="Inter"/>
                </a:rPr>
                <a:t>Original Text</a:t>
              </a:r>
              <a:endParaRPr b="1" i="0" sz="1200" u="none" cap="none" strike="noStrike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FFFFFF"/>
                  </a:solidFill>
                  <a:highlight>
                    <a:srgbClr val="007ACC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Change Title</a:t>
              </a:r>
              <a:endParaRPr b="0" i="0" sz="750" u="none" cap="none" strike="noStrike">
                <a:solidFill>
                  <a:srgbClr val="FFFFFF"/>
                </a:solidFill>
                <a:highlight>
                  <a:srgbClr val="007ACC"/>
                </a:highlight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473" name="Google Shape;1473;p81"/>
          <p:cNvGrpSpPr/>
          <p:nvPr/>
        </p:nvGrpSpPr>
        <p:grpSpPr>
          <a:xfrm>
            <a:off x="6286500" y="2638425"/>
            <a:ext cx="1047900" cy="247800"/>
            <a:chOff x="0" y="0"/>
            <a:chExt cx="1047900" cy="247800"/>
          </a:xfrm>
        </p:grpSpPr>
        <p:sp>
          <p:nvSpPr>
            <p:cNvPr id="1474" name="Google Shape;1474;p81"/>
            <p:cNvSpPr/>
            <p:nvPr/>
          </p:nvSpPr>
          <p:spPr>
            <a:xfrm>
              <a:off x="0" y="0"/>
              <a:ext cx="1047900" cy="247800"/>
            </a:xfrm>
            <a:prstGeom prst="roundRect">
              <a:avLst>
                <a:gd fmla="val 50000" name="adj"/>
              </a:avLst>
            </a:prstGeom>
            <a:solidFill>
              <a:srgbClr val="F7DF1E"/>
            </a:solidFill>
            <a:ln cap="flat" cmpd="sng" w="19050">
              <a:solidFill>
                <a:srgbClr val="1E1E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81"/>
            <p:cNvSpPr txBox="1"/>
            <p:nvPr/>
          </p:nvSpPr>
          <p:spPr>
            <a:xfrm>
              <a:off x="47625" y="0"/>
              <a:ext cx="952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8"/>
                <a:buFont typeface="Arial"/>
                <a:buNone/>
              </a:pPr>
              <a:r>
                <a:rPr b="0" i="0" lang="en" sz="638" u="none" cap="none" strike="noStrike">
                  <a:solidFill>
                    <a:srgbClr val="1E1E1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JS execution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6" name="Google Shape;1476;p81"/>
          <p:cNvGrpSpPr/>
          <p:nvPr/>
        </p:nvGrpSpPr>
        <p:grpSpPr>
          <a:xfrm>
            <a:off x="4857750" y="2952750"/>
            <a:ext cx="3905400" cy="1428900"/>
            <a:chOff x="0" y="0"/>
            <a:chExt cx="3905400" cy="1428900"/>
          </a:xfrm>
        </p:grpSpPr>
        <p:sp>
          <p:nvSpPr>
            <p:cNvPr id="1477" name="Google Shape;1477;p81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81"/>
            <p:cNvSpPr/>
            <p:nvPr/>
          </p:nvSpPr>
          <p:spPr>
            <a:xfrm>
              <a:off x="0" y="0"/>
              <a:ext cx="3905400" cy="228600"/>
            </a:xfrm>
            <a:prstGeom prst="roundRect">
              <a:avLst>
                <a:gd fmla="val 25000" name="adj"/>
              </a:avLst>
            </a:pr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81"/>
            <p:cNvSpPr/>
            <p:nvPr/>
          </p:nvSpPr>
          <p:spPr>
            <a:xfrm>
              <a:off x="76200" y="76200"/>
              <a:ext cx="76200" cy="76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81"/>
            <p:cNvSpPr/>
            <p:nvPr/>
          </p:nvSpPr>
          <p:spPr>
            <a:xfrm>
              <a:off x="190500" y="76200"/>
              <a:ext cx="76200" cy="76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81"/>
            <p:cNvSpPr/>
            <p:nvPr/>
          </p:nvSpPr>
          <p:spPr>
            <a:xfrm>
              <a:off x="304800" y="76200"/>
              <a:ext cx="76200" cy="76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81"/>
            <p:cNvSpPr/>
            <p:nvPr/>
          </p:nvSpPr>
          <p:spPr>
            <a:xfrm>
              <a:off x="571500" y="47625"/>
              <a:ext cx="2762400" cy="133500"/>
            </a:xfrm>
            <a:prstGeom prst="roundRect">
              <a:avLst>
                <a:gd fmla="val 2857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81"/>
            <p:cNvSpPr txBox="1"/>
            <p:nvPr/>
          </p:nvSpPr>
          <p:spPr>
            <a:xfrm>
              <a:off x="571500" y="47625"/>
              <a:ext cx="27624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" sz="600" u="none" cap="none" strike="noStrike">
                  <a:solidFill>
                    <a:srgbClr val="888888"/>
                  </a:solidFill>
                  <a:latin typeface="Inter"/>
                  <a:ea typeface="Inter"/>
                  <a:cs typeface="Inter"/>
                  <a:sym typeface="Inter"/>
                </a:rPr>
                <a:t>http://localhost:3000 — dynamically updated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81"/>
            <p:cNvSpPr txBox="1"/>
            <p:nvPr/>
          </p:nvSpPr>
          <p:spPr>
            <a:xfrm>
              <a:off x="142875" y="30480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FF5F56"/>
                  </a:solidFill>
                  <a:latin typeface="Inter"/>
                  <a:ea typeface="Inter"/>
                  <a:cs typeface="Inter"/>
                  <a:sym typeface="Inter"/>
                </a:rPr>
                <a:t>JavaScript Changed Me!</a:t>
              </a:r>
              <a:endParaRPr b="1" i="0" sz="1200" u="none" cap="none" strike="noStrike">
                <a:solidFill>
                  <a:srgbClr val="FF5F5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AAAAA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Change Title</a:t>
              </a:r>
              <a:endParaRPr b="0" i="0" sz="750" u="none" cap="none" strike="noStrike">
                <a:solidFill>
                  <a:srgbClr val="AAAAA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1485" name="Google Shape;1485;p81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2344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8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1" name="Google Shape;1491;p82"/>
          <p:cNvGrpSpPr/>
          <p:nvPr/>
        </p:nvGrpSpPr>
        <p:grpSpPr>
          <a:xfrm>
            <a:off x="381000" y="333375"/>
            <a:ext cx="8382000" cy="952650"/>
            <a:chOff x="0" y="0"/>
            <a:chExt cx="8382000" cy="952650"/>
          </a:xfrm>
        </p:grpSpPr>
        <p:sp>
          <p:nvSpPr>
            <p:cNvPr id="1492" name="Google Shape;1492;p82"/>
            <p:cNvSpPr txBox="1"/>
            <p:nvPr/>
          </p:nvSpPr>
          <p:spPr>
            <a:xfrm>
              <a:off x="0" y="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50"/>
                <a:buFont typeface="Arial"/>
                <a:buNone/>
              </a:pPr>
              <a:r>
                <a:rPr b="1" i="0" lang="en" sz="25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Working with Events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82"/>
            <p:cNvSpPr txBox="1"/>
            <p:nvPr/>
          </p:nvSpPr>
          <p:spPr>
            <a:xfrm>
              <a:off x="0" y="47625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3"/>
                <a:buFont typeface="Arial"/>
                <a:buNone/>
              </a:pPr>
              <a:r>
                <a:rPr b="0" i="0" lang="en" sz="1013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Events are actions that happen in the browser, such as a click, input, change, submit, mouseover, or keydown. JavaScript uses Event Listeners to wait for these actions.</a:t>
              </a:r>
              <a:endParaRPr b="0" i="0" sz="1013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4" name="Google Shape;1494;p82"/>
          <p:cNvGrpSpPr/>
          <p:nvPr/>
        </p:nvGrpSpPr>
        <p:grpSpPr>
          <a:xfrm>
            <a:off x="381000" y="1428750"/>
            <a:ext cx="8382000" cy="1238400"/>
            <a:chOff x="0" y="0"/>
            <a:chExt cx="8382000" cy="1238400"/>
          </a:xfrm>
        </p:grpSpPr>
        <p:sp>
          <p:nvSpPr>
            <p:cNvPr id="1495" name="Google Shape;1495;p82"/>
            <p:cNvSpPr/>
            <p:nvPr/>
          </p:nvSpPr>
          <p:spPr>
            <a:xfrm>
              <a:off x="0" y="0"/>
              <a:ext cx="8382000" cy="1238400"/>
            </a:xfrm>
            <a:prstGeom prst="roundRect">
              <a:avLst>
                <a:gd fmla="val 4615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82"/>
            <p:cNvSpPr/>
            <p:nvPr/>
          </p:nvSpPr>
          <p:spPr>
            <a:xfrm>
              <a:off x="0" y="0"/>
              <a:ext cx="8382000" cy="285900"/>
            </a:xfrm>
            <a:prstGeom prst="roundRect">
              <a:avLst>
                <a:gd fmla="val 20000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82"/>
            <p:cNvSpPr/>
            <p:nvPr/>
          </p:nvSpPr>
          <p:spPr>
            <a:xfrm>
              <a:off x="0" y="142875"/>
              <a:ext cx="8382000" cy="142800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82"/>
            <p:cNvSpPr/>
            <p:nvPr/>
          </p:nvSpPr>
          <p:spPr>
            <a:xfrm>
              <a:off x="104775" y="9525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82"/>
            <p:cNvSpPr/>
            <p:nvPr/>
          </p:nvSpPr>
          <p:spPr>
            <a:xfrm>
              <a:off x="257175" y="9525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82"/>
            <p:cNvSpPr/>
            <p:nvPr/>
          </p:nvSpPr>
          <p:spPr>
            <a:xfrm>
              <a:off x="409575" y="9525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82"/>
            <p:cNvSpPr txBox="1"/>
            <p:nvPr/>
          </p:nvSpPr>
          <p:spPr>
            <a:xfrm>
              <a:off x="666750" y="571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85858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counter.js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82"/>
            <p:cNvSpPr txBox="1"/>
            <p:nvPr/>
          </p:nvSpPr>
          <p:spPr>
            <a:xfrm>
              <a:off x="238125" y="428625"/>
              <a:ext cx="7905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0" i="1" lang="en" sz="1125" u="none" cap="none" strike="noStrike">
                  <a:solidFill>
                    <a:srgbClr val="6A9955"/>
                  </a:solidFill>
                  <a:latin typeface="Fira Code"/>
                  <a:ea typeface="Fira Code"/>
                  <a:cs typeface="Fira Code"/>
                  <a:sym typeface="Fira Code"/>
                </a:rPr>
                <a:t>// Syntax: Defining an Event Listener for user interactions</a:t>
              </a:r>
              <a:endParaRPr b="0" i="0" sz="112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0" i="0" lang="en" sz="112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button</a:t>
              </a:r>
              <a:r>
                <a:rPr b="0" i="0" lang="en" sz="112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1125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addEventListener</a:t>
              </a:r>
              <a:r>
                <a:rPr b="0" i="0" lang="en" sz="112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1125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"click"</a:t>
              </a:r>
              <a:r>
                <a:rPr b="0" i="0" lang="en" sz="112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, </a:t>
              </a:r>
              <a:r>
                <a:rPr b="0" i="0" lang="en" sz="1125" u="none" cap="none" strike="noStrike">
                  <a:solidFill>
                    <a:srgbClr val="569CD6"/>
                  </a:solidFill>
                  <a:latin typeface="Fira Code"/>
                  <a:ea typeface="Fira Code"/>
                  <a:cs typeface="Fira Code"/>
                  <a:sym typeface="Fira Code"/>
                </a:rPr>
                <a:t>function</a:t>
              </a:r>
              <a:r>
                <a:rPr b="0" i="0" lang="en" sz="112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() { </a:t>
              </a:r>
              <a:r>
                <a:rPr b="0" i="0" lang="en" sz="1125" u="none" cap="none" strike="noStrike">
                  <a:solidFill>
                    <a:srgbClr val="9CDCFE"/>
                  </a:solidFill>
                  <a:latin typeface="Fira Code"/>
                  <a:ea typeface="Fira Code"/>
                  <a:cs typeface="Fira Code"/>
                  <a:sym typeface="Fira Code"/>
                </a:rPr>
                <a:t>console</a:t>
              </a:r>
              <a:r>
                <a:rPr b="0" i="0" lang="en" sz="112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.</a:t>
              </a:r>
              <a:r>
                <a:rPr b="0" i="0" lang="en" sz="1125" u="none" cap="none" strike="noStrike">
                  <a:solidFill>
                    <a:srgbClr val="DCDCAA"/>
                  </a:solidFill>
                  <a:latin typeface="Fira Code"/>
                  <a:ea typeface="Fira Code"/>
                  <a:cs typeface="Fira Code"/>
                  <a:sym typeface="Fira Code"/>
                </a:rPr>
                <a:t>log</a:t>
              </a:r>
              <a:r>
                <a:rPr b="0" i="0" lang="en" sz="112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i="0" lang="en" sz="1125" u="none" cap="none" strike="noStrike">
                  <a:solidFill>
                    <a:srgbClr val="CE9178"/>
                  </a:solidFill>
                  <a:latin typeface="Fira Code"/>
                  <a:ea typeface="Fira Code"/>
                  <a:cs typeface="Fira Code"/>
                  <a:sym typeface="Fira Code"/>
                </a:rPr>
                <a:t>"Button clicked!"</a:t>
              </a:r>
              <a:r>
                <a:rPr b="0" i="0" lang="en" sz="1125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rPr>
                <a:t>); });</a:t>
              </a:r>
              <a:endParaRPr b="0" i="0" sz="1125" u="none" cap="none" strike="noStrike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1503" name="Google Shape;1503;p82"/>
          <p:cNvSpPr txBox="1"/>
          <p:nvPr/>
        </p:nvSpPr>
        <p:spPr>
          <a:xfrm>
            <a:off x="381000" y="2857500"/>
            <a:ext cx="8382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7ACC"/>
                </a:solidFill>
                <a:latin typeface="Inter"/>
                <a:ea typeface="Inter"/>
                <a:cs typeface="Inter"/>
                <a:sym typeface="Inter"/>
              </a:rPr>
              <a:t>Mini Project Flow (Interactive Counter)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4" name="Google Shape;1504;p82"/>
          <p:cNvGrpSpPr/>
          <p:nvPr/>
        </p:nvGrpSpPr>
        <p:grpSpPr>
          <a:xfrm>
            <a:off x="409575" y="3190875"/>
            <a:ext cx="1181100" cy="1143000"/>
            <a:chOff x="0" y="0"/>
            <a:chExt cx="1181100" cy="1143000"/>
          </a:xfrm>
        </p:grpSpPr>
        <p:sp>
          <p:nvSpPr>
            <p:cNvPr id="1505" name="Google Shape;1505;p82"/>
            <p:cNvSpPr/>
            <p:nvPr/>
          </p:nvSpPr>
          <p:spPr>
            <a:xfrm>
              <a:off x="0" y="0"/>
              <a:ext cx="1181100" cy="1143000"/>
            </a:xfrm>
            <a:prstGeom prst="roundRect">
              <a:avLst>
                <a:gd fmla="val 5000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82"/>
            <p:cNvSpPr/>
            <p:nvPr/>
          </p:nvSpPr>
          <p:spPr>
            <a:xfrm>
              <a:off x="0" y="0"/>
              <a:ext cx="1181100" cy="28500"/>
            </a:xfrm>
            <a:prstGeom prst="roundRect">
              <a:avLst>
                <a:gd fmla="val 50000" name="adj"/>
              </a:avLst>
            </a:pr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82"/>
            <p:cNvSpPr txBox="1"/>
            <p:nvPr/>
          </p:nvSpPr>
          <p:spPr>
            <a:xfrm>
              <a:off x="76200" y="142875"/>
              <a:ext cx="1028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1" i="0" lang="en" sz="97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b="1" i="0" sz="975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D4D4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User Clicks Button</a:t>
              </a:r>
              <a:endParaRPr b="0" i="0" sz="825" u="none" cap="none" strike="noStrike">
                <a:solidFill>
                  <a:srgbClr val="D4D4D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508" name="Google Shape;1508;p82"/>
          <p:cNvGrpSpPr/>
          <p:nvPr/>
        </p:nvGrpSpPr>
        <p:grpSpPr>
          <a:xfrm>
            <a:off x="1628775" y="3724275"/>
            <a:ext cx="171600" cy="76200"/>
            <a:chOff x="0" y="9525"/>
            <a:chExt cx="171600" cy="76200"/>
          </a:xfrm>
        </p:grpSpPr>
        <p:cxnSp>
          <p:nvCxnSpPr>
            <p:cNvPr id="1509" name="Google Shape;1509;p82"/>
            <p:cNvCxnSpPr/>
            <p:nvPr/>
          </p:nvCxnSpPr>
          <p:spPr>
            <a:xfrm>
              <a:off x="0" y="47625"/>
              <a:ext cx="1524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007A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10" name="Google Shape;1510;p82"/>
            <p:cNvSpPr/>
            <p:nvPr/>
          </p:nvSpPr>
          <p:spPr>
            <a:xfrm>
              <a:off x="114300" y="952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7A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1" name="Google Shape;1511;p82"/>
          <p:cNvGrpSpPr/>
          <p:nvPr/>
        </p:nvGrpSpPr>
        <p:grpSpPr>
          <a:xfrm>
            <a:off x="1838325" y="3190875"/>
            <a:ext cx="1181100" cy="1143000"/>
            <a:chOff x="0" y="0"/>
            <a:chExt cx="1181100" cy="1143000"/>
          </a:xfrm>
        </p:grpSpPr>
        <p:sp>
          <p:nvSpPr>
            <p:cNvPr id="1512" name="Google Shape;1512;p82"/>
            <p:cNvSpPr/>
            <p:nvPr/>
          </p:nvSpPr>
          <p:spPr>
            <a:xfrm>
              <a:off x="0" y="0"/>
              <a:ext cx="1181100" cy="1143000"/>
            </a:xfrm>
            <a:prstGeom prst="roundRect">
              <a:avLst>
                <a:gd fmla="val 5000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82"/>
            <p:cNvSpPr/>
            <p:nvPr/>
          </p:nvSpPr>
          <p:spPr>
            <a:xfrm>
              <a:off x="0" y="0"/>
              <a:ext cx="1181100" cy="28500"/>
            </a:xfrm>
            <a:prstGeom prst="roundRect">
              <a:avLst>
                <a:gd fmla="val 50000" name="adj"/>
              </a:avLst>
            </a:pr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82"/>
            <p:cNvSpPr txBox="1"/>
            <p:nvPr/>
          </p:nvSpPr>
          <p:spPr>
            <a:xfrm>
              <a:off x="76200" y="142875"/>
              <a:ext cx="1028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1" i="0" lang="en" sz="97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b="1" i="0" sz="975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D4D4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Event Listener Triggers</a:t>
              </a:r>
              <a:endParaRPr b="0" i="0" sz="825" u="none" cap="none" strike="noStrike">
                <a:solidFill>
                  <a:srgbClr val="D4D4D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515" name="Google Shape;1515;p82"/>
          <p:cNvGrpSpPr/>
          <p:nvPr/>
        </p:nvGrpSpPr>
        <p:grpSpPr>
          <a:xfrm>
            <a:off x="3057525" y="3724275"/>
            <a:ext cx="171600" cy="76200"/>
            <a:chOff x="0" y="9525"/>
            <a:chExt cx="171600" cy="76200"/>
          </a:xfrm>
        </p:grpSpPr>
        <p:cxnSp>
          <p:nvCxnSpPr>
            <p:cNvPr id="1516" name="Google Shape;1516;p82"/>
            <p:cNvCxnSpPr/>
            <p:nvPr/>
          </p:nvCxnSpPr>
          <p:spPr>
            <a:xfrm>
              <a:off x="0" y="47625"/>
              <a:ext cx="1524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007A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17" name="Google Shape;1517;p82"/>
            <p:cNvSpPr/>
            <p:nvPr/>
          </p:nvSpPr>
          <p:spPr>
            <a:xfrm>
              <a:off x="114300" y="952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7A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8" name="Google Shape;1518;p82"/>
          <p:cNvGrpSpPr/>
          <p:nvPr/>
        </p:nvGrpSpPr>
        <p:grpSpPr>
          <a:xfrm>
            <a:off x="3267075" y="3190875"/>
            <a:ext cx="1181100" cy="1143000"/>
            <a:chOff x="0" y="0"/>
            <a:chExt cx="1181100" cy="1143000"/>
          </a:xfrm>
        </p:grpSpPr>
        <p:sp>
          <p:nvSpPr>
            <p:cNvPr id="1519" name="Google Shape;1519;p82"/>
            <p:cNvSpPr/>
            <p:nvPr/>
          </p:nvSpPr>
          <p:spPr>
            <a:xfrm>
              <a:off x="0" y="0"/>
              <a:ext cx="1181100" cy="1143000"/>
            </a:xfrm>
            <a:prstGeom prst="roundRect">
              <a:avLst>
                <a:gd fmla="val 5000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82"/>
            <p:cNvSpPr/>
            <p:nvPr/>
          </p:nvSpPr>
          <p:spPr>
            <a:xfrm>
              <a:off x="0" y="0"/>
              <a:ext cx="1181100" cy="28500"/>
            </a:xfrm>
            <a:prstGeom prst="roundRect">
              <a:avLst>
                <a:gd fmla="val 50000" name="adj"/>
              </a:avLst>
            </a:pr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82"/>
            <p:cNvSpPr txBox="1"/>
            <p:nvPr/>
          </p:nvSpPr>
          <p:spPr>
            <a:xfrm>
              <a:off x="76200" y="142875"/>
              <a:ext cx="1028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1" i="0" lang="en" sz="97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b="1" i="0" sz="975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D4D4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JavaScript Callback Function Runs</a:t>
              </a:r>
              <a:endParaRPr b="0" i="0" sz="825" u="none" cap="none" strike="noStrike">
                <a:solidFill>
                  <a:srgbClr val="D4D4D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522" name="Google Shape;1522;p82"/>
          <p:cNvGrpSpPr/>
          <p:nvPr/>
        </p:nvGrpSpPr>
        <p:grpSpPr>
          <a:xfrm>
            <a:off x="4486275" y="3724275"/>
            <a:ext cx="171600" cy="76200"/>
            <a:chOff x="0" y="9525"/>
            <a:chExt cx="171600" cy="76200"/>
          </a:xfrm>
        </p:grpSpPr>
        <p:cxnSp>
          <p:nvCxnSpPr>
            <p:cNvPr id="1523" name="Google Shape;1523;p82"/>
            <p:cNvCxnSpPr/>
            <p:nvPr/>
          </p:nvCxnSpPr>
          <p:spPr>
            <a:xfrm>
              <a:off x="0" y="47625"/>
              <a:ext cx="1524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007A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24" name="Google Shape;1524;p82"/>
            <p:cNvSpPr/>
            <p:nvPr/>
          </p:nvSpPr>
          <p:spPr>
            <a:xfrm>
              <a:off x="114300" y="952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7A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5" name="Google Shape;1525;p82"/>
          <p:cNvGrpSpPr/>
          <p:nvPr/>
        </p:nvGrpSpPr>
        <p:grpSpPr>
          <a:xfrm>
            <a:off x="4695825" y="3190875"/>
            <a:ext cx="1181100" cy="1143000"/>
            <a:chOff x="0" y="0"/>
            <a:chExt cx="1181100" cy="1143000"/>
          </a:xfrm>
        </p:grpSpPr>
        <p:sp>
          <p:nvSpPr>
            <p:cNvPr id="1526" name="Google Shape;1526;p82"/>
            <p:cNvSpPr/>
            <p:nvPr/>
          </p:nvSpPr>
          <p:spPr>
            <a:xfrm>
              <a:off x="0" y="0"/>
              <a:ext cx="1181100" cy="1143000"/>
            </a:xfrm>
            <a:prstGeom prst="roundRect">
              <a:avLst>
                <a:gd fmla="val 5000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82"/>
            <p:cNvSpPr/>
            <p:nvPr/>
          </p:nvSpPr>
          <p:spPr>
            <a:xfrm>
              <a:off x="0" y="0"/>
              <a:ext cx="1181100" cy="28500"/>
            </a:xfrm>
            <a:prstGeom prst="roundRect">
              <a:avLst>
                <a:gd fmla="val 50000" name="adj"/>
              </a:avLst>
            </a:pr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82"/>
            <p:cNvSpPr txBox="1"/>
            <p:nvPr/>
          </p:nvSpPr>
          <p:spPr>
            <a:xfrm>
              <a:off x="76200" y="142875"/>
              <a:ext cx="1028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1" i="0" lang="en" sz="97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b="1" i="0" sz="975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D4D4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Variable Updates (count++)</a:t>
              </a:r>
              <a:endParaRPr b="0" i="0" sz="825" u="none" cap="none" strike="noStrike">
                <a:solidFill>
                  <a:srgbClr val="D4D4D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529" name="Google Shape;1529;p82"/>
          <p:cNvGrpSpPr/>
          <p:nvPr/>
        </p:nvGrpSpPr>
        <p:grpSpPr>
          <a:xfrm>
            <a:off x="5915025" y="3724275"/>
            <a:ext cx="171600" cy="76200"/>
            <a:chOff x="0" y="9525"/>
            <a:chExt cx="171600" cy="76200"/>
          </a:xfrm>
        </p:grpSpPr>
        <p:cxnSp>
          <p:nvCxnSpPr>
            <p:cNvPr id="1530" name="Google Shape;1530;p82"/>
            <p:cNvCxnSpPr/>
            <p:nvPr/>
          </p:nvCxnSpPr>
          <p:spPr>
            <a:xfrm>
              <a:off x="0" y="47625"/>
              <a:ext cx="1524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007A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1" name="Google Shape;1531;p82"/>
            <p:cNvSpPr/>
            <p:nvPr/>
          </p:nvSpPr>
          <p:spPr>
            <a:xfrm>
              <a:off x="114300" y="952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7A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2" name="Google Shape;1532;p82"/>
          <p:cNvGrpSpPr/>
          <p:nvPr/>
        </p:nvGrpSpPr>
        <p:grpSpPr>
          <a:xfrm>
            <a:off x="6124575" y="3190875"/>
            <a:ext cx="1181100" cy="1143000"/>
            <a:chOff x="0" y="0"/>
            <a:chExt cx="1181100" cy="1143000"/>
          </a:xfrm>
        </p:grpSpPr>
        <p:sp>
          <p:nvSpPr>
            <p:cNvPr id="1533" name="Google Shape;1533;p82"/>
            <p:cNvSpPr/>
            <p:nvPr/>
          </p:nvSpPr>
          <p:spPr>
            <a:xfrm>
              <a:off x="0" y="0"/>
              <a:ext cx="1181100" cy="1143000"/>
            </a:xfrm>
            <a:prstGeom prst="roundRect">
              <a:avLst>
                <a:gd fmla="val 5000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82"/>
            <p:cNvSpPr/>
            <p:nvPr/>
          </p:nvSpPr>
          <p:spPr>
            <a:xfrm>
              <a:off x="0" y="0"/>
              <a:ext cx="1181100" cy="28500"/>
            </a:xfrm>
            <a:prstGeom prst="roundRect">
              <a:avLst>
                <a:gd fmla="val 50000" name="adj"/>
              </a:avLst>
            </a:pr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82"/>
            <p:cNvSpPr txBox="1"/>
            <p:nvPr/>
          </p:nvSpPr>
          <p:spPr>
            <a:xfrm>
              <a:off x="76200" y="142875"/>
              <a:ext cx="1028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1" i="0" lang="en" sz="97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  <a:endParaRPr b="1" i="0" sz="975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D4D4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DOM Updates (textContent = count)</a:t>
              </a:r>
              <a:endParaRPr b="0" i="0" sz="825" u="none" cap="none" strike="noStrike">
                <a:solidFill>
                  <a:srgbClr val="D4D4D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536" name="Google Shape;1536;p82"/>
          <p:cNvGrpSpPr/>
          <p:nvPr/>
        </p:nvGrpSpPr>
        <p:grpSpPr>
          <a:xfrm>
            <a:off x="7343775" y="3724275"/>
            <a:ext cx="171600" cy="76200"/>
            <a:chOff x="0" y="9525"/>
            <a:chExt cx="171600" cy="76200"/>
          </a:xfrm>
        </p:grpSpPr>
        <p:cxnSp>
          <p:nvCxnSpPr>
            <p:cNvPr id="1537" name="Google Shape;1537;p82"/>
            <p:cNvCxnSpPr/>
            <p:nvPr/>
          </p:nvCxnSpPr>
          <p:spPr>
            <a:xfrm>
              <a:off x="0" y="47625"/>
              <a:ext cx="1524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007AC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8" name="Google Shape;1538;p82"/>
            <p:cNvSpPr/>
            <p:nvPr/>
          </p:nvSpPr>
          <p:spPr>
            <a:xfrm>
              <a:off x="114300" y="952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7A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9" name="Google Shape;1539;p82"/>
          <p:cNvGrpSpPr/>
          <p:nvPr/>
        </p:nvGrpSpPr>
        <p:grpSpPr>
          <a:xfrm>
            <a:off x="7553325" y="3190875"/>
            <a:ext cx="1181100" cy="1143000"/>
            <a:chOff x="0" y="0"/>
            <a:chExt cx="1181100" cy="1143000"/>
          </a:xfrm>
        </p:grpSpPr>
        <p:sp>
          <p:nvSpPr>
            <p:cNvPr id="1540" name="Google Shape;1540;p82"/>
            <p:cNvSpPr/>
            <p:nvPr/>
          </p:nvSpPr>
          <p:spPr>
            <a:xfrm>
              <a:off x="0" y="0"/>
              <a:ext cx="1181100" cy="1143000"/>
            </a:xfrm>
            <a:prstGeom prst="roundRect">
              <a:avLst>
                <a:gd fmla="val 5000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82"/>
            <p:cNvSpPr/>
            <p:nvPr/>
          </p:nvSpPr>
          <p:spPr>
            <a:xfrm>
              <a:off x="0" y="0"/>
              <a:ext cx="1181100" cy="28500"/>
            </a:xfrm>
            <a:prstGeom prst="roundRect">
              <a:avLst>
                <a:gd fmla="val 50000" name="adj"/>
              </a:avLst>
            </a:pr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82"/>
            <p:cNvSpPr txBox="1"/>
            <p:nvPr/>
          </p:nvSpPr>
          <p:spPr>
            <a:xfrm>
              <a:off x="76200" y="142875"/>
              <a:ext cx="1028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5"/>
                <a:buFont typeface="Arial"/>
                <a:buNone/>
              </a:pPr>
              <a:r>
                <a:rPr b="1" i="0" lang="en" sz="97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06</a:t>
              </a:r>
              <a:endParaRPr b="1" i="0" sz="975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D4D4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Changes Instantly</a:t>
              </a:r>
              <a:endParaRPr b="0" i="0" sz="825" u="none" cap="none" strike="noStrike">
                <a:solidFill>
                  <a:srgbClr val="D4D4D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1543" name="Google Shape;1543;p82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83"/>
          <p:cNvSpPr/>
          <p:nvPr/>
        </p:nvSpPr>
        <p:spPr>
          <a:xfrm>
            <a:off x="0" y="0"/>
            <a:ext cx="190500" cy="514350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9" name="Google Shape;1549;p83"/>
          <p:cNvGrpSpPr/>
          <p:nvPr/>
        </p:nvGrpSpPr>
        <p:grpSpPr>
          <a:xfrm>
            <a:off x="428625" y="285750"/>
            <a:ext cx="533400" cy="533400"/>
            <a:chOff x="0" y="0"/>
            <a:chExt cx="381000" cy="381000"/>
          </a:xfrm>
        </p:grpSpPr>
        <p:sp>
          <p:nvSpPr>
            <p:cNvPr id="1550" name="Google Shape;1550;p83"/>
            <p:cNvSpPr/>
            <p:nvPr/>
          </p:nvSpPr>
          <p:spPr>
            <a:xfrm>
              <a:off x="0" y="0"/>
              <a:ext cx="381000" cy="381000"/>
            </a:xfrm>
            <a:prstGeom prst="ellipse">
              <a:avLst/>
            </a:prstGeom>
            <a:solidFill>
              <a:srgbClr val="F7DF1E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83"/>
            <p:cNvSpPr/>
            <p:nvPr/>
          </p:nvSpPr>
          <p:spPr>
            <a:xfrm>
              <a:off x="95250" y="57150"/>
              <a:ext cx="171600" cy="266700"/>
            </a:xfrm>
            <a:custGeom>
              <a:rect b="b" l="l" r="r" t="t"/>
              <a:pathLst>
                <a:path extrusionOk="0" h="120000" w="120000">
                  <a:moveTo>
                    <a:pt x="80000" y="0"/>
                  </a:moveTo>
                  <a:lnTo>
                    <a:pt x="0" y="60000"/>
                  </a:lnTo>
                  <a:lnTo>
                    <a:pt x="53333" y="60000"/>
                  </a:lnTo>
                  <a:lnTo>
                    <a:pt x="40000" y="120000"/>
                  </a:lnTo>
                  <a:lnTo>
                    <a:pt x="120000" y="60000"/>
                  </a:lnTo>
                  <a:lnTo>
                    <a:pt x="66667" y="60000"/>
                  </a:lnTo>
                  <a:lnTo>
                    <a:pt x="80000" y="0"/>
                  </a:lnTo>
                  <a:close/>
                </a:path>
              </a:pathLst>
            </a:cu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2" name="Google Shape;1552;p83"/>
          <p:cNvSpPr txBox="1"/>
          <p:nvPr/>
        </p:nvSpPr>
        <p:spPr>
          <a:xfrm>
            <a:off x="1143000" y="238125"/>
            <a:ext cx="7239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Final Challenge: Build an Interactive Student Card</a:t>
            </a:r>
            <a:endParaRPr b="1" i="0" sz="2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53" name="Google Shape;1553;p83"/>
          <p:cNvGrpSpPr/>
          <p:nvPr/>
        </p:nvGrpSpPr>
        <p:grpSpPr>
          <a:xfrm>
            <a:off x="952500" y="1238250"/>
            <a:ext cx="3619500" cy="1809600"/>
            <a:chOff x="952500" y="1238250"/>
            <a:chExt cx="3619500" cy="1809600"/>
          </a:xfrm>
        </p:grpSpPr>
        <p:sp>
          <p:nvSpPr>
            <p:cNvPr id="1554" name="Google Shape;1554;p83"/>
            <p:cNvSpPr/>
            <p:nvPr/>
          </p:nvSpPr>
          <p:spPr>
            <a:xfrm>
              <a:off x="952500" y="1238250"/>
              <a:ext cx="3619500" cy="1809600"/>
            </a:xfrm>
            <a:prstGeom prst="roundRect">
              <a:avLst>
                <a:gd fmla="val 4210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83"/>
            <p:cNvSpPr/>
            <p:nvPr/>
          </p:nvSpPr>
          <p:spPr>
            <a:xfrm>
              <a:off x="952500" y="1238250"/>
              <a:ext cx="57300" cy="1809600"/>
            </a:xfrm>
            <a:prstGeom prst="roundRect">
              <a:avLst>
                <a:gd fmla="val 50000" name="adj"/>
              </a:avLst>
            </a:prstGeom>
            <a:solidFill>
              <a:srgbClr val="F7DF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56" name="Google Shape;1556;p83"/>
            <p:cNvGrpSpPr/>
            <p:nvPr/>
          </p:nvGrpSpPr>
          <p:grpSpPr>
            <a:xfrm>
              <a:off x="1143000" y="1381125"/>
              <a:ext cx="304800" cy="304800"/>
              <a:chOff x="0" y="0"/>
              <a:chExt cx="381000" cy="381000"/>
            </a:xfrm>
          </p:grpSpPr>
          <p:sp>
            <p:nvSpPr>
              <p:cNvPr id="1557" name="Google Shape;1557;p83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7DF1E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83"/>
              <p:cNvSpPr/>
              <p:nvPr/>
            </p:nvSpPr>
            <p:spPr>
              <a:xfrm>
                <a:off x="95250" y="57150"/>
                <a:ext cx="171600" cy="266700"/>
              </a:xfrm>
              <a:custGeom>
                <a:rect b="b" l="l" r="r" t="t"/>
                <a:pathLst>
                  <a:path extrusionOk="0" h="120000" w="120000">
                    <a:moveTo>
                      <a:pt x="80000" y="0"/>
                    </a:moveTo>
                    <a:lnTo>
                      <a:pt x="0" y="60000"/>
                    </a:lnTo>
                    <a:lnTo>
                      <a:pt x="53333" y="60000"/>
                    </a:lnTo>
                    <a:lnTo>
                      <a:pt x="40000" y="120000"/>
                    </a:lnTo>
                    <a:lnTo>
                      <a:pt x="120000" y="60000"/>
                    </a:lnTo>
                    <a:lnTo>
                      <a:pt x="66667" y="60000"/>
                    </a:lnTo>
                    <a:lnTo>
                      <a:pt x="80000" y="0"/>
                    </a:lnTo>
                    <a:close/>
                  </a:path>
                </a:pathLst>
              </a:custGeom>
              <a:solidFill>
                <a:srgbClr val="F7DF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59" name="Google Shape;1559;p83"/>
            <p:cNvSpPr txBox="1"/>
            <p:nvPr/>
          </p:nvSpPr>
          <p:spPr>
            <a:xfrm>
              <a:off x="1524000" y="135255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1" i="0" lang="en" sz="1350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rPr>
                <a:t>CHALLENGE SPECIFICATIONS</a:t>
              </a:r>
              <a:endParaRPr b="1" i="0" sz="1350" u="none" cap="none" strike="noStrike">
                <a:solidFill>
                  <a:srgbClr val="F7DF1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60" name="Google Shape;1560;p83"/>
            <p:cNvSpPr txBox="1"/>
            <p:nvPr/>
          </p:nvSpPr>
          <p:spPr>
            <a:xfrm>
              <a:off x="1143000" y="1762125"/>
              <a:ext cx="32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7"/>
                <a:buFont typeface="Arial"/>
                <a:buNone/>
              </a:pPr>
              <a:r>
                <a:rPr b="0" i="0" lang="en" sz="937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Combine variables, functions, DOM manipulation, and events to create a profile card with:</a:t>
              </a:r>
              <a:endParaRPr b="0" i="0" sz="937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3666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D4D4D4"/>
                </a:buClr>
                <a:buSzPts val="867"/>
                <a:buFont typeface="Inter"/>
                <a:buChar char="●"/>
              </a:pPr>
              <a:r>
                <a:rPr b="0" i="0" lang="en" sz="867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"Change Theme" Button</a:t>
              </a:r>
              <a:r>
                <a:rPr b="0" i="0" lang="en" sz="867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to dynamically toggle styles</a:t>
              </a:r>
              <a:endParaRPr b="0" i="0" sz="867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3666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D4D4D4"/>
                </a:buClr>
                <a:buSzPts val="867"/>
                <a:buFont typeface="Inter"/>
                <a:buChar char="●"/>
              </a:pPr>
              <a:r>
                <a:rPr b="0" i="0" lang="en" sz="867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Custom Greeting Message</a:t>
              </a:r>
              <a:r>
                <a:rPr b="0" i="0" lang="en" sz="867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 personalized for students</a:t>
              </a:r>
              <a:endParaRPr b="0" i="0" sz="867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561" name="Google Shape;156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3190875"/>
            <a:ext cx="1714500" cy="12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2" name="Google Shape;1562;p83"/>
          <p:cNvGrpSpPr/>
          <p:nvPr/>
        </p:nvGrpSpPr>
        <p:grpSpPr>
          <a:xfrm>
            <a:off x="2809875" y="3190875"/>
            <a:ext cx="1762200" cy="1285800"/>
            <a:chOff x="0" y="0"/>
            <a:chExt cx="1762200" cy="1285800"/>
          </a:xfrm>
        </p:grpSpPr>
        <p:sp>
          <p:nvSpPr>
            <p:cNvPr id="1563" name="Google Shape;1563;p83"/>
            <p:cNvSpPr/>
            <p:nvPr/>
          </p:nvSpPr>
          <p:spPr>
            <a:xfrm>
              <a:off x="0" y="0"/>
              <a:ext cx="1762200" cy="1285800"/>
            </a:xfrm>
            <a:prstGeom prst="roundRect">
              <a:avLst>
                <a:gd fmla="val 2962" name="adj"/>
              </a:avLst>
            </a:prstGeom>
            <a:solidFill>
              <a:srgbClr val="007ACC">
                <a:alpha val="10196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83"/>
            <p:cNvSpPr/>
            <p:nvPr/>
          </p:nvSpPr>
          <p:spPr>
            <a:xfrm>
              <a:off x="0" y="0"/>
              <a:ext cx="38100" cy="1285800"/>
            </a:xfrm>
            <a:prstGeom prst="roundRect">
              <a:avLst>
                <a:gd fmla="val 50000" name="adj"/>
              </a:avLst>
            </a:prstGeom>
            <a:solidFill>
              <a:srgbClr val="007A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83"/>
            <p:cNvSpPr txBox="1"/>
            <p:nvPr/>
          </p:nvSpPr>
          <p:spPr>
            <a:xfrm>
              <a:off x="142875" y="95250"/>
              <a:ext cx="1524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1" i="0" lang="en" sz="825" u="none" cap="none" strike="noStrike">
                  <a:solidFill>
                    <a:srgbClr val="9CDCFE"/>
                  </a:solidFill>
                  <a:latin typeface="Inter"/>
                  <a:ea typeface="Inter"/>
                  <a:cs typeface="Inter"/>
                  <a:sym typeface="Inter"/>
                </a:rPr>
                <a:t>Remember:</a:t>
              </a:r>
              <a:endParaRPr b="0" i="0" sz="8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HTML is </a:t>
              </a:r>
              <a:r>
                <a:rPr b="0" i="0" lang="en" sz="825" u="none" cap="none" strike="noStrike">
                  <a:solidFill>
                    <a:srgbClr val="E34F2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Structure</a:t>
              </a:r>
              <a:endParaRPr b="0" i="0" sz="8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CSS is </a:t>
              </a:r>
              <a:r>
                <a:rPr b="0" i="0" lang="en" sz="825" u="none" cap="none" strike="noStrike">
                  <a:solidFill>
                    <a:srgbClr val="1572B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Style</a:t>
              </a:r>
              <a:endParaRPr b="0" i="0" sz="8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D4D4D4"/>
                  </a:solidFill>
                  <a:latin typeface="Inter"/>
                  <a:ea typeface="Inter"/>
                  <a:cs typeface="Inter"/>
                  <a:sym typeface="Inter"/>
                </a:rPr>
                <a:t>JS is </a:t>
              </a:r>
              <a:r>
                <a:rPr b="0" i="0" lang="en" sz="825" u="none" cap="none" strike="noStrike">
                  <a:solidFill>
                    <a:srgbClr val="F7DF1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Behavior</a:t>
              </a:r>
              <a:endParaRPr b="0" i="0" sz="825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25"/>
                <a:buFont typeface="Arial"/>
                <a:buNone/>
              </a:pPr>
              <a:r>
                <a:rPr b="0" i="0" lang="en" sz="825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Keep practicing!</a:t>
              </a:r>
              <a:endParaRPr b="0" i="0" sz="82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566" name="Google Shape;1566;p83"/>
          <p:cNvGrpSpPr/>
          <p:nvPr/>
        </p:nvGrpSpPr>
        <p:grpSpPr>
          <a:xfrm>
            <a:off x="4762500" y="1238250"/>
            <a:ext cx="3905400" cy="3238500"/>
            <a:chOff x="4762500" y="1238250"/>
            <a:chExt cx="3905400" cy="3238500"/>
          </a:xfrm>
        </p:grpSpPr>
        <p:sp>
          <p:nvSpPr>
            <p:cNvPr id="1567" name="Google Shape;1567;p83"/>
            <p:cNvSpPr/>
            <p:nvPr/>
          </p:nvSpPr>
          <p:spPr>
            <a:xfrm>
              <a:off x="4762500" y="123825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252526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83"/>
            <p:cNvSpPr/>
            <p:nvPr/>
          </p:nvSpPr>
          <p:spPr>
            <a:xfrm>
              <a:off x="4762500" y="1238250"/>
              <a:ext cx="3905400" cy="342900"/>
            </a:xfrm>
            <a:custGeom>
              <a:rect b="b" l="l" r="r" t="t"/>
              <a:pathLst>
                <a:path extrusionOk="0" h="120000" w="120000">
                  <a:moveTo>
                    <a:pt x="0" y="26667"/>
                  </a:moveTo>
                  <a:cubicBezTo>
                    <a:pt x="0" y="19595"/>
                    <a:pt x="247" y="12812"/>
                    <a:pt x="686" y="7811"/>
                  </a:cubicBezTo>
                  <a:cubicBezTo>
                    <a:pt x="1125" y="2810"/>
                    <a:pt x="1720" y="0"/>
                    <a:pt x="2341" y="0"/>
                  </a:cubicBezTo>
                  <a:lnTo>
                    <a:pt x="117659" y="0"/>
                  </a:lnTo>
                  <a:cubicBezTo>
                    <a:pt x="118952" y="3"/>
                    <a:pt x="120000" y="11941"/>
                    <a:pt x="120000" y="26667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83"/>
            <p:cNvSpPr/>
            <p:nvPr/>
          </p:nvSpPr>
          <p:spPr>
            <a:xfrm>
              <a:off x="4962525" y="1371600"/>
              <a:ext cx="76200" cy="76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83"/>
            <p:cNvSpPr/>
            <p:nvPr/>
          </p:nvSpPr>
          <p:spPr>
            <a:xfrm>
              <a:off x="5076825" y="1371600"/>
              <a:ext cx="76200" cy="76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83"/>
            <p:cNvSpPr/>
            <p:nvPr/>
          </p:nvSpPr>
          <p:spPr>
            <a:xfrm>
              <a:off x="5191125" y="1371600"/>
              <a:ext cx="76200" cy="76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83"/>
            <p:cNvSpPr txBox="1"/>
            <p:nvPr/>
          </p:nvSpPr>
          <p:spPr>
            <a:xfrm>
              <a:off x="5429250" y="1314450"/>
              <a:ext cx="304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858585"/>
                  </a:solidFill>
                  <a:latin typeface="Fira Code"/>
                  <a:ea typeface="Fira Code"/>
                  <a:cs typeface="Fira Code"/>
                  <a:sym typeface="Fira Code"/>
                </a:rPr>
                <a:t>cheat_sheet.json</a:t>
              </a:r>
              <a:endParaRPr b="0" i="0" sz="900" u="none" cap="none" strike="noStrike">
                <a:solidFill>
                  <a:srgbClr val="858585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grpSp>
          <p:nvGrpSpPr>
            <p:cNvPr id="1573" name="Google Shape;1573;p83"/>
            <p:cNvGrpSpPr/>
            <p:nvPr/>
          </p:nvGrpSpPr>
          <p:grpSpPr>
            <a:xfrm>
              <a:off x="4953000" y="1704975"/>
              <a:ext cx="3524400" cy="285900"/>
              <a:chOff x="0" y="-28575"/>
              <a:chExt cx="3524400" cy="285900"/>
            </a:xfrm>
          </p:grpSpPr>
          <p:sp>
            <p:nvSpPr>
              <p:cNvPr id="1574" name="Google Shape;1574;p83"/>
              <p:cNvSpPr/>
              <p:nvPr/>
            </p:nvSpPr>
            <p:spPr>
              <a:xfrm>
                <a:off x="0" y="0"/>
                <a:ext cx="6192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E3E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5" name="Google Shape;1575;p83"/>
              <p:cNvSpPr txBox="1"/>
              <p:nvPr/>
            </p:nvSpPr>
            <p:spPr>
              <a:xfrm>
                <a:off x="0" y="0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n" sz="825" u="none" cap="none" strike="noStrike">
                    <a:solidFill>
                      <a:srgbClr val="F7DF1E"/>
                    </a:solidFill>
                    <a:latin typeface="Inter"/>
                    <a:ea typeface="Inter"/>
                    <a:cs typeface="Inter"/>
                    <a:sym typeface="Inter"/>
                  </a:rPr>
                  <a:t>DATA</a:t>
                </a:r>
                <a:endParaRPr b="1" i="0" sz="82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6" name="Google Shape;1576;p83"/>
              <p:cNvSpPr txBox="1"/>
              <p:nvPr/>
            </p:nvSpPr>
            <p:spPr>
              <a:xfrm>
                <a:off x="762000" y="-28575"/>
                <a:ext cx="2762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8"/>
                  <a:buFont typeface="Arial"/>
                  <a:buNone/>
                </a:pPr>
                <a:r>
                  <a:rPr b="0" i="0" lang="en" sz="938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let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938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const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938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String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938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Number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938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Array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938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Object</a:t>
                </a:r>
                <a:endParaRPr b="0" i="0" sz="93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cxnSp>
          <p:nvCxnSpPr>
            <p:cNvPr id="1577" name="Google Shape;1577;p83"/>
            <p:cNvCxnSpPr/>
            <p:nvPr/>
          </p:nvCxnSpPr>
          <p:spPr>
            <a:xfrm>
              <a:off x="4953000" y="2124075"/>
              <a:ext cx="352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78" name="Google Shape;1578;p83"/>
            <p:cNvGrpSpPr/>
            <p:nvPr/>
          </p:nvGrpSpPr>
          <p:grpSpPr>
            <a:xfrm>
              <a:off x="4953000" y="2257425"/>
              <a:ext cx="3524400" cy="285900"/>
              <a:chOff x="0" y="-28575"/>
              <a:chExt cx="3524400" cy="285900"/>
            </a:xfrm>
          </p:grpSpPr>
          <p:sp>
            <p:nvSpPr>
              <p:cNvPr id="1579" name="Google Shape;1579;p83"/>
              <p:cNvSpPr/>
              <p:nvPr/>
            </p:nvSpPr>
            <p:spPr>
              <a:xfrm>
                <a:off x="0" y="0"/>
                <a:ext cx="6192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E3E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p83"/>
              <p:cNvSpPr txBox="1"/>
              <p:nvPr/>
            </p:nvSpPr>
            <p:spPr>
              <a:xfrm>
                <a:off x="0" y="0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n" sz="825" u="none" cap="none" strike="noStrike">
                    <a:solidFill>
                      <a:srgbClr val="F7DF1E"/>
                    </a:solidFill>
                    <a:latin typeface="Inter"/>
                    <a:ea typeface="Inter"/>
                    <a:cs typeface="Inter"/>
                    <a:sym typeface="Inter"/>
                  </a:rPr>
                  <a:t>LOGIC</a:t>
                </a:r>
                <a:endParaRPr b="1" i="0" sz="82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1" name="Google Shape;1581;p83"/>
              <p:cNvSpPr txBox="1"/>
              <p:nvPr/>
            </p:nvSpPr>
            <p:spPr>
              <a:xfrm>
                <a:off x="762000" y="-28575"/>
                <a:ext cx="2762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8"/>
                  <a:buFont typeface="Arial"/>
                  <a:buNone/>
                </a:pPr>
                <a:r>
                  <a:rPr b="0" i="0" lang="en" sz="938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if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/</a:t>
                </a:r>
                <a:r>
                  <a:rPr b="0" i="0" lang="en" sz="938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else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938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===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938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&amp;&amp;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938" u="none" cap="none" strike="noStrike">
                    <a:solidFill>
                      <a:srgbClr val="C586C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||</a:t>
                </a:r>
                <a:endParaRPr b="0" i="0" sz="93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cxnSp>
          <p:nvCxnSpPr>
            <p:cNvPr id="1582" name="Google Shape;1582;p83"/>
            <p:cNvCxnSpPr/>
            <p:nvPr/>
          </p:nvCxnSpPr>
          <p:spPr>
            <a:xfrm>
              <a:off x="4953000" y="2676525"/>
              <a:ext cx="352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83" name="Google Shape;1583;p83"/>
            <p:cNvGrpSpPr/>
            <p:nvPr/>
          </p:nvGrpSpPr>
          <p:grpSpPr>
            <a:xfrm>
              <a:off x="4953000" y="2809875"/>
              <a:ext cx="3524400" cy="285900"/>
              <a:chOff x="0" y="-28575"/>
              <a:chExt cx="3524400" cy="285900"/>
            </a:xfrm>
          </p:grpSpPr>
          <p:sp>
            <p:nvSpPr>
              <p:cNvPr id="1584" name="Google Shape;1584;p83"/>
              <p:cNvSpPr/>
              <p:nvPr/>
            </p:nvSpPr>
            <p:spPr>
              <a:xfrm>
                <a:off x="0" y="0"/>
                <a:ext cx="6192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E3E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83"/>
              <p:cNvSpPr txBox="1"/>
              <p:nvPr/>
            </p:nvSpPr>
            <p:spPr>
              <a:xfrm>
                <a:off x="0" y="0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n" sz="825" u="none" cap="none" strike="noStrike">
                    <a:solidFill>
                      <a:srgbClr val="F7DF1E"/>
                    </a:solidFill>
                    <a:latin typeface="Inter"/>
                    <a:ea typeface="Inter"/>
                    <a:cs typeface="Inter"/>
                    <a:sym typeface="Inter"/>
                  </a:rPr>
                  <a:t>LOOPS</a:t>
                </a:r>
                <a:endParaRPr b="1" i="0" sz="82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6" name="Google Shape;1586;p83"/>
              <p:cNvSpPr txBox="1"/>
              <p:nvPr/>
            </p:nvSpPr>
            <p:spPr>
              <a:xfrm>
                <a:off x="762000" y="-28575"/>
                <a:ext cx="2762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8"/>
                  <a:buFont typeface="Arial"/>
                  <a:buNone/>
                </a:pPr>
                <a:r>
                  <a:rPr b="0" i="0" lang="en" sz="938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for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938" u="none" cap="none" strike="noStrike">
                    <a:solidFill>
                      <a:srgbClr val="569CD6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while</a:t>
                </a:r>
                <a:endParaRPr b="0" i="0" sz="93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cxnSp>
          <p:nvCxnSpPr>
            <p:cNvPr id="1587" name="Google Shape;1587;p83"/>
            <p:cNvCxnSpPr/>
            <p:nvPr/>
          </p:nvCxnSpPr>
          <p:spPr>
            <a:xfrm>
              <a:off x="4953000" y="3228975"/>
              <a:ext cx="352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88" name="Google Shape;1588;p83"/>
            <p:cNvGrpSpPr/>
            <p:nvPr/>
          </p:nvGrpSpPr>
          <p:grpSpPr>
            <a:xfrm>
              <a:off x="4953000" y="3362325"/>
              <a:ext cx="3524400" cy="285900"/>
              <a:chOff x="0" y="-28575"/>
              <a:chExt cx="3524400" cy="285900"/>
            </a:xfrm>
          </p:grpSpPr>
          <p:sp>
            <p:nvSpPr>
              <p:cNvPr id="1589" name="Google Shape;1589;p83"/>
              <p:cNvSpPr/>
              <p:nvPr/>
            </p:nvSpPr>
            <p:spPr>
              <a:xfrm>
                <a:off x="0" y="0"/>
                <a:ext cx="6192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E3E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83"/>
              <p:cNvSpPr txBox="1"/>
              <p:nvPr/>
            </p:nvSpPr>
            <p:spPr>
              <a:xfrm>
                <a:off x="0" y="0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n" sz="825" u="none" cap="none" strike="noStrike">
                    <a:solidFill>
                      <a:srgbClr val="F7DF1E"/>
                    </a:solidFill>
                    <a:latin typeface="Inter"/>
                    <a:ea typeface="Inter"/>
                    <a:cs typeface="Inter"/>
                    <a:sym typeface="Inter"/>
                  </a:rPr>
                  <a:t>DOM</a:t>
                </a:r>
                <a:endParaRPr b="1" i="0" sz="82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1" name="Google Shape;1591;p83"/>
              <p:cNvSpPr txBox="1"/>
              <p:nvPr/>
            </p:nvSpPr>
            <p:spPr>
              <a:xfrm>
                <a:off x="762000" y="-28575"/>
                <a:ext cx="2762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8"/>
                  <a:buFont typeface="Arial"/>
                  <a:buNone/>
                </a:pPr>
                <a:r>
                  <a:rPr b="0" i="0" lang="en" sz="938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getElementById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938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querySelector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, </a:t>
                </a:r>
                <a:r>
                  <a:rPr b="0" i="0" lang="en" sz="938" u="none" cap="none" strike="noStrike">
                    <a:solidFill>
                      <a:srgbClr val="9CDCF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textContent</a:t>
                </a:r>
                <a:endParaRPr b="0" i="0" sz="93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cxnSp>
          <p:nvCxnSpPr>
            <p:cNvPr id="1592" name="Google Shape;1592;p83"/>
            <p:cNvCxnSpPr/>
            <p:nvPr/>
          </p:nvCxnSpPr>
          <p:spPr>
            <a:xfrm>
              <a:off x="4953000" y="3781425"/>
              <a:ext cx="352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E3E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93" name="Google Shape;1593;p83"/>
            <p:cNvGrpSpPr/>
            <p:nvPr/>
          </p:nvGrpSpPr>
          <p:grpSpPr>
            <a:xfrm>
              <a:off x="4953000" y="3914775"/>
              <a:ext cx="3524400" cy="285900"/>
              <a:chOff x="0" y="-28575"/>
              <a:chExt cx="3524400" cy="285900"/>
            </a:xfrm>
          </p:grpSpPr>
          <p:sp>
            <p:nvSpPr>
              <p:cNvPr id="1594" name="Google Shape;1594;p83"/>
              <p:cNvSpPr/>
              <p:nvPr/>
            </p:nvSpPr>
            <p:spPr>
              <a:xfrm>
                <a:off x="0" y="0"/>
                <a:ext cx="6192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3E3E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83"/>
              <p:cNvSpPr txBox="1"/>
              <p:nvPr/>
            </p:nvSpPr>
            <p:spPr>
              <a:xfrm>
                <a:off x="0" y="0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25"/>
                  <a:buFont typeface="Arial"/>
                  <a:buNone/>
                </a:pPr>
                <a:r>
                  <a:rPr b="1" i="0" lang="en" sz="825" u="none" cap="none" strike="noStrike">
                    <a:solidFill>
                      <a:srgbClr val="F7DF1E"/>
                    </a:solidFill>
                    <a:latin typeface="Inter"/>
                    <a:ea typeface="Inter"/>
                    <a:cs typeface="Inter"/>
                    <a:sym typeface="Inter"/>
                  </a:rPr>
                  <a:t>EVENTS</a:t>
                </a:r>
                <a:endParaRPr b="1" i="0" sz="825" u="none" cap="none" strike="noStrike">
                  <a:solidFill>
                    <a:srgbClr val="F7DF1E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6" name="Google Shape;1596;p83"/>
              <p:cNvSpPr txBox="1"/>
              <p:nvPr/>
            </p:nvSpPr>
            <p:spPr>
              <a:xfrm>
                <a:off x="762000" y="-28575"/>
                <a:ext cx="2762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8"/>
                  <a:buFont typeface="Arial"/>
                  <a:buNone/>
                </a:pPr>
                <a:r>
                  <a:rPr b="0" i="0" lang="en" sz="938" u="none" cap="none" strike="noStrike">
                    <a:solidFill>
                      <a:srgbClr val="DCDCAA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addEventListener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(</a:t>
                </a:r>
                <a:r>
                  <a:rPr b="0" i="0" lang="en" sz="938" u="none" cap="none" strike="noStrike">
                    <a:solidFill>
                      <a:srgbClr val="CE9178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'click'</a:t>
                </a:r>
                <a:r>
                  <a:rPr b="0" i="0" lang="en" sz="938" u="none" cap="none" strike="noStrike">
                    <a:solidFill>
                      <a:srgbClr val="D4D4D4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)</a:t>
                </a:r>
                <a:endParaRPr b="0" i="0" sz="938" u="none" cap="none" strike="noStrike">
                  <a:solidFill>
                    <a:srgbClr val="D4D4D4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</p:grpSp>
      <p:pic>
        <p:nvPicPr>
          <p:cNvPr id="1597" name="Google Shape;1597;p83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2344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8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84"/>
          <p:cNvSpPr/>
          <p:nvPr/>
        </p:nvSpPr>
        <p:spPr>
          <a:xfrm>
            <a:off x="4429125" y="1190625"/>
            <a:ext cx="285900" cy="190500"/>
          </a:xfrm>
          <a:custGeom>
            <a:rect b="b" l="l" r="r" t="t"/>
            <a:pathLst>
              <a:path extrusionOk="0" h="120000" w="120000">
                <a:moveTo>
                  <a:pt x="40000" y="0"/>
                </a:moveTo>
                <a:lnTo>
                  <a:pt x="0" y="60000"/>
                </a:lnTo>
                <a:lnTo>
                  <a:pt x="40000" y="120000"/>
                </a:lnTo>
                <a:moveTo>
                  <a:pt x="80000" y="0"/>
                </a:moveTo>
                <a:lnTo>
                  <a:pt x="120000" y="60000"/>
                </a:lnTo>
                <a:lnTo>
                  <a:pt x="8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8100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84"/>
          <p:cNvSpPr txBox="1"/>
          <p:nvPr/>
        </p:nvSpPr>
        <p:spPr>
          <a:xfrm>
            <a:off x="476250" y="619125"/>
            <a:ext cx="3905400" cy="4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63">
                <a:solidFill>
                  <a:srgbClr val="569CD6"/>
                </a:solidFill>
                <a:highlight>
                  <a:srgbClr val="2D2D2D"/>
                </a:highlight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Web Development Workshop — Advanced JS</a:t>
            </a:r>
            <a:endParaRPr b="0" sz="763">
              <a:solidFill>
                <a:srgbClr val="569CD6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" sz="3191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Advanced</a:t>
            </a:r>
            <a:endParaRPr b="0" sz="763">
              <a:solidFill>
                <a:srgbClr val="569CD6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91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JavaScript</a:t>
            </a:r>
            <a:endParaRPr b="0" sz="763">
              <a:solidFill>
                <a:srgbClr val="569CD6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" sz="1388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 Functions → Async Logic → APIs</a:t>
            </a:r>
            <a:endParaRPr b="0" sz="763">
              <a:solidFill>
                <a:srgbClr val="569CD6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0" lang="en" sz="1041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Modern web applications require </a:t>
            </a:r>
            <a:r>
              <a:rPr b="0" lang="en" sz="1041">
                <a:solidFill>
                  <a:srgbClr val="DCDCA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dynamic data loading</a:t>
            </a:r>
            <a:r>
              <a:rPr b="0" lang="en" sz="763">
                <a:solidFill>
                  <a:srgbClr val="569CD6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 </a:t>
            </a:r>
            <a:r>
              <a:rPr b="0" lang="en" sz="1041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without freezing the user interface.</a:t>
            </a:r>
            <a:endParaRPr b="0" sz="1041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041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Whether fetching user profiles, processing logins, loading product catalogs, enabling live chat, or executing search queries, JavaScript must handle operations where the answer is </a:t>
            </a:r>
            <a:r>
              <a:rPr b="0" lang="en" sz="1041">
                <a:solidFill>
                  <a:srgbClr val="CE917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not immediately available</a:t>
            </a:r>
            <a:r>
              <a:rPr b="0" lang="en" sz="763">
                <a:solidFill>
                  <a:srgbClr val="569CD6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 </a:t>
            </a:r>
            <a:r>
              <a:rPr b="0" lang="en" sz="1041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endParaRPr b="0" sz="763">
              <a:solidFill>
                <a:srgbClr val="569CD6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b="0" lang="en" sz="1041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 transition from basic, </a:t>
            </a:r>
            <a:r>
              <a:rPr b="0" i="1" lang="en" sz="1041">
                <a:solidFill>
                  <a:srgbClr val="6A995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synchronous</a:t>
            </a:r>
            <a:r>
              <a:rPr b="0" lang="en" sz="763">
                <a:solidFill>
                  <a:srgbClr val="569CD6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 </a:t>
            </a:r>
            <a:r>
              <a:rPr b="0" lang="en" sz="1041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scripts to modern, </a:t>
            </a:r>
            <a:r>
              <a:rPr b="0" lang="en" sz="1041">
                <a:solidFill>
                  <a:srgbClr val="C586C0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asynchronous JavaScript</a:t>
            </a:r>
            <a:r>
              <a:rPr b="0" lang="en" sz="763">
                <a:solidFill>
                  <a:srgbClr val="569CD6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 </a:t>
            </a:r>
            <a:r>
              <a:rPr b="0" lang="en" sz="1041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 the core of professional web development.</a:t>
            </a:r>
            <a:endParaRPr b="0" sz="763">
              <a:solidFill>
                <a:srgbClr val="569CD6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</p:txBody>
      </p:sp>
      <p:grpSp>
        <p:nvGrpSpPr>
          <p:cNvPr id="1605" name="Google Shape;1605;p84"/>
          <p:cNvGrpSpPr/>
          <p:nvPr/>
        </p:nvGrpSpPr>
        <p:grpSpPr>
          <a:xfrm>
            <a:off x="4762500" y="619125"/>
            <a:ext cx="4343400" cy="4143525"/>
            <a:chOff x="4667250" y="857250"/>
            <a:chExt cx="4343400" cy="4143525"/>
          </a:xfrm>
        </p:grpSpPr>
        <p:sp>
          <p:nvSpPr>
            <p:cNvPr id="1606" name="Google Shape;1606;p84"/>
            <p:cNvSpPr/>
            <p:nvPr/>
          </p:nvSpPr>
          <p:spPr>
            <a:xfrm>
              <a:off x="4895850" y="944025"/>
              <a:ext cx="4000500" cy="3619500"/>
            </a:xfrm>
            <a:prstGeom prst="roundRect">
              <a:avLst>
                <a:gd fmla="val 2105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84"/>
            <p:cNvSpPr/>
            <p:nvPr/>
          </p:nvSpPr>
          <p:spPr>
            <a:xfrm>
              <a:off x="4895850" y="944025"/>
              <a:ext cx="4000500" cy="3048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9975"/>
                    <a:pt x="760" y="0"/>
                    <a:pt x="2286" y="0"/>
                  </a:cubicBezTo>
                  <a:lnTo>
                    <a:pt x="117714" y="0"/>
                  </a:lnTo>
                  <a:cubicBezTo>
                    <a:pt x="119237" y="0"/>
                    <a:pt x="120000" y="9975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84"/>
            <p:cNvSpPr/>
            <p:nvPr/>
          </p:nvSpPr>
          <p:spPr>
            <a:xfrm>
              <a:off x="4781550" y="1162050"/>
              <a:ext cx="76200" cy="76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84"/>
            <p:cNvSpPr/>
            <p:nvPr/>
          </p:nvSpPr>
          <p:spPr>
            <a:xfrm>
              <a:off x="4895850" y="1162050"/>
              <a:ext cx="76200" cy="76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84"/>
            <p:cNvSpPr/>
            <p:nvPr/>
          </p:nvSpPr>
          <p:spPr>
            <a:xfrm>
              <a:off x="5010150" y="1162050"/>
              <a:ext cx="76200" cy="76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84"/>
            <p:cNvSpPr txBox="1"/>
            <p:nvPr/>
          </p:nvSpPr>
          <p:spPr>
            <a:xfrm>
              <a:off x="5010150" y="857250"/>
              <a:ext cx="4000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roadmap.js</a:t>
              </a:r>
              <a:endParaRPr b="0" sz="8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612" name="Google Shape;1612;p84"/>
            <p:cNvSpPr txBox="1"/>
            <p:nvPr/>
          </p:nvSpPr>
          <p:spPr>
            <a:xfrm>
              <a:off x="5029200" y="1333425"/>
              <a:ext cx="3619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JS Conceptual Progression</a:t>
              </a:r>
              <a:endParaRPr b="0" i="1" sz="1000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 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jsEvolution</a:t>
              </a: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= [</a:t>
              </a:r>
              <a:endParaRPr b="0" sz="1000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90500" marR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"Variables"</a:t>
              </a:r>
              <a:r>
                <a:rPr lang="en" sz="110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, </a:t>
              </a:r>
              <a:r>
                <a:rPr b="0" i="1" lang="en" sz="1000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[01] Done</a:t>
              </a:r>
              <a:endParaRPr sz="110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90500" marR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"Functions"</a:t>
              </a:r>
              <a:r>
                <a:rPr lang="en" sz="110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, </a:t>
              </a:r>
              <a:r>
                <a:rPr b="0" i="1" lang="en" sz="1000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[02] Done</a:t>
              </a:r>
              <a:endParaRPr sz="110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90500" marR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"DOM Manipulation"</a:t>
              </a:r>
              <a:r>
                <a:rPr lang="en" sz="110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, </a:t>
              </a:r>
              <a:r>
                <a:rPr b="0" i="1" lang="en" sz="1000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[03] Done</a:t>
              </a:r>
              <a:endParaRPr sz="110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CE9178"/>
                  </a:solidFill>
                  <a:highlight>
                    <a:srgbClr val="1E1E1E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"Async Logic"</a:t>
              </a:r>
              <a:r>
                <a:rPr b="1" lang="en" sz="1100">
                  <a:solidFill>
                    <a:srgbClr val="FFFFFF"/>
                  </a:solidFill>
                  <a:highlight>
                    <a:srgbClr val="1E1E1E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, </a:t>
              </a:r>
              <a:r>
                <a:rPr b="1" lang="en" sz="1100">
                  <a:solidFill>
                    <a:srgbClr val="569CD6"/>
                  </a:solidFill>
                  <a:highlight>
                    <a:srgbClr val="1E1E1E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// [04] ACTIVE</a:t>
              </a:r>
              <a:endParaRPr b="1" sz="1100">
                <a:solidFill>
                  <a:srgbClr val="FFFFFF"/>
                </a:solidFill>
                <a:highlight>
                  <a:srgbClr val="1E1E1E"/>
                </a:highlight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90500" marR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"Web APIs"</a:t>
              </a:r>
              <a:r>
                <a:rPr lang="en" sz="11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" sz="11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[05] NEXT</a:t>
              </a:r>
              <a:endParaRPr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];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613" name="Google Shape;1613;p84"/>
            <p:cNvSpPr txBox="1"/>
            <p:nvPr/>
          </p:nvSpPr>
          <p:spPr>
            <a:xfrm>
              <a:off x="4667250" y="4714875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902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/* Figure 2: The Core of Professional JS Development */</a:t>
              </a:r>
              <a:endParaRPr b="0" i="1" sz="902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1614" name="Google Shape;1614;p84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85"/>
          <p:cNvSpPr/>
          <p:nvPr/>
        </p:nvSpPr>
        <p:spPr>
          <a:xfrm>
            <a:off x="476250" y="952500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85"/>
          <p:cNvSpPr txBox="1"/>
          <p:nvPr/>
        </p:nvSpPr>
        <p:spPr>
          <a:xfrm>
            <a:off x="476250" y="1066800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Before diving into async logic, we must understand how JavaScript executes code.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21" name="Google Shape;1621;p85"/>
          <p:cNvSpPr txBox="1"/>
          <p:nvPr/>
        </p:nvSpPr>
        <p:spPr>
          <a:xfrm>
            <a:off x="476250" y="333375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Scope + Execution Context</a:t>
            </a:r>
            <a:endParaRPr b="1" sz="285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22" name="Google Shape;1622;p85"/>
          <p:cNvSpPr txBox="1"/>
          <p:nvPr/>
        </p:nvSpPr>
        <p:spPr>
          <a:xfrm>
            <a:off x="476250" y="1352550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Scope: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Determines variable accessibility.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623" name="Google Shape;1623;p85"/>
          <p:cNvGrpSpPr/>
          <p:nvPr/>
        </p:nvGrpSpPr>
        <p:grpSpPr>
          <a:xfrm>
            <a:off x="476250" y="1638300"/>
            <a:ext cx="2571900" cy="1571700"/>
            <a:chOff x="0" y="0"/>
            <a:chExt cx="2571900" cy="1571700"/>
          </a:xfrm>
        </p:grpSpPr>
        <p:sp>
          <p:nvSpPr>
            <p:cNvPr id="1624" name="Google Shape;1624;p85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fmla="val 4848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85"/>
            <p:cNvSpPr/>
            <p:nvPr/>
          </p:nvSpPr>
          <p:spPr>
            <a:xfrm>
              <a:off x="0" y="0"/>
              <a:ext cx="2571900" cy="238200"/>
            </a:xfrm>
            <a:custGeom>
              <a:rect b="b" l="l" r="r" t="t"/>
              <a:pathLst>
                <a:path extrusionOk="0" h="120000" w="120000">
                  <a:moveTo>
                    <a:pt x="0" y="38400"/>
                  </a:moveTo>
                  <a:cubicBezTo>
                    <a:pt x="0" y="12816"/>
                    <a:pt x="1187" y="0"/>
                    <a:pt x="3556" y="0"/>
                  </a:cubicBezTo>
                  <a:lnTo>
                    <a:pt x="116444" y="0"/>
                  </a:lnTo>
                  <a:cubicBezTo>
                    <a:pt x="118813" y="0"/>
                    <a:pt x="120000" y="12816"/>
                    <a:pt x="120000" y="384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85"/>
            <p:cNvSpPr txBox="1"/>
            <p:nvPr/>
          </p:nvSpPr>
          <p:spPr>
            <a:xfrm>
              <a:off x="0" y="0"/>
              <a:ext cx="2571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global.js</a:t>
              </a:r>
              <a:endParaRPr b="0" sz="8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627" name="Google Shape;1627;p85"/>
            <p:cNvSpPr txBox="1"/>
            <p:nvPr/>
          </p:nvSpPr>
          <p:spPr>
            <a:xfrm>
              <a:off x="142875" y="333375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Global Scope</a:t>
              </a:r>
              <a:endParaRPr b="1" sz="1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Accessible everywhere.</a:t>
              </a:r>
              <a:endParaRPr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628" name="Google Shape;1628;p85"/>
            <p:cNvSpPr/>
            <p:nvPr/>
          </p:nvSpPr>
          <p:spPr>
            <a:xfrm>
              <a:off x="114300" y="1047750"/>
              <a:ext cx="2343300" cy="400200"/>
            </a:xfrm>
            <a:prstGeom prst="roundRect">
              <a:avLst>
                <a:gd fmla="val 9523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85"/>
            <p:cNvSpPr txBox="1"/>
            <p:nvPr/>
          </p:nvSpPr>
          <p:spPr>
            <a:xfrm>
              <a:off x="190500" y="1047750"/>
              <a:ext cx="2190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var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x = </a:t>
              </a:r>
              <a:r>
                <a:rPr b="0" lang="en" sz="95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'global'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;</a:t>
              </a:r>
              <a:endParaRPr b="0"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630" name="Google Shape;1630;p85"/>
          <p:cNvGrpSpPr/>
          <p:nvPr/>
        </p:nvGrpSpPr>
        <p:grpSpPr>
          <a:xfrm>
            <a:off x="3286125" y="1638300"/>
            <a:ext cx="2571900" cy="1571700"/>
            <a:chOff x="0" y="0"/>
            <a:chExt cx="2571900" cy="1571700"/>
          </a:xfrm>
        </p:grpSpPr>
        <p:sp>
          <p:nvSpPr>
            <p:cNvPr id="1631" name="Google Shape;1631;p85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fmla="val 4848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85"/>
            <p:cNvSpPr/>
            <p:nvPr/>
          </p:nvSpPr>
          <p:spPr>
            <a:xfrm>
              <a:off x="0" y="0"/>
              <a:ext cx="2571900" cy="238200"/>
            </a:xfrm>
            <a:custGeom>
              <a:rect b="b" l="l" r="r" t="t"/>
              <a:pathLst>
                <a:path extrusionOk="0" h="120000" w="120000">
                  <a:moveTo>
                    <a:pt x="0" y="38400"/>
                  </a:moveTo>
                  <a:cubicBezTo>
                    <a:pt x="0" y="12816"/>
                    <a:pt x="1187" y="0"/>
                    <a:pt x="3556" y="0"/>
                  </a:cubicBezTo>
                  <a:lnTo>
                    <a:pt x="116444" y="0"/>
                  </a:lnTo>
                  <a:cubicBezTo>
                    <a:pt x="118813" y="0"/>
                    <a:pt x="120000" y="12816"/>
                    <a:pt x="120000" y="384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85"/>
            <p:cNvSpPr txBox="1"/>
            <p:nvPr/>
          </p:nvSpPr>
          <p:spPr>
            <a:xfrm>
              <a:off x="0" y="0"/>
              <a:ext cx="2571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function.js</a:t>
              </a:r>
              <a:endParaRPr b="0" sz="8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634" name="Google Shape;1634;p85"/>
            <p:cNvSpPr txBox="1"/>
            <p:nvPr/>
          </p:nvSpPr>
          <p:spPr>
            <a:xfrm>
              <a:off x="142875" y="333375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Function Scope</a:t>
              </a:r>
              <a:endParaRPr b="1" sz="1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Accessible only within the function.</a:t>
              </a:r>
              <a:endParaRPr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635" name="Google Shape;1635;p85"/>
            <p:cNvSpPr/>
            <p:nvPr/>
          </p:nvSpPr>
          <p:spPr>
            <a:xfrm>
              <a:off x="114300" y="1047750"/>
              <a:ext cx="2343300" cy="400200"/>
            </a:xfrm>
            <a:prstGeom prst="roundRect">
              <a:avLst>
                <a:gd fmla="val 9523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85"/>
            <p:cNvSpPr txBox="1"/>
            <p:nvPr/>
          </p:nvSpPr>
          <p:spPr>
            <a:xfrm>
              <a:off x="190500" y="1047750"/>
              <a:ext cx="2190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function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 </a:t>
              </a:r>
              <a:r>
                <a:rPr b="0" lang="en" sz="95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var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y; }</a:t>
              </a:r>
              <a:endParaRPr b="0"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637" name="Google Shape;1637;p85"/>
          <p:cNvGrpSpPr/>
          <p:nvPr/>
        </p:nvGrpSpPr>
        <p:grpSpPr>
          <a:xfrm>
            <a:off x="6096000" y="1638300"/>
            <a:ext cx="2571900" cy="1571700"/>
            <a:chOff x="0" y="0"/>
            <a:chExt cx="2571900" cy="1571700"/>
          </a:xfrm>
        </p:grpSpPr>
        <p:sp>
          <p:nvSpPr>
            <p:cNvPr id="1638" name="Google Shape;1638;p85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fmla="val 4848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85"/>
            <p:cNvSpPr/>
            <p:nvPr/>
          </p:nvSpPr>
          <p:spPr>
            <a:xfrm>
              <a:off x="0" y="0"/>
              <a:ext cx="2571900" cy="238200"/>
            </a:xfrm>
            <a:custGeom>
              <a:rect b="b" l="l" r="r" t="t"/>
              <a:pathLst>
                <a:path extrusionOk="0" h="120000" w="120000">
                  <a:moveTo>
                    <a:pt x="0" y="38400"/>
                  </a:moveTo>
                  <a:cubicBezTo>
                    <a:pt x="0" y="12816"/>
                    <a:pt x="1187" y="0"/>
                    <a:pt x="3556" y="0"/>
                  </a:cubicBezTo>
                  <a:lnTo>
                    <a:pt x="116444" y="0"/>
                  </a:lnTo>
                  <a:cubicBezTo>
                    <a:pt x="118813" y="0"/>
                    <a:pt x="120000" y="12816"/>
                    <a:pt x="120000" y="384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85"/>
            <p:cNvSpPr txBox="1"/>
            <p:nvPr/>
          </p:nvSpPr>
          <p:spPr>
            <a:xfrm>
              <a:off x="0" y="0"/>
              <a:ext cx="2571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block.js</a:t>
              </a:r>
              <a:endParaRPr b="0" sz="8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641" name="Google Shape;1641;p85"/>
            <p:cNvSpPr txBox="1"/>
            <p:nvPr/>
          </p:nvSpPr>
          <p:spPr>
            <a:xfrm>
              <a:off x="142875" y="333375"/>
              <a:ext cx="2286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Block Scope</a:t>
              </a:r>
              <a:endParaRPr b="1" sz="1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Variables declared with let and const are confined to their block {}.</a:t>
              </a:r>
              <a:endParaRPr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642" name="Google Shape;1642;p85"/>
            <p:cNvSpPr/>
            <p:nvPr/>
          </p:nvSpPr>
          <p:spPr>
            <a:xfrm>
              <a:off x="114300" y="1047750"/>
              <a:ext cx="2343300" cy="400200"/>
            </a:xfrm>
            <a:prstGeom prst="roundRect">
              <a:avLst>
                <a:gd fmla="val 9523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85"/>
            <p:cNvSpPr txBox="1"/>
            <p:nvPr/>
          </p:nvSpPr>
          <p:spPr>
            <a:xfrm>
              <a:off x="190500" y="1047750"/>
              <a:ext cx="2190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{ </a:t>
              </a:r>
              <a:r>
                <a:rPr b="0" lang="en" sz="95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let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z = 1; }</a:t>
              </a:r>
              <a:endParaRPr b="0"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1644" name="Google Shape;1644;p85"/>
          <p:cNvSpPr txBox="1"/>
          <p:nvPr/>
        </p:nvSpPr>
        <p:spPr>
          <a:xfrm>
            <a:off x="476250" y="3381375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Execution Context: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The environment where JS runs.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645" name="Google Shape;1645;p85"/>
          <p:cNvGrpSpPr/>
          <p:nvPr/>
        </p:nvGrpSpPr>
        <p:grpSpPr>
          <a:xfrm>
            <a:off x="476250" y="3667125"/>
            <a:ext cx="8191500" cy="1047900"/>
            <a:chOff x="0" y="0"/>
            <a:chExt cx="8191500" cy="1047900"/>
          </a:xfrm>
        </p:grpSpPr>
        <p:sp>
          <p:nvSpPr>
            <p:cNvPr id="1646" name="Google Shape;1646;p85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7272" name="adj"/>
              </a:avLst>
            </a:prstGeom>
            <a:solidFill>
              <a:srgbClr val="000000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85"/>
            <p:cNvSpPr/>
            <p:nvPr/>
          </p:nvSpPr>
          <p:spPr>
            <a:xfrm>
              <a:off x="0" y="0"/>
              <a:ext cx="8191500" cy="238200"/>
            </a:xfrm>
            <a:custGeom>
              <a:rect b="b" l="l" r="r" t="t"/>
              <a:pathLst>
                <a:path extrusionOk="0" h="120000" w="120000">
                  <a:moveTo>
                    <a:pt x="0" y="38400"/>
                  </a:moveTo>
                  <a:cubicBezTo>
                    <a:pt x="0" y="12816"/>
                    <a:pt x="373" y="0"/>
                    <a:pt x="1116" y="0"/>
                  </a:cubicBezTo>
                  <a:lnTo>
                    <a:pt x="118884" y="0"/>
                  </a:lnTo>
                  <a:cubicBezTo>
                    <a:pt x="119627" y="0"/>
                    <a:pt x="120000" y="12816"/>
                    <a:pt x="120000" y="384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8" name="Google Shape;1648;p85"/>
            <p:cNvGrpSpPr/>
            <p:nvPr/>
          </p:nvGrpSpPr>
          <p:grpSpPr>
            <a:xfrm>
              <a:off x="114300" y="85725"/>
              <a:ext cx="304800" cy="76200"/>
              <a:chOff x="0" y="0"/>
              <a:chExt cx="304800" cy="76200"/>
            </a:xfrm>
          </p:grpSpPr>
          <p:sp>
            <p:nvSpPr>
              <p:cNvPr id="1649" name="Google Shape;1649;p85"/>
              <p:cNvSpPr/>
              <p:nvPr/>
            </p:nvSpPr>
            <p:spPr>
              <a:xfrm>
                <a:off x="0" y="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85"/>
              <p:cNvSpPr/>
              <p:nvPr/>
            </p:nvSpPr>
            <p:spPr>
              <a:xfrm>
                <a:off x="114300" y="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85"/>
              <p:cNvSpPr/>
              <p:nvPr/>
            </p:nvSpPr>
            <p:spPr>
              <a:xfrm>
                <a:off x="228600" y="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52" name="Google Shape;1652;p85"/>
            <p:cNvSpPr txBox="1"/>
            <p:nvPr/>
          </p:nvSpPr>
          <p:spPr>
            <a:xfrm>
              <a:off x="0" y="0"/>
              <a:ext cx="819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bash</a:t>
              </a:r>
              <a:endParaRPr b="0" sz="8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653" name="Google Shape;1653;p85"/>
            <p:cNvSpPr txBox="1"/>
            <p:nvPr/>
          </p:nvSpPr>
          <p:spPr>
            <a:xfrm>
              <a:off x="190500" y="333375"/>
              <a:ext cx="3714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&gt; Creation Phase</a:t>
              </a:r>
              <a:endParaRPr b="1" sz="1050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Memory is allocated for variables and functions.</a:t>
              </a:r>
              <a:endParaRPr sz="95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654" name="Google Shape;1654;p85"/>
            <p:cNvSpPr txBox="1"/>
            <p:nvPr/>
          </p:nvSpPr>
          <p:spPr>
            <a:xfrm>
              <a:off x="4286250" y="333375"/>
              <a:ext cx="3714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&gt; Execution Phase</a:t>
              </a:r>
              <a:endParaRPr b="1" sz="1050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Code is executed line by line.</a:t>
              </a:r>
              <a:endParaRPr sz="95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1655" name="Google Shape;1655;p85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3224" y="11112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8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86"/>
          <p:cNvSpPr/>
          <p:nvPr/>
        </p:nvSpPr>
        <p:spPr>
          <a:xfrm>
            <a:off x="476250" y="1095375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86"/>
          <p:cNvSpPr txBox="1"/>
          <p:nvPr/>
        </p:nvSpPr>
        <p:spPr>
          <a:xfrm>
            <a:off x="476250" y="381000"/>
            <a:ext cx="7620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6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Callbacks + Functions as Values</a:t>
            </a:r>
            <a:endParaRPr b="1" sz="306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663" name="Google Shape;1663;p86"/>
          <p:cNvGrpSpPr/>
          <p:nvPr/>
        </p:nvGrpSpPr>
        <p:grpSpPr>
          <a:xfrm>
            <a:off x="471488" y="1381125"/>
            <a:ext cx="3914700" cy="3243263"/>
            <a:chOff x="-4762" y="0"/>
            <a:chExt cx="3914700" cy="3243263"/>
          </a:xfrm>
        </p:grpSpPr>
        <p:sp>
          <p:nvSpPr>
            <p:cNvPr id="1664" name="Google Shape;1664;p86"/>
            <p:cNvSpPr txBox="1"/>
            <p:nvPr/>
          </p:nvSpPr>
          <p:spPr>
            <a:xfrm>
              <a:off x="0" y="0"/>
              <a:ext cx="3905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In JavaScript, functions are first-class citizens. They can be treated like any other value.</a:t>
              </a:r>
              <a:endParaRPr b="0" sz="12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D4D4D4"/>
                </a:buClr>
                <a:buSzPts val="1100"/>
                <a:buFont typeface="JetBrains Mono"/>
                <a:buChar char="●"/>
              </a:pPr>
              <a:r>
                <a:rPr b="1" lang="en" sz="12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Higher-Order Functions:</a:t>
              </a:r>
              <a:r>
                <a:rPr lang="en" sz="11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Functions that accept other functions as arguments or return them.</a:t>
              </a:r>
              <a:endParaRPr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D4D4D4"/>
                </a:buClr>
                <a:buSzPts val="1100"/>
                <a:buFont typeface="JetBrains Mono"/>
                <a:buChar char="●"/>
              </a:pPr>
              <a:r>
                <a:rPr b="1" lang="en" sz="12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Callbacks:</a:t>
              </a:r>
              <a:r>
                <a:rPr lang="en" sz="11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A function passed into another function to be executed later.</a:t>
              </a:r>
              <a:endParaRPr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grpSp>
          <p:nvGrpSpPr>
            <p:cNvPr id="1665" name="Google Shape;1665;p86"/>
            <p:cNvGrpSpPr/>
            <p:nvPr/>
          </p:nvGrpSpPr>
          <p:grpSpPr>
            <a:xfrm>
              <a:off x="-4762" y="1947863"/>
              <a:ext cx="3914700" cy="1295400"/>
              <a:chOff x="-4762" y="-4762"/>
              <a:chExt cx="3914700" cy="1295400"/>
            </a:xfrm>
          </p:grpSpPr>
          <p:pic>
            <p:nvPicPr>
              <p:cNvPr id="1666" name="Google Shape;1666;p8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3914700" cy="12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7" name="Google Shape;1667;p86"/>
              <p:cNvSpPr txBox="1"/>
              <p:nvPr/>
            </p:nvSpPr>
            <p:spPr>
              <a:xfrm>
                <a:off x="142875" y="142875"/>
                <a:ext cx="36195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27C93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$ exercise.js</a:t>
                </a:r>
                <a:endParaRPr b="1" sz="120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BD2E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Exercise:</a:t>
                </a:r>
                <a:r>
                  <a:rPr b="0" lang="en" sz="110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 Create a function </a:t>
                </a:r>
                <a:r>
                  <a:rPr b="0" lang="en" sz="1100">
                    <a:solidFill>
                      <a:srgbClr val="DCDCA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processUser(name, callback)</a:t>
                </a:r>
                <a:r>
                  <a:rPr b="0" lang="en" sz="110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 that logs the name and then executes the callback.</a:t>
                </a:r>
                <a:endParaRPr b="0" sz="11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</p:grpSp>
      <p:grpSp>
        <p:nvGrpSpPr>
          <p:cNvPr id="1668" name="Google Shape;1668;p86"/>
          <p:cNvGrpSpPr/>
          <p:nvPr/>
        </p:nvGrpSpPr>
        <p:grpSpPr>
          <a:xfrm>
            <a:off x="4762500" y="1381125"/>
            <a:ext cx="3905400" cy="3238500"/>
            <a:chOff x="0" y="0"/>
            <a:chExt cx="3905400" cy="3238500"/>
          </a:xfrm>
        </p:grpSpPr>
        <p:sp>
          <p:nvSpPr>
            <p:cNvPr id="1669" name="Google Shape;1669;p86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86"/>
            <p:cNvSpPr/>
            <p:nvPr/>
          </p:nvSpPr>
          <p:spPr>
            <a:xfrm>
              <a:off x="0" y="0"/>
              <a:ext cx="3905400" cy="3048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0000"/>
                    <a:pt x="780" y="0"/>
                    <a:pt x="2341" y="0"/>
                  </a:cubicBezTo>
                  <a:lnTo>
                    <a:pt x="117659" y="0"/>
                  </a:lnTo>
                  <a:cubicBezTo>
                    <a:pt x="119219" y="0"/>
                    <a:pt x="120000" y="10000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71" name="Google Shape;1671;p86"/>
            <p:cNvGrpSpPr/>
            <p:nvPr/>
          </p:nvGrpSpPr>
          <p:grpSpPr>
            <a:xfrm>
              <a:off x="114300" y="114300"/>
              <a:ext cx="304800" cy="76200"/>
              <a:chOff x="0" y="0"/>
              <a:chExt cx="304800" cy="76200"/>
            </a:xfrm>
          </p:grpSpPr>
          <p:sp>
            <p:nvSpPr>
              <p:cNvPr id="1672" name="Google Shape;1672;p86"/>
              <p:cNvSpPr/>
              <p:nvPr/>
            </p:nvSpPr>
            <p:spPr>
              <a:xfrm>
                <a:off x="0" y="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86"/>
              <p:cNvSpPr/>
              <p:nvPr/>
            </p:nvSpPr>
            <p:spPr>
              <a:xfrm>
                <a:off x="114300" y="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86"/>
              <p:cNvSpPr/>
              <p:nvPr/>
            </p:nvSpPr>
            <p:spPr>
              <a:xfrm>
                <a:off x="228600" y="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75" name="Google Shape;1675;p86"/>
            <p:cNvSpPr txBox="1"/>
            <p:nvPr/>
          </p:nvSpPr>
          <p:spPr>
            <a:xfrm>
              <a:off x="0" y="0"/>
              <a:ext cx="3905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setTimeout.js</a:t>
              </a:r>
              <a:endParaRPr b="0" sz="8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676" name="Google Shape;1676;p86"/>
            <p:cNvSpPr txBox="1"/>
            <p:nvPr/>
          </p:nvSpPr>
          <p:spPr>
            <a:xfrm>
              <a:off x="190500" y="495300"/>
              <a:ext cx="3524400" cy="25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Async Transition Example</a:t>
              </a:r>
              <a:endParaRPr b="0" i="1" sz="1000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setTimeout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(() =&gt; {</a:t>
              </a:r>
              <a:endParaRPr b="0" sz="1000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22860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.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log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10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'Executed after delay'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}, </a:t>
              </a:r>
              <a:r>
                <a:rPr b="0" lang="en" sz="1000">
                  <a:solidFill>
                    <a:srgbClr val="B5CEA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1000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1677" name="Google Shape;1677;p86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87"/>
          <p:cNvSpPr/>
          <p:nvPr/>
        </p:nvSpPr>
        <p:spPr>
          <a:xfrm>
            <a:off x="476250" y="1095375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87"/>
          <p:cNvSpPr txBox="1"/>
          <p:nvPr/>
        </p:nvSpPr>
        <p:spPr>
          <a:xfrm>
            <a:off x="476250" y="381000"/>
            <a:ext cx="76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Synchronous vs Asynchronous JavaScript</a:t>
            </a:r>
            <a:endParaRPr b="1" sz="24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84" name="Google Shape;1684;p87"/>
          <p:cNvSpPr txBox="1"/>
          <p:nvPr/>
        </p:nvSpPr>
        <p:spPr>
          <a:xfrm>
            <a:off x="476250" y="1171575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JavaScript is single-threaded but handles asynchronous operations via the browser environment.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685" name="Google Shape;1685;p87"/>
          <p:cNvGrpSpPr/>
          <p:nvPr/>
        </p:nvGrpSpPr>
        <p:grpSpPr>
          <a:xfrm>
            <a:off x="476250" y="1571625"/>
            <a:ext cx="3905400" cy="1095300"/>
            <a:chOff x="0" y="0"/>
            <a:chExt cx="3905400" cy="1095300"/>
          </a:xfrm>
        </p:grpSpPr>
        <p:sp>
          <p:nvSpPr>
            <p:cNvPr id="1686" name="Google Shape;1686;p87"/>
            <p:cNvSpPr/>
            <p:nvPr/>
          </p:nvSpPr>
          <p:spPr>
            <a:xfrm>
              <a:off x="0" y="0"/>
              <a:ext cx="3905400" cy="1095300"/>
            </a:xfrm>
            <a:prstGeom prst="roundRect">
              <a:avLst>
                <a:gd fmla="val 5217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87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3300"/>
                    <a:pt x="779" y="0"/>
                    <a:pt x="1756" y="0"/>
                  </a:cubicBezTo>
                  <a:lnTo>
                    <a:pt x="118244" y="0"/>
                  </a:lnTo>
                  <a:cubicBezTo>
                    <a:pt x="119219" y="0"/>
                    <a:pt x="120000" y="13300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88" name="Google Shape;1688;p87"/>
            <p:cNvGrpSpPr/>
            <p:nvPr/>
          </p:nvGrpSpPr>
          <p:grpSpPr>
            <a:xfrm>
              <a:off x="114300" y="76200"/>
              <a:ext cx="304800" cy="76200"/>
              <a:chOff x="0" y="0"/>
              <a:chExt cx="304800" cy="76200"/>
            </a:xfrm>
          </p:grpSpPr>
          <p:sp>
            <p:nvSpPr>
              <p:cNvPr id="1689" name="Google Shape;1689;p87"/>
              <p:cNvSpPr/>
              <p:nvPr/>
            </p:nvSpPr>
            <p:spPr>
              <a:xfrm>
                <a:off x="0" y="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87"/>
              <p:cNvSpPr/>
              <p:nvPr/>
            </p:nvSpPr>
            <p:spPr>
              <a:xfrm>
                <a:off x="114300" y="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87"/>
              <p:cNvSpPr/>
              <p:nvPr/>
            </p:nvSpPr>
            <p:spPr>
              <a:xfrm>
                <a:off x="228600" y="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92" name="Google Shape;1692;p87"/>
            <p:cNvSpPr txBox="1"/>
            <p:nvPr/>
          </p:nvSpPr>
          <p:spPr>
            <a:xfrm>
              <a:off x="0" y="0"/>
              <a:ext cx="3905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sync.js</a:t>
              </a:r>
              <a:endParaRPr b="0" sz="8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693" name="Google Shape;1693;p87"/>
            <p:cNvSpPr txBox="1"/>
            <p:nvPr/>
          </p:nvSpPr>
          <p:spPr>
            <a:xfrm>
              <a:off x="190500" y="323850"/>
              <a:ext cx="3524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</a:t>
              </a:r>
              <a:r>
                <a:rPr lang="en"/>
                <a:t>.</a:t>
              </a: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log</a:t>
              </a:r>
              <a:r>
                <a:rPr lang="en"/>
                <a:t>(</a:t>
              </a:r>
              <a:r>
                <a:rPr b="0" lang="en" sz="95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'A'</a:t>
              </a:r>
              <a:r>
                <a:rPr lang="en"/>
                <a:t>);</a:t>
              </a:r>
              <a:endParaRPr/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</a:t>
              </a:r>
              <a:r>
                <a:rPr lang="en"/>
                <a:t>.</a:t>
              </a: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log</a:t>
              </a:r>
              <a:r>
                <a:rPr lang="en"/>
                <a:t>(</a:t>
              </a:r>
              <a:r>
                <a:rPr b="0" lang="en" sz="95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'B'</a:t>
              </a:r>
              <a:r>
                <a:rPr lang="en"/>
                <a:t>);</a:t>
              </a:r>
              <a:endParaRPr/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" sz="950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Output: A, B</a:t>
              </a:r>
              <a:endParaRPr b="0" i="1" sz="950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694" name="Google Shape;1694;p87"/>
          <p:cNvGrpSpPr/>
          <p:nvPr/>
        </p:nvGrpSpPr>
        <p:grpSpPr>
          <a:xfrm>
            <a:off x="476250" y="2809875"/>
            <a:ext cx="3905175" cy="952500"/>
            <a:chOff x="0" y="0"/>
            <a:chExt cx="3905175" cy="952500"/>
          </a:xfrm>
        </p:grpSpPr>
        <p:sp>
          <p:nvSpPr>
            <p:cNvPr id="1695" name="Google Shape;1695;p87"/>
            <p:cNvSpPr/>
            <p:nvPr/>
          </p:nvSpPr>
          <p:spPr>
            <a:xfrm>
              <a:off x="0" y="0"/>
              <a:ext cx="1857300" cy="952500"/>
            </a:xfrm>
            <a:prstGeom prst="roundRect">
              <a:avLst>
                <a:gd fmla="val 6000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87"/>
            <p:cNvSpPr txBox="1"/>
            <p:nvPr/>
          </p:nvSpPr>
          <p:spPr>
            <a:xfrm>
              <a:off x="0" y="0"/>
              <a:ext cx="1857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Call Stack</a:t>
              </a:r>
              <a:endParaRPr b="1" sz="9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Executes synchronous code sequence.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[active] log('A')</a:t>
              </a:r>
              <a:endParaRPr b="1" sz="80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697" name="Google Shape;1697;p87"/>
            <p:cNvSpPr/>
            <p:nvPr/>
          </p:nvSpPr>
          <p:spPr>
            <a:xfrm>
              <a:off x="2047875" y="0"/>
              <a:ext cx="1857300" cy="952500"/>
            </a:xfrm>
            <a:prstGeom prst="roundRect">
              <a:avLst>
                <a:gd fmla="val 6000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87"/>
            <p:cNvSpPr txBox="1"/>
            <p:nvPr/>
          </p:nvSpPr>
          <p:spPr>
            <a:xfrm>
              <a:off x="2047875" y="0"/>
              <a:ext cx="1857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Sequential</a:t>
              </a:r>
              <a:endParaRPr b="1" sz="950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Line-by-line execution. Each task blocks the thread.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Thread: Blocked</a:t>
              </a:r>
              <a:endParaRPr sz="80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699" name="Google Shape;1699;p87"/>
          <p:cNvGrpSpPr/>
          <p:nvPr/>
        </p:nvGrpSpPr>
        <p:grpSpPr>
          <a:xfrm>
            <a:off x="476250" y="3905250"/>
            <a:ext cx="3905400" cy="952500"/>
            <a:chOff x="0" y="0"/>
            <a:chExt cx="3905400" cy="952500"/>
          </a:xfrm>
        </p:grpSpPr>
        <p:sp>
          <p:nvSpPr>
            <p:cNvPr id="1700" name="Google Shape;1700;p87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6000" name="adj"/>
              </a:avLst>
            </a:prstGeom>
            <a:solidFill>
              <a:srgbClr val="000000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87"/>
            <p:cNvSpPr/>
            <p:nvPr/>
          </p:nvSpPr>
          <p:spPr>
            <a:xfrm>
              <a:off x="0" y="0"/>
              <a:ext cx="3905400" cy="171600"/>
            </a:xfrm>
            <a:prstGeom prst="roundRect">
              <a:avLst>
                <a:gd fmla="val 33333" name="adj"/>
              </a:avLst>
            </a:prstGeom>
            <a:solidFill>
              <a:srgbClr val="14141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87"/>
            <p:cNvSpPr/>
            <p:nvPr/>
          </p:nvSpPr>
          <p:spPr>
            <a:xfrm>
              <a:off x="0" y="133350"/>
              <a:ext cx="3905400" cy="38100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87"/>
            <p:cNvSpPr/>
            <p:nvPr/>
          </p:nvSpPr>
          <p:spPr>
            <a:xfrm>
              <a:off x="80963" y="52388"/>
              <a:ext cx="66600" cy="666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87"/>
            <p:cNvSpPr/>
            <p:nvPr/>
          </p:nvSpPr>
          <p:spPr>
            <a:xfrm>
              <a:off x="176213" y="52388"/>
              <a:ext cx="66600" cy="666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87"/>
            <p:cNvSpPr/>
            <p:nvPr/>
          </p:nvSpPr>
          <p:spPr>
            <a:xfrm>
              <a:off x="271463" y="52388"/>
              <a:ext cx="66600" cy="666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87"/>
            <p:cNvSpPr txBox="1"/>
            <p:nvPr/>
          </p:nvSpPr>
          <p:spPr>
            <a:xfrm>
              <a:off x="428625" y="19050"/>
              <a:ext cx="30480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bash - sync execution</a:t>
              </a:r>
              <a:endParaRPr b="0" sz="75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707" name="Google Shape;1707;p87"/>
            <p:cNvSpPr txBox="1"/>
            <p:nvPr/>
          </p:nvSpPr>
          <p:spPr>
            <a:xfrm>
              <a:off x="142875" y="247650"/>
              <a:ext cx="3619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node sync.js</a:t>
              </a:r>
              <a:endParaRPr b="1" sz="950">
                <a:solidFill>
                  <a:srgbClr val="27C93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</a:t>
              </a:r>
              <a:endParaRPr b="0"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</a:t>
              </a:r>
              <a:endParaRPr b="0"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708" name="Google Shape;1708;p87"/>
          <p:cNvGrpSpPr/>
          <p:nvPr/>
        </p:nvGrpSpPr>
        <p:grpSpPr>
          <a:xfrm>
            <a:off x="4762500" y="1571625"/>
            <a:ext cx="3905400" cy="1095300"/>
            <a:chOff x="0" y="0"/>
            <a:chExt cx="3905400" cy="1095300"/>
          </a:xfrm>
        </p:grpSpPr>
        <p:sp>
          <p:nvSpPr>
            <p:cNvPr id="1709" name="Google Shape;1709;p87"/>
            <p:cNvSpPr/>
            <p:nvPr/>
          </p:nvSpPr>
          <p:spPr>
            <a:xfrm>
              <a:off x="0" y="0"/>
              <a:ext cx="3905400" cy="1095300"/>
            </a:xfrm>
            <a:prstGeom prst="roundRect">
              <a:avLst>
                <a:gd fmla="val 5217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87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3300"/>
                    <a:pt x="779" y="0"/>
                    <a:pt x="1756" y="0"/>
                  </a:cubicBezTo>
                  <a:lnTo>
                    <a:pt x="118244" y="0"/>
                  </a:lnTo>
                  <a:cubicBezTo>
                    <a:pt x="119219" y="0"/>
                    <a:pt x="120000" y="13300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11" name="Google Shape;1711;p87"/>
            <p:cNvGrpSpPr/>
            <p:nvPr/>
          </p:nvGrpSpPr>
          <p:grpSpPr>
            <a:xfrm>
              <a:off x="114300" y="76200"/>
              <a:ext cx="304800" cy="76200"/>
              <a:chOff x="0" y="0"/>
              <a:chExt cx="304800" cy="76200"/>
            </a:xfrm>
          </p:grpSpPr>
          <p:sp>
            <p:nvSpPr>
              <p:cNvPr id="1712" name="Google Shape;1712;p87"/>
              <p:cNvSpPr/>
              <p:nvPr/>
            </p:nvSpPr>
            <p:spPr>
              <a:xfrm>
                <a:off x="0" y="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87"/>
              <p:cNvSpPr/>
              <p:nvPr/>
            </p:nvSpPr>
            <p:spPr>
              <a:xfrm>
                <a:off x="114300" y="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87"/>
              <p:cNvSpPr/>
              <p:nvPr/>
            </p:nvSpPr>
            <p:spPr>
              <a:xfrm>
                <a:off x="228600" y="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15" name="Google Shape;1715;p87"/>
            <p:cNvSpPr txBox="1"/>
            <p:nvPr/>
          </p:nvSpPr>
          <p:spPr>
            <a:xfrm>
              <a:off x="0" y="0"/>
              <a:ext cx="3905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async.js</a:t>
              </a:r>
              <a:endParaRPr b="0" sz="8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716" name="Google Shape;1716;p87"/>
            <p:cNvSpPr txBox="1"/>
            <p:nvPr/>
          </p:nvSpPr>
          <p:spPr>
            <a:xfrm>
              <a:off x="190500" y="323850"/>
              <a:ext cx="3524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</a:t>
              </a:r>
              <a:r>
                <a:rPr lang="en"/>
                <a:t>.</a:t>
              </a: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log</a:t>
              </a:r>
              <a:r>
                <a:rPr lang="en">
                  <a:solidFill>
                    <a:schemeClr val="lt1"/>
                  </a:solidFill>
                </a:rPr>
                <a:t>(</a:t>
              </a:r>
              <a:r>
                <a:rPr b="0" lang="en" sz="95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'A'</a:t>
              </a:r>
              <a:r>
                <a:rPr lang="en">
                  <a:solidFill>
                    <a:schemeClr val="lt1"/>
                  </a:solidFill>
                </a:rPr>
                <a:t>);</a:t>
              </a:r>
              <a:endParaRPr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setTimeout</a:t>
              </a:r>
              <a:r>
                <a:rPr lang="en">
                  <a:solidFill>
                    <a:schemeClr val="lt1"/>
                  </a:solidFill>
                </a:rPr>
                <a:t>(() =&gt;</a:t>
              </a:r>
              <a:r>
                <a:rPr lang="en"/>
                <a:t> </a:t>
              </a:r>
              <a:r>
                <a:rPr b="0" lang="en" sz="95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</a:t>
              </a:r>
              <a:r>
                <a:rPr lang="en"/>
                <a:t>.</a:t>
              </a: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log</a:t>
              </a:r>
              <a:r>
                <a:rPr lang="en">
                  <a:solidFill>
                    <a:schemeClr val="lt1"/>
                  </a:solidFill>
                </a:rPr>
                <a:t>(</a:t>
              </a:r>
              <a:r>
                <a:rPr b="0" lang="en" sz="95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'B'</a:t>
              </a:r>
              <a:r>
                <a:rPr lang="en">
                  <a:solidFill>
                    <a:schemeClr val="lt1"/>
                  </a:solidFill>
                </a:rPr>
                <a:t>),</a:t>
              </a:r>
              <a:r>
                <a:rPr lang="en"/>
                <a:t> 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</a:t>
              </a:r>
              <a:r>
                <a:rPr lang="en">
                  <a:solidFill>
                    <a:schemeClr val="lt1"/>
                  </a:solidFill>
                </a:rPr>
                <a:t>);</a:t>
              </a:r>
              <a:endParaRPr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rPr b="0" lang="en" sz="95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</a:t>
              </a:r>
              <a:r>
                <a:rPr lang="en"/>
                <a:t>.</a:t>
              </a: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log</a:t>
              </a:r>
              <a:r>
                <a:rPr lang="en">
                  <a:solidFill>
                    <a:schemeClr val="lt1"/>
                  </a:solidFill>
                </a:rPr>
                <a:t>(</a:t>
              </a:r>
              <a:r>
                <a:rPr b="0" lang="en" sz="95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'C'</a:t>
              </a:r>
              <a:r>
                <a:rPr lang="en">
                  <a:solidFill>
                    <a:schemeClr val="lt1"/>
                  </a:solidFill>
                </a:rPr>
                <a:t>);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717" name="Google Shape;1717;p87"/>
          <p:cNvSpPr txBox="1"/>
          <p:nvPr/>
        </p:nvSpPr>
        <p:spPr>
          <a:xfrm>
            <a:off x="5106375" y="2847788"/>
            <a:ext cx="1762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76200" spcFirstLastPara="1" rIns="7620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Call Stack</a:t>
            </a:r>
            <a:endParaRPr b="1" sz="850">
              <a:solidFill>
                <a:srgbClr val="569CD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7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Executes sync code.</a:t>
            </a:r>
            <a:endParaRPr b="0" sz="75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18" name="Google Shape;1718;p87"/>
          <p:cNvSpPr txBox="1"/>
          <p:nvPr/>
        </p:nvSpPr>
        <p:spPr>
          <a:xfrm>
            <a:off x="7276900" y="2847788"/>
            <a:ext cx="1762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76200" spcFirstLastPara="1" rIns="7620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Web APIs</a:t>
            </a:r>
            <a:endParaRPr b="1" sz="850">
              <a:solidFill>
                <a:srgbClr val="DCDCA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7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Handles async tasks.</a:t>
            </a:r>
            <a:endParaRPr b="0" sz="75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19" name="Google Shape;1719;p87"/>
          <p:cNvSpPr txBox="1"/>
          <p:nvPr/>
        </p:nvSpPr>
        <p:spPr>
          <a:xfrm>
            <a:off x="7276900" y="3466950"/>
            <a:ext cx="1762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76200" spcFirstLastPara="1" rIns="7620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Callback Queue</a:t>
            </a:r>
            <a:endParaRPr b="1" sz="850">
              <a:solidFill>
                <a:srgbClr val="CE917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7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Holds ready callbacks.</a:t>
            </a:r>
            <a:endParaRPr b="0" sz="75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20" name="Google Shape;1720;p87"/>
          <p:cNvSpPr txBox="1"/>
          <p:nvPr/>
        </p:nvSpPr>
        <p:spPr>
          <a:xfrm>
            <a:off x="5106375" y="3466950"/>
            <a:ext cx="1762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76200" spcFirstLastPara="1" rIns="7620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86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 Event Loop</a:t>
            </a:r>
            <a:endParaRPr b="1" sz="786">
              <a:solidFill>
                <a:srgbClr val="C586C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694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Moves cb to stack when empty.</a:t>
            </a:r>
            <a:endParaRPr b="0" sz="694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721" name="Google Shape;1721;p87"/>
          <p:cNvGrpSpPr/>
          <p:nvPr/>
        </p:nvGrpSpPr>
        <p:grpSpPr>
          <a:xfrm>
            <a:off x="4762500" y="3905250"/>
            <a:ext cx="3905400" cy="952500"/>
            <a:chOff x="0" y="0"/>
            <a:chExt cx="3905400" cy="952500"/>
          </a:xfrm>
        </p:grpSpPr>
        <p:sp>
          <p:nvSpPr>
            <p:cNvPr id="1722" name="Google Shape;1722;p87"/>
            <p:cNvSpPr/>
            <p:nvPr/>
          </p:nvSpPr>
          <p:spPr>
            <a:xfrm>
              <a:off x="0" y="0"/>
              <a:ext cx="3905400" cy="952500"/>
            </a:xfrm>
            <a:prstGeom prst="roundRect">
              <a:avLst>
                <a:gd fmla="val 6000" name="adj"/>
              </a:avLst>
            </a:prstGeom>
            <a:solidFill>
              <a:srgbClr val="000000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87"/>
            <p:cNvSpPr/>
            <p:nvPr/>
          </p:nvSpPr>
          <p:spPr>
            <a:xfrm>
              <a:off x="0" y="0"/>
              <a:ext cx="3905400" cy="171600"/>
            </a:xfrm>
            <a:prstGeom prst="roundRect">
              <a:avLst>
                <a:gd fmla="val 33333" name="adj"/>
              </a:avLst>
            </a:prstGeom>
            <a:solidFill>
              <a:srgbClr val="14141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87"/>
            <p:cNvSpPr/>
            <p:nvPr/>
          </p:nvSpPr>
          <p:spPr>
            <a:xfrm>
              <a:off x="0" y="133350"/>
              <a:ext cx="3905400" cy="38100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87"/>
            <p:cNvSpPr/>
            <p:nvPr/>
          </p:nvSpPr>
          <p:spPr>
            <a:xfrm>
              <a:off x="80963" y="52388"/>
              <a:ext cx="66600" cy="666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87"/>
            <p:cNvSpPr/>
            <p:nvPr/>
          </p:nvSpPr>
          <p:spPr>
            <a:xfrm>
              <a:off x="176213" y="52388"/>
              <a:ext cx="66600" cy="666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87"/>
            <p:cNvSpPr/>
            <p:nvPr/>
          </p:nvSpPr>
          <p:spPr>
            <a:xfrm>
              <a:off x="271463" y="52388"/>
              <a:ext cx="66600" cy="666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87"/>
            <p:cNvSpPr txBox="1"/>
            <p:nvPr/>
          </p:nvSpPr>
          <p:spPr>
            <a:xfrm>
              <a:off x="428625" y="19050"/>
              <a:ext cx="30480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bash - async execution</a:t>
              </a:r>
              <a:endParaRPr b="0" sz="75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729" name="Google Shape;1729;p87"/>
            <p:cNvSpPr txBox="1"/>
            <p:nvPr/>
          </p:nvSpPr>
          <p:spPr>
            <a:xfrm>
              <a:off x="142875" y="247650"/>
              <a:ext cx="3619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node async.js</a:t>
              </a:r>
              <a:endParaRPr b="1" sz="950">
                <a:solidFill>
                  <a:srgbClr val="27C93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</a:t>
              </a:r>
              <a:endParaRPr b="0"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</a:t>
              </a:r>
              <a:endParaRPr b="0"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 </a:t>
              </a:r>
              <a:r>
                <a:rPr b="0" lang="en" sz="75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(delayed callback)</a:t>
              </a:r>
              <a:endParaRPr b="1" sz="95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1730" name="Google Shape;1730;p87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8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88"/>
          <p:cNvSpPr/>
          <p:nvPr/>
        </p:nvSpPr>
        <p:spPr>
          <a:xfrm>
            <a:off x="476250" y="1143000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88"/>
          <p:cNvSpPr txBox="1"/>
          <p:nvPr/>
        </p:nvSpPr>
        <p:spPr>
          <a:xfrm>
            <a:off x="476250" y="381000"/>
            <a:ext cx="7620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Promises (Modern Async Foundations)</a:t>
            </a:r>
            <a:endParaRPr b="0" sz="800">
              <a:solidFill>
                <a:srgbClr val="858585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Promises</a:t>
            </a:r>
            <a:endParaRPr b="1" sz="36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38" name="Google Shape;1738;p88"/>
          <p:cNvSpPr txBox="1"/>
          <p:nvPr/>
        </p:nvSpPr>
        <p:spPr>
          <a:xfrm>
            <a:off x="476250" y="1381125"/>
            <a:ext cx="39054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Promise is an object representing the eventual completion (or failure) of an asynchronous operation and its resulting value.</a:t>
            </a:r>
            <a:endParaRPr b="0" sz="111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739" name="Google Shape;1739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333625"/>
            <a:ext cx="19200" cy="15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0" name="Google Shape;1740;p88"/>
          <p:cNvSpPr/>
          <p:nvPr/>
        </p:nvSpPr>
        <p:spPr>
          <a:xfrm>
            <a:off x="571500" y="2286000"/>
            <a:ext cx="95400" cy="95400"/>
          </a:xfrm>
          <a:prstGeom prst="ellipse">
            <a:avLst/>
          </a:prstGeom>
          <a:solidFill>
            <a:srgbClr val="85858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88"/>
          <p:cNvSpPr txBox="1"/>
          <p:nvPr/>
        </p:nvSpPr>
        <p:spPr>
          <a:xfrm>
            <a:off x="809625" y="2209800"/>
            <a:ext cx="35718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Pending</a:t>
            </a:r>
            <a:endParaRPr b="0" sz="12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Initial state, neither fulfilled nor rejected.</a:t>
            </a:r>
            <a:endParaRPr b="0" sz="1050">
              <a:solidFill>
                <a:srgbClr val="85858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42" name="Google Shape;1742;p88"/>
          <p:cNvSpPr/>
          <p:nvPr/>
        </p:nvSpPr>
        <p:spPr>
          <a:xfrm>
            <a:off x="571500" y="3048000"/>
            <a:ext cx="95400" cy="95400"/>
          </a:xfrm>
          <a:prstGeom prst="ellipse">
            <a:avLst/>
          </a:prstGeom>
          <a:solidFill>
            <a:srgbClr val="569C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88"/>
          <p:cNvSpPr txBox="1"/>
          <p:nvPr/>
        </p:nvSpPr>
        <p:spPr>
          <a:xfrm>
            <a:off x="809625" y="2971800"/>
            <a:ext cx="35718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Fulfilled</a:t>
            </a:r>
            <a:endParaRPr b="0" sz="12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Operation completed successfully.</a:t>
            </a:r>
            <a:endParaRPr b="0" sz="105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44" name="Google Shape;1744;p88"/>
          <p:cNvSpPr/>
          <p:nvPr/>
        </p:nvSpPr>
        <p:spPr>
          <a:xfrm>
            <a:off x="571500" y="3810000"/>
            <a:ext cx="95400" cy="954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88"/>
          <p:cNvSpPr txBox="1"/>
          <p:nvPr/>
        </p:nvSpPr>
        <p:spPr>
          <a:xfrm>
            <a:off x="809625" y="3733800"/>
            <a:ext cx="35718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5F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Rejected</a:t>
            </a:r>
            <a:endParaRPr b="0" sz="12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Operation failed.</a:t>
            </a:r>
            <a:endParaRPr b="0" sz="105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746" name="Google Shape;1746;p88"/>
          <p:cNvGrpSpPr/>
          <p:nvPr/>
        </p:nvGrpSpPr>
        <p:grpSpPr>
          <a:xfrm>
            <a:off x="4762500" y="1381125"/>
            <a:ext cx="3905400" cy="3333900"/>
            <a:chOff x="0" y="0"/>
            <a:chExt cx="3905400" cy="3333900"/>
          </a:xfrm>
        </p:grpSpPr>
        <p:sp>
          <p:nvSpPr>
            <p:cNvPr id="1747" name="Google Shape;1747;p88"/>
            <p:cNvSpPr/>
            <p:nvPr/>
          </p:nvSpPr>
          <p:spPr>
            <a:xfrm>
              <a:off x="0" y="0"/>
              <a:ext cx="3905400" cy="3333900"/>
            </a:xfrm>
            <a:prstGeom prst="roundRect">
              <a:avLst>
                <a:gd fmla="val 2285" name="adj"/>
              </a:avLst>
            </a:prstGeom>
            <a:solidFill>
              <a:srgbClr val="1E1E1E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88"/>
            <p:cNvSpPr/>
            <p:nvPr/>
          </p:nvSpPr>
          <p:spPr>
            <a:xfrm>
              <a:off x="0" y="0"/>
              <a:ext cx="3905400" cy="3048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0013"/>
                    <a:pt x="781" y="0"/>
                    <a:pt x="2341" y="0"/>
                  </a:cubicBezTo>
                  <a:lnTo>
                    <a:pt x="117659" y="0"/>
                  </a:lnTo>
                  <a:cubicBezTo>
                    <a:pt x="119219" y="0"/>
                    <a:pt x="120000" y="10013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49" name="Google Shape;1749;p88"/>
            <p:cNvGrpSpPr/>
            <p:nvPr/>
          </p:nvGrpSpPr>
          <p:grpSpPr>
            <a:xfrm>
              <a:off x="142875" y="114300"/>
              <a:ext cx="304800" cy="76200"/>
              <a:chOff x="0" y="0"/>
              <a:chExt cx="304800" cy="76200"/>
            </a:xfrm>
          </p:grpSpPr>
          <p:sp>
            <p:nvSpPr>
              <p:cNvPr id="1750" name="Google Shape;1750;p88"/>
              <p:cNvSpPr/>
              <p:nvPr/>
            </p:nvSpPr>
            <p:spPr>
              <a:xfrm>
                <a:off x="0" y="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88"/>
              <p:cNvSpPr/>
              <p:nvPr/>
            </p:nvSpPr>
            <p:spPr>
              <a:xfrm>
                <a:off x="114300" y="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88"/>
              <p:cNvSpPr/>
              <p:nvPr/>
            </p:nvSpPr>
            <p:spPr>
              <a:xfrm>
                <a:off x="228600" y="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53" name="Google Shape;1753;p88"/>
            <p:cNvSpPr txBox="1"/>
            <p:nvPr/>
          </p:nvSpPr>
          <p:spPr>
            <a:xfrm>
              <a:off x="0" y="0"/>
              <a:ext cx="3905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promise.js</a:t>
              </a:r>
              <a:endParaRPr b="0" sz="825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754" name="Google Shape;1754;p88"/>
            <p:cNvSpPr/>
            <p:nvPr/>
          </p:nvSpPr>
          <p:spPr>
            <a:xfrm>
              <a:off x="9525" y="304800"/>
              <a:ext cx="3886200" cy="3019500"/>
            </a:xfrm>
            <a:prstGeom prst="roundRect">
              <a:avLst>
                <a:gd fmla="val 0" name="adj"/>
              </a:avLst>
            </a:prstGeom>
            <a:solidFill>
              <a:srgbClr val="2D2D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88"/>
            <p:cNvSpPr txBox="1"/>
            <p:nvPr/>
          </p:nvSpPr>
          <p:spPr>
            <a:xfrm>
              <a:off x="190500" y="495300"/>
              <a:ext cx="3524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Basic Promise Example</a:t>
              </a:r>
              <a:endParaRPr b="0" i="1" sz="1000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myPromise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= </a:t>
              </a: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new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Promise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((resolve, reject) =&gt; {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905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success = </a:t>
              </a: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true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;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905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if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(success) {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3810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resolve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10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'Data loaded!'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905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 </a:t>
              </a: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else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3810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reject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10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'Error loading data.'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905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});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1756" name="Google Shape;1756;p88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8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89"/>
          <p:cNvSpPr/>
          <p:nvPr/>
        </p:nvSpPr>
        <p:spPr>
          <a:xfrm>
            <a:off x="476250" y="1095375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89"/>
          <p:cNvSpPr txBox="1"/>
          <p:nvPr/>
        </p:nvSpPr>
        <p:spPr>
          <a:xfrm>
            <a:off x="476250" y="3048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Promises Architecture</a:t>
            </a:r>
            <a:endParaRPr b="0" sz="800">
              <a:solidFill>
                <a:srgbClr val="858585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</p:txBody>
      </p:sp>
      <p:sp>
        <p:nvSpPr>
          <p:cNvPr id="1764" name="Google Shape;1764;p89"/>
          <p:cNvSpPr txBox="1"/>
          <p:nvPr/>
        </p:nvSpPr>
        <p:spPr>
          <a:xfrm>
            <a:off x="476250" y="55245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2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Consuming Promises (.then, .catch, .finally)</a:t>
            </a:r>
            <a:endParaRPr b="1" sz="222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765" name="Google Shape;1765;p89"/>
          <p:cNvGrpSpPr/>
          <p:nvPr/>
        </p:nvGrpSpPr>
        <p:grpSpPr>
          <a:xfrm>
            <a:off x="476250" y="1333500"/>
            <a:ext cx="3905400" cy="3190875"/>
            <a:chOff x="0" y="0"/>
            <a:chExt cx="3905400" cy="3190875"/>
          </a:xfrm>
        </p:grpSpPr>
        <p:sp>
          <p:nvSpPr>
            <p:cNvPr id="1766" name="Google Shape;1766;p89"/>
            <p:cNvSpPr txBox="1"/>
            <p:nvPr/>
          </p:nvSpPr>
          <p:spPr>
            <a:xfrm>
              <a:off x="0" y="0"/>
              <a:ext cx="3905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We interact with Promises using specific methods to handle the eventual result, avoiding deeply nested callbacks ("Callback Hell").</a:t>
              </a:r>
              <a:endParaRPr b="0" sz="1018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grpSp>
          <p:nvGrpSpPr>
            <p:cNvPr id="1767" name="Google Shape;1767;p89"/>
            <p:cNvGrpSpPr/>
            <p:nvPr/>
          </p:nvGrpSpPr>
          <p:grpSpPr>
            <a:xfrm>
              <a:off x="0" y="619125"/>
              <a:ext cx="3905400" cy="762000"/>
              <a:chOff x="0" y="0"/>
              <a:chExt cx="3905400" cy="762000"/>
            </a:xfrm>
          </p:grpSpPr>
          <p:sp>
            <p:nvSpPr>
              <p:cNvPr id="1768" name="Google Shape;1768;p89"/>
              <p:cNvSpPr/>
              <p:nvPr/>
            </p:nvSpPr>
            <p:spPr>
              <a:xfrm>
                <a:off x="0" y="0"/>
                <a:ext cx="3905400" cy="762000"/>
              </a:xfrm>
              <a:prstGeom prst="roundRect">
                <a:avLst>
                  <a:gd fmla="val 7500" name="adj"/>
                </a:avLst>
              </a:prstGeom>
              <a:solidFill>
                <a:srgbClr val="2D2D2D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89"/>
              <p:cNvSpPr/>
              <p:nvPr/>
            </p:nvSpPr>
            <p:spPr>
              <a:xfrm>
                <a:off x="0" y="0"/>
                <a:ext cx="76200" cy="762000"/>
              </a:xfrm>
              <a:custGeom>
                <a:rect b="b" l="l" r="r" t="t"/>
                <a:pathLst>
                  <a:path extrusionOk="0" h="120000" w="120000">
                    <a:moveTo>
                      <a:pt x="0" y="9000"/>
                    </a:moveTo>
                    <a:cubicBezTo>
                      <a:pt x="0" y="3000"/>
                      <a:pt x="30000" y="0"/>
                      <a:pt x="90000" y="0"/>
                    </a:cubicBez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90000" y="120000"/>
                    </a:lnTo>
                    <a:cubicBezTo>
                      <a:pt x="30000" y="120000"/>
                      <a:pt x="0" y="117000"/>
                      <a:pt x="0" y="111000"/>
                    </a:cubicBez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89"/>
              <p:cNvSpPr txBox="1"/>
              <p:nvPr/>
            </p:nvSpPr>
            <p:spPr>
              <a:xfrm>
                <a:off x="228600" y="95250"/>
                <a:ext cx="34863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DCDCA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.then()</a:t>
                </a:r>
                <a:endParaRPr b="0" sz="11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Executes when the Promise is fulfilled (success).</a:t>
                </a:r>
                <a:endParaRPr b="0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1771" name="Google Shape;1771;p89"/>
            <p:cNvGrpSpPr/>
            <p:nvPr/>
          </p:nvGrpSpPr>
          <p:grpSpPr>
            <a:xfrm>
              <a:off x="0" y="1524000"/>
              <a:ext cx="3905400" cy="762000"/>
              <a:chOff x="0" y="0"/>
              <a:chExt cx="3905400" cy="762000"/>
            </a:xfrm>
          </p:grpSpPr>
          <p:sp>
            <p:nvSpPr>
              <p:cNvPr id="1772" name="Google Shape;1772;p89"/>
              <p:cNvSpPr/>
              <p:nvPr/>
            </p:nvSpPr>
            <p:spPr>
              <a:xfrm>
                <a:off x="0" y="0"/>
                <a:ext cx="3905400" cy="762000"/>
              </a:xfrm>
              <a:prstGeom prst="roundRect">
                <a:avLst>
                  <a:gd fmla="val 7500" name="adj"/>
                </a:avLst>
              </a:prstGeom>
              <a:solidFill>
                <a:srgbClr val="2D2D2D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89"/>
              <p:cNvSpPr/>
              <p:nvPr/>
            </p:nvSpPr>
            <p:spPr>
              <a:xfrm>
                <a:off x="0" y="0"/>
                <a:ext cx="76200" cy="762000"/>
              </a:xfrm>
              <a:custGeom>
                <a:rect b="b" l="l" r="r" t="t"/>
                <a:pathLst>
                  <a:path extrusionOk="0" h="120000" w="120000">
                    <a:moveTo>
                      <a:pt x="0" y="9000"/>
                    </a:moveTo>
                    <a:cubicBezTo>
                      <a:pt x="0" y="3000"/>
                      <a:pt x="30000" y="0"/>
                      <a:pt x="90000" y="0"/>
                    </a:cubicBez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90000" y="120000"/>
                    </a:lnTo>
                    <a:cubicBezTo>
                      <a:pt x="30000" y="120000"/>
                      <a:pt x="0" y="117000"/>
                      <a:pt x="0" y="111000"/>
                    </a:cubicBez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89"/>
              <p:cNvSpPr txBox="1"/>
              <p:nvPr/>
            </p:nvSpPr>
            <p:spPr>
              <a:xfrm>
                <a:off x="228600" y="95250"/>
                <a:ext cx="34863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C586C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.catch()</a:t>
                </a:r>
                <a:endParaRPr b="0" sz="11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Executes when the Promise is rejected (error).</a:t>
                </a:r>
                <a:endParaRPr b="0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1775" name="Google Shape;1775;p89"/>
            <p:cNvGrpSpPr/>
            <p:nvPr/>
          </p:nvGrpSpPr>
          <p:grpSpPr>
            <a:xfrm>
              <a:off x="0" y="2428875"/>
              <a:ext cx="3905400" cy="762000"/>
              <a:chOff x="0" y="0"/>
              <a:chExt cx="3905400" cy="762000"/>
            </a:xfrm>
          </p:grpSpPr>
          <p:sp>
            <p:nvSpPr>
              <p:cNvPr id="1776" name="Google Shape;1776;p89"/>
              <p:cNvSpPr/>
              <p:nvPr/>
            </p:nvSpPr>
            <p:spPr>
              <a:xfrm>
                <a:off x="0" y="0"/>
                <a:ext cx="3905400" cy="762000"/>
              </a:xfrm>
              <a:prstGeom prst="roundRect">
                <a:avLst>
                  <a:gd fmla="val 7500" name="adj"/>
                </a:avLst>
              </a:prstGeom>
              <a:solidFill>
                <a:srgbClr val="2D2D2D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89"/>
              <p:cNvSpPr/>
              <p:nvPr/>
            </p:nvSpPr>
            <p:spPr>
              <a:xfrm>
                <a:off x="0" y="0"/>
                <a:ext cx="76200" cy="762000"/>
              </a:xfrm>
              <a:custGeom>
                <a:rect b="b" l="l" r="r" t="t"/>
                <a:pathLst>
                  <a:path extrusionOk="0" h="120000" w="120000">
                    <a:moveTo>
                      <a:pt x="0" y="9000"/>
                    </a:moveTo>
                    <a:cubicBezTo>
                      <a:pt x="0" y="3000"/>
                      <a:pt x="30000" y="0"/>
                      <a:pt x="90000" y="0"/>
                    </a:cubicBez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90000" y="120000"/>
                    </a:lnTo>
                    <a:cubicBezTo>
                      <a:pt x="30000" y="120000"/>
                      <a:pt x="0" y="117000"/>
                      <a:pt x="0" y="111000"/>
                    </a:cubicBez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89"/>
              <p:cNvSpPr txBox="1"/>
              <p:nvPr/>
            </p:nvSpPr>
            <p:spPr>
              <a:xfrm>
                <a:off x="228600" y="95250"/>
                <a:ext cx="34863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569CD6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.finally()</a:t>
                </a:r>
                <a:endParaRPr b="0" sz="11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Executes regardless of the outcome (cleanup).</a:t>
                </a:r>
                <a:endParaRPr b="0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</p:grpSp>
      <p:grpSp>
        <p:nvGrpSpPr>
          <p:cNvPr id="1779" name="Google Shape;1779;p89"/>
          <p:cNvGrpSpPr/>
          <p:nvPr/>
        </p:nvGrpSpPr>
        <p:grpSpPr>
          <a:xfrm>
            <a:off x="4762500" y="1333500"/>
            <a:ext cx="3905400" cy="3190875"/>
            <a:chOff x="0" y="0"/>
            <a:chExt cx="3905400" cy="3190875"/>
          </a:xfrm>
        </p:grpSpPr>
        <p:grpSp>
          <p:nvGrpSpPr>
            <p:cNvPr id="1780" name="Google Shape;1780;p89"/>
            <p:cNvGrpSpPr/>
            <p:nvPr/>
          </p:nvGrpSpPr>
          <p:grpSpPr>
            <a:xfrm>
              <a:off x="0" y="0"/>
              <a:ext cx="3905400" cy="2047800"/>
              <a:chOff x="0" y="0"/>
              <a:chExt cx="3905400" cy="2047800"/>
            </a:xfrm>
          </p:grpSpPr>
          <p:sp>
            <p:nvSpPr>
              <p:cNvPr id="1781" name="Google Shape;1781;p89"/>
              <p:cNvSpPr/>
              <p:nvPr/>
            </p:nvSpPr>
            <p:spPr>
              <a:xfrm>
                <a:off x="0" y="0"/>
                <a:ext cx="3905400" cy="2047800"/>
              </a:xfrm>
              <a:prstGeom prst="roundRect">
                <a:avLst>
                  <a:gd fmla="val 3720" name="adj"/>
                </a:avLst>
              </a:prstGeom>
              <a:solidFill>
                <a:srgbClr val="2D2D2D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89"/>
              <p:cNvSpPr/>
              <p:nvPr/>
            </p:nvSpPr>
            <p:spPr>
              <a:xfrm>
                <a:off x="0" y="0"/>
                <a:ext cx="3905400" cy="304800"/>
              </a:xfrm>
              <a:custGeom>
                <a:rect b="b" l="l" r="r" t="t"/>
                <a:pathLst>
                  <a:path extrusionOk="0" h="120000" w="120000">
                    <a:moveTo>
                      <a:pt x="0" y="30000"/>
                    </a:moveTo>
                    <a:cubicBezTo>
                      <a:pt x="0" y="10000"/>
                      <a:pt x="780" y="0"/>
                      <a:pt x="2341" y="0"/>
                    </a:cubicBezTo>
                    <a:lnTo>
                      <a:pt x="117659" y="0"/>
                    </a:lnTo>
                    <a:cubicBezTo>
                      <a:pt x="119219" y="0"/>
                      <a:pt x="120000" y="10000"/>
                      <a:pt x="120000" y="3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83" name="Google Shape;1783;p89"/>
              <p:cNvGrpSpPr/>
              <p:nvPr/>
            </p:nvGrpSpPr>
            <p:grpSpPr>
              <a:xfrm>
                <a:off x="114300" y="114300"/>
                <a:ext cx="304800" cy="76200"/>
                <a:chOff x="0" y="0"/>
                <a:chExt cx="304800" cy="76200"/>
              </a:xfrm>
            </p:grpSpPr>
            <p:sp>
              <p:nvSpPr>
                <p:cNvPr id="1784" name="Google Shape;1784;p89"/>
                <p:cNvSpPr/>
                <p:nvPr/>
              </p:nvSpPr>
              <p:spPr>
                <a:xfrm>
                  <a:off x="0" y="0"/>
                  <a:ext cx="76200" cy="76200"/>
                </a:xfrm>
                <a:prstGeom prst="ellipse">
                  <a:avLst/>
                </a:prstGeom>
                <a:solidFill>
                  <a:srgbClr val="FF5F5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5" name="Google Shape;1785;p89"/>
                <p:cNvSpPr/>
                <p:nvPr/>
              </p:nvSpPr>
              <p:spPr>
                <a:xfrm>
                  <a:off x="114300" y="0"/>
                  <a:ext cx="76200" cy="76200"/>
                </a:xfrm>
                <a:prstGeom prst="ellipse">
                  <a:avLst/>
                </a:prstGeom>
                <a:solidFill>
                  <a:srgbClr val="FFBD2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6" name="Google Shape;1786;p89"/>
                <p:cNvSpPr/>
                <p:nvPr/>
              </p:nvSpPr>
              <p:spPr>
                <a:xfrm>
                  <a:off x="228600" y="0"/>
                  <a:ext cx="76200" cy="76200"/>
                </a:xfrm>
                <a:prstGeom prst="ellipse">
                  <a:avLst/>
                </a:prstGeom>
                <a:solidFill>
                  <a:srgbClr val="27C93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87" name="Google Shape;1787;p89"/>
              <p:cNvSpPr txBox="1"/>
              <p:nvPr/>
            </p:nvSpPr>
            <p:spPr>
              <a:xfrm>
                <a:off x="0" y="0"/>
                <a:ext cx="3905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858585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app.js</a:t>
                </a:r>
                <a:endParaRPr b="0" sz="8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sp>
            <p:nvSpPr>
              <p:cNvPr id="1788" name="Google Shape;1788;p89"/>
              <p:cNvSpPr txBox="1"/>
              <p:nvPr/>
            </p:nvSpPr>
            <p:spPr>
              <a:xfrm>
                <a:off x="190500" y="457200"/>
                <a:ext cx="3524400" cy="14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950">
                    <a:solidFill>
                      <a:srgbClr val="6A9955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// Consuming a Promise</a:t>
                </a:r>
                <a:endParaRPr b="0" i="1" sz="950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69CD6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myPromise</a:t>
                </a:r>
                <a:endParaRPr/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.</a:t>
                </a:r>
                <a:r>
                  <a:rPr b="0" lang="en" sz="950">
                    <a:solidFill>
                      <a:srgbClr val="DCDCA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then</a:t>
                </a: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(result</a:t>
                </a:r>
                <a:r>
                  <a:rPr lang="en"/>
                  <a:t> </a:t>
                </a:r>
                <a:r>
                  <a:rPr b="0" lang="en" sz="950">
                    <a:solidFill>
                      <a:srgbClr val="C586C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=&gt;</a:t>
                </a:r>
                <a:r>
                  <a:rPr lang="en"/>
                  <a:t> </a:t>
                </a: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console.</a:t>
                </a:r>
                <a:r>
                  <a:rPr b="0" lang="en" sz="950">
                    <a:solidFill>
                      <a:srgbClr val="DCDCA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log</a:t>
                </a: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(result))</a:t>
                </a:r>
                <a:endParaRPr/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.</a:t>
                </a:r>
                <a:r>
                  <a:rPr b="0" lang="en" sz="950">
                    <a:solidFill>
                      <a:srgbClr val="DCDCA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catch</a:t>
                </a: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(error</a:t>
                </a:r>
                <a:r>
                  <a:rPr lang="en"/>
                  <a:t> </a:t>
                </a:r>
                <a:r>
                  <a:rPr b="0" lang="en" sz="950">
                    <a:solidFill>
                      <a:srgbClr val="C586C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=&gt;</a:t>
                </a:r>
                <a:r>
                  <a:rPr lang="en"/>
                  <a:t> </a:t>
                </a: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console.</a:t>
                </a:r>
                <a:r>
                  <a:rPr b="0" lang="en" sz="950">
                    <a:solidFill>
                      <a:srgbClr val="DCDCA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error</a:t>
                </a: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(error))</a:t>
                </a:r>
                <a:endParaRPr/>
              </a:p>
              <a:p>
                <a:pPr indent="0" lvl="0" marL="152400" marR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.</a:t>
                </a:r>
                <a:r>
                  <a:rPr b="0" lang="en" sz="950">
                    <a:solidFill>
                      <a:srgbClr val="DCDCA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finally</a:t>
                </a: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(()</a:t>
                </a:r>
                <a:r>
                  <a:rPr lang="en"/>
                  <a:t> </a:t>
                </a:r>
                <a:r>
                  <a:rPr b="0" lang="en" sz="950">
                    <a:solidFill>
                      <a:srgbClr val="C586C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=&gt;</a:t>
                </a:r>
                <a:r>
                  <a:rPr lang="en"/>
                  <a:t> </a:t>
                </a: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console.</a:t>
                </a:r>
                <a:r>
                  <a:rPr b="0" lang="en" sz="950">
                    <a:solidFill>
                      <a:srgbClr val="DCDCA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log</a:t>
                </a: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(</a:t>
                </a:r>
                <a:r>
                  <a:rPr b="0" lang="en" sz="950">
                    <a:solidFill>
                      <a:srgbClr val="CE917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'Operation complete.'</a:t>
                </a:r>
                <a:r>
                  <a:rPr b="0" lang="en" sz="95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));</a:t>
                </a:r>
                <a:endParaRPr/>
              </a:p>
            </p:txBody>
          </p:sp>
        </p:grpSp>
        <p:grpSp>
          <p:nvGrpSpPr>
            <p:cNvPr id="1789" name="Google Shape;1789;p89"/>
            <p:cNvGrpSpPr/>
            <p:nvPr/>
          </p:nvGrpSpPr>
          <p:grpSpPr>
            <a:xfrm>
              <a:off x="0" y="2238375"/>
              <a:ext cx="3905400" cy="952500"/>
              <a:chOff x="0" y="0"/>
              <a:chExt cx="3905400" cy="952500"/>
            </a:xfrm>
          </p:grpSpPr>
          <p:sp>
            <p:nvSpPr>
              <p:cNvPr id="1790" name="Google Shape;1790;p89"/>
              <p:cNvSpPr/>
              <p:nvPr/>
            </p:nvSpPr>
            <p:spPr>
              <a:xfrm>
                <a:off x="0" y="0"/>
                <a:ext cx="3905400" cy="952500"/>
              </a:xfrm>
              <a:prstGeom prst="roundRect">
                <a:avLst>
                  <a:gd fmla="val 6000" name="adj"/>
                </a:avLst>
              </a:prstGeom>
              <a:solidFill>
                <a:srgbClr val="2D2D2D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89"/>
              <p:cNvSpPr/>
              <p:nvPr/>
            </p:nvSpPr>
            <p:spPr>
              <a:xfrm>
                <a:off x="0" y="0"/>
                <a:ext cx="76200" cy="952500"/>
              </a:xfrm>
              <a:custGeom>
                <a:rect b="b" l="l" r="r" t="t"/>
                <a:pathLst>
                  <a:path extrusionOk="0" h="120000" w="120000">
                    <a:moveTo>
                      <a:pt x="0" y="7200"/>
                    </a:moveTo>
                    <a:cubicBezTo>
                      <a:pt x="0" y="2400"/>
                      <a:pt x="30000" y="0"/>
                      <a:pt x="90000" y="0"/>
                    </a:cubicBez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90000" y="120000"/>
                    </a:lnTo>
                    <a:cubicBezTo>
                      <a:pt x="30000" y="120000"/>
                      <a:pt x="0" y="117600"/>
                      <a:pt x="0" y="112800"/>
                    </a:cubicBezTo>
                    <a:close/>
                  </a:path>
                </a:pathLst>
              </a:custGeom>
              <a:solidFill>
                <a:srgbClr val="569CD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92" name="Google Shape;1792;p89"/>
              <p:cNvGrpSpPr/>
              <p:nvPr/>
            </p:nvGrpSpPr>
            <p:grpSpPr>
              <a:xfrm>
                <a:off x="180975" y="295275"/>
                <a:ext cx="800100" cy="209700"/>
                <a:chOff x="38100" y="9525"/>
                <a:chExt cx="800100" cy="209700"/>
              </a:xfrm>
            </p:grpSpPr>
            <p:sp>
              <p:nvSpPr>
                <p:cNvPr id="1793" name="Google Shape;1793;p89"/>
                <p:cNvSpPr/>
                <p:nvPr/>
              </p:nvSpPr>
              <p:spPr>
                <a:xfrm>
                  <a:off x="47625" y="47625"/>
                  <a:ext cx="324000" cy="133500"/>
                </a:xfrm>
                <a:custGeom>
                  <a:rect b="b" l="l" r="r" t="t"/>
                  <a:pathLst>
                    <a:path extrusionOk="0" fill="none" h="120000" w="120000">
                      <a:moveTo>
                        <a:pt x="0" y="0"/>
                      </a:moveTo>
                      <a:lnTo>
                        <a:pt x="70588" y="0"/>
                      </a:lnTo>
                      <a:moveTo>
                        <a:pt x="24706" y="60000"/>
                      </a:moveTo>
                      <a:lnTo>
                        <a:pt x="95294" y="60000"/>
                      </a:lnTo>
                      <a:moveTo>
                        <a:pt x="49412" y="120000"/>
                      </a:moveTo>
                      <a:lnTo>
                        <a:pt x="120000" y="120000"/>
                      </a:lnTo>
                    </a:path>
                  </a:pathLst>
                </a:custGeom>
                <a:solidFill>
                  <a:srgbClr val="FFFFFF"/>
                </a:solidFill>
                <a:ln cap="rnd" cmpd="sng" w="19050">
                  <a:solidFill>
                    <a:srgbClr val="85858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794" name="Google Shape;1794;p8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38100" y="9525"/>
                  <a:ext cx="304800" cy="209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95" name="Google Shape;1795;p89"/>
                <p:cNvSpPr/>
                <p:nvPr/>
              </p:nvSpPr>
              <p:spPr>
                <a:xfrm>
                  <a:off x="447675" y="66675"/>
                  <a:ext cx="104700" cy="76200"/>
                </a:xfrm>
                <a:custGeom>
                  <a:rect b="b" l="l" r="r" t="t"/>
                  <a:pathLst>
                    <a:path extrusionOk="0" fill="none" h="120000" w="120000">
                      <a:moveTo>
                        <a:pt x="0" y="60000"/>
                      </a:moveTo>
                      <a:lnTo>
                        <a:pt x="109091" y="60000"/>
                      </a:lnTo>
                      <a:moveTo>
                        <a:pt x="65455" y="0"/>
                      </a:moveTo>
                      <a:lnTo>
                        <a:pt x="120000" y="60000"/>
                      </a:lnTo>
                      <a:lnTo>
                        <a:pt x="65455" y="120000"/>
                      </a:lnTo>
                    </a:path>
                  </a:pathLst>
                </a:custGeom>
                <a:solidFill>
                  <a:srgbClr val="FFFFFF"/>
                </a:solidFill>
                <a:ln cap="rnd" cmpd="sng" w="14300">
                  <a:solidFill>
                    <a:srgbClr val="D4D4D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6" name="Google Shape;1796;p89"/>
                <p:cNvSpPr/>
                <p:nvPr/>
              </p:nvSpPr>
              <p:spPr>
                <a:xfrm>
                  <a:off x="647700" y="47625"/>
                  <a:ext cx="190500" cy="133500"/>
                </a:xfrm>
                <a:custGeom>
                  <a:rect b="b" l="l" r="r" t="t"/>
                  <a:pathLst>
                    <a:path extrusionOk="0" fill="none" h="120000" w="120000">
                      <a:moveTo>
                        <a:pt x="0" y="0"/>
                      </a:moveTo>
                      <a:lnTo>
                        <a:pt x="120000" y="0"/>
                      </a:lnTo>
                      <a:moveTo>
                        <a:pt x="0" y="60000"/>
                      </a:moveTo>
                      <a:lnTo>
                        <a:pt x="120000" y="60000"/>
                      </a:lnTo>
                      <a:moveTo>
                        <a:pt x="0" y="120000"/>
                      </a:moveTo>
                      <a:lnTo>
                        <a:pt x="120000" y="120000"/>
                      </a:lnTo>
                    </a:path>
                  </a:pathLst>
                </a:custGeom>
                <a:solidFill>
                  <a:srgbClr val="FFFFFF"/>
                </a:solidFill>
                <a:ln cap="rnd" cmpd="sng" w="19050">
                  <a:solidFill>
                    <a:srgbClr val="27C93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97" name="Google Shape;1797;p89"/>
              <p:cNvSpPr txBox="1"/>
              <p:nvPr/>
            </p:nvSpPr>
            <p:spPr>
              <a:xfrm>
                <a:off x="1095375" y="114300"/>
                <a:ext cx="26670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25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Flat Chaining vs. Nesting</a:t>
                </a:r>
                <a:endParaRPr b="1" sz="925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Avoids "Callback Hell" by organizing asynchronous steps in a clean, vertical flow rather than growing horizontally.</a:t>
                </a:r>
                <a:endParaRPr b="0" sz="833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</p:grpSp>
      <p:pic>
        <p:nvPicPr>
          <p:cNvPr id="1798" name="Google Shape;1798;p89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90"/>
          <p:cNvSpPr/>
          <p:nvPr/>
        </p:nvSpPr>
        <p:spPr>
          <a:xfrm>
            <a:off x="476250" y="1095375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90"/>
          <p:cNvSpPr txBox="1"/>
          <p:nvPr/>
        </p:nvSpPr>
        <p:spPr>
          <a:xfrm>
            <a:off x="476250" y="381000"/>
            <a:ext cx="7620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 / await</a:t>
            </a:r>
            <a:endParaRPr b="1" sz="32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05" name="Google Shape;1805;p90"/>
          <p:cNvSpPr txBox="1"/>
          <p:nvPr/>
        </p:nvSpPr>
        <p:spPr>
          <a:xfrm>
            <a:off x="476250" y="1333500"/>
            <a:ext cx="39054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Introduced in </a:t>
            </a:r>
            <a:r>
              <a:rPr b="1" lang="en" sz="110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ES2017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1" lang="en" sz="110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async/await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provides a cleaner, more synchronous-looking syntax for working with Promises.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</a:t>
            </a:r>
            <a:r>
              <a:rPr b="1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Placed before a function, ensuring it always returns a Promise.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1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Placed before a Promise, pausing the execution of that specific </a:t>
            </a:r>
            <a:r>
              <a:rPr b="1" lang="en" sz="1100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function until the Promise settles.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0"/>
              </a:spcBef>
              <a:spcAft>
                <a:spcPts val="750"/>
              </a:spcAft>
              <a:buNone/>
            </a:pPr>
            <a:r>
              <a:rPr b="1" i="1" lang="en" sz="950">
                <a:solidFill>
                  <a:srgbClr val="FFBD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</a:t>
            </a:r>
            <a:r>
              <a:rPr b="0" i="1" lang="en" sz="95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Note: </a:t>
            </a:r>
            <a:r>
              <a:rPr b="1" i="1" lang="en"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1" lang="en" sz="95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only pauses the async function, not the entire browser.</a:t>
            </a:r>
            <a:endParaRPr b="0" i="1" sz="950">
              <a:solidFill>
                <a:srgbClr val="85858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806" name="Google Shape;1806;p90"/>
          <p:cNvGrpSpPr/>
          <p:nvPr/>
        </p:nvGrpSpPr>
        <p:grpSpPr>
          <a:xfrm>
            <a:off x="4762500" y="1333500"/>
            <a:ext cx="3905400" cy="1428900"/>
            <a:chOff x="0" y="0"/>
            <a:chExt cx="3905400" cy="1428900"/>
          </a:xfrm>
        </p:grpSpPr>
        <p:sp>
          <p:nvSpPr>
            <p:cNvPr id="1807" name="Google Shape;1807;p90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5333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90"/>
            <p:cNvSpPr/>
            <p:nvPr/>
          </p:nvSpPr>
          <p:spPr>
            <a:xfrm>
              <a:off x="0" y="0"/>
              <a:ext cx="3905400" cy="3048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0013"/>
                    <a:pt x="781" y="0"/>
                    <a:pt x="2341" y="0"/>
                  </a:cubicBezTo>
                  <a:lnTo>
                    <a:pt x="117659" y="0"/>
                  </a:lnTo>
                  <a:cubicBezTo>
                    <a:pt x="119219" y="0"/>
                    <a:pt x="120000" y="10013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09" name="Google Shape;1809;p90"/>
            <p:cNvGrpSpPr/>
            <p:nvPr/>
          </p:nvGrpSpPr>
          <p:grpSpPr>
            <a:xfrm>
              <a:off x="114300" y="114300"/>
              <a:ext cx="304800" cy="76200"/>
              <a:chOff x="0" y="0"/>
              <a:chExt cx="304800" cy="76200"/>
            </a:xfrm>
          </p:grpSpPr>
          <p:sp>
            <p:nvSpPr>
              <p:cNvPr id="1810" name="Google Shape;1810;p90"/>
              <p:cNvSpPr/>
              <p:nvPr/>
            </p:nvSpPr>
            <p:spPr>
              <a:xfrm>
                <a:off x="0" y="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90"/>
              <p:cNvSpPr/>
              <p:nvPr/>
            </p:nvSpPr>
            <p:spPr>
              <a:xfrm>
                <a:off x="114300" y="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90"/>
              <p:cNvSpPr/>
              <p:nvPr/>
            </p:nvSpPr>
            <p:spPr>
              <a:xfrm>
                <a:off x="228600" y="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13" name="Google Shape;1813;p90"/>
            <p:cNvSpPr txBox="1"/>
            <p:nvPr/>
          </p:nvSpPr>
          <p:spPr>
            <a:xfrm>
              <a:off x="0" y="0"/>
              <a:ext cx="3905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promise-style.js</a:t>
              </a:r>
              <a:endParaRPr b="0" sz="85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814" name="Google Shape;1814;p90"/>
            <p:cNvSpPr txBox="1"/>
            <p:nvPr/>
          </p:nvSpPr>
          <p:spPr>
            <a:xfrm>
              <a:off x="190500" y="457200"/>
              <a:ext cx="352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950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Promise Style</a:t>
              </a:r>
              <a:endParaRPr b="0" i="1" sz="950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fetch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95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url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 .</a:t>
              </a: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then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95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=&gt; </a:t>
              </a:r>
              <a:r>
                <a:rPr b="0" lang="en" sz="95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.</a:t>
              </a: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json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());</a:t>
              </a:r>
              <a:endParaRPr b="0"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815" name="Google Shape;1815;p90"/>
          <p:cNvGrpSpPr/>
          <p:nvPr/>
        </p:nvGrpSpPr>
        <p:grpSpPr>
          <a:xfrm>
            <a:off x="4762500" y="2952750"/>
            <a:ext cx="3905400" cy="1714500"/>
            <a:chOff x="0" y="0"/>
            <a:chExt cx="3905400" cy="1714500"/>
          </a:xfrm>
        </p:grpSpPr>
        <p:sp>
          <p:nvSpPr>
            <p:cNvPr id="1816" name="Google Shape;1816;p90"/>
            <p:cNvSpPr/>
            <p:nvPr/>
          </p:nvSpPr>
          <p:spPr>
            <a:xfrm>
              <a:off x="0" y="0"/>
              <a:ext cx="3905400" cy="1714500"/>
            </a:xfrm>
            <a:prstGeom prst="roundRect">
              <a:avLst>
                <a:gd fmla="val 4444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90"/>
            <p:cNvSpPr/>
            <p:nvPr/>
          </p:nvSpPr>
          <p:spPr>
            <a:xfrm>
              <a:off x="0" y="0"/>
              <a:ext cx="3905400" cy="3048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0013"/>
                    <a:pt x="781" y="0"/>
                    <a:pt x="2341" y="0"/>
                  </a:cubicBezTo>
                  <a:lnTo>
                    <a:pt x="117659" y="0"/>
                  </a:lnTo>
                  <a:cubicBezTo>
                    <a:pt x="119219" y="0"/>
                    <a:pt x="120000" y="10013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18" name="Google Shape;1818;p90"/>
            <p:cNvGrpSpPr/>
            <p:nvPr/>
          </p:nvGrpSpPr>
          <p:grpSpPr>
            <a:xfrm>
              <a:off x="114300" y="114300"/>
              <a:ext cx="304800" cy="76200"/>
              <a:chOff x="0" y="0"/>
              <a:chExt cx="304800" cy="76200"/>
            </a:xfrm>
          </p:grpSpPr>
          <p:sp>
            <p:nvSpPr>
              <p:cNvPr id="1819" name="Google Shape;1819;p90"/>
              <p:cNvSpPr/>
              <p:nvPr/>
            </p:nvSpPr>
            <p:spPr>
              <a:xfrm>
                <a:off x="0" y="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90"/>
              <p:cNvSpPr/>
              <p:nvPr/>
            </p:nvSpPr>
            <p:spPr>
              <a:xfrm>
                <a:off x="114300" y="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90"/>
              <p:cNvSpPr/>
              <p:nvPr/>
            </p:nvSpPr>
            <p:spPr>
              <a:xfrm>
                <a:off x="228600" y="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22" name="Google Shape;1822;p90"/>
            <p:cNvSpPr txBox="1"/>
            <p:nvPr/>
          </p:nvSpPr>
          <p:spPr>
            <a:xfrm>
              <a:off x="0" y="0"/>
              <a:ext cx="3905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async-await-style.js</a:t>
              </a:r>
              <a:endParaRPr b="0" sz="85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823" name="Google Shape;1823;p90"/>
            <p:cNvSpPr txBox="1"/>
            <p:nvPr/>
          </p:nvSpPr>
          <p:spPr>
            <a:xfrm>
              <a:off x="190500" y="457200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950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async/await Style</a:t>
              </a:r>
              <a:endParaRPr b="0" i="1" sz="950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async function </a:t>
              </a: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getData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b="0" sz="950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res = </a:t>
              </a:r>
              <a:r>
                <a:rPr b="0" lang="en" sz="95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await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fetch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95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url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b="0"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data = </a:t>
              </a:r>
              <a:r>
                <a:rPr b="0" lang="en" sz="95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await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95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.</a:t>
              </a:r>
              <a:r>
                <a:rPr b="0" lang="en" sz="95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json</a:t>
              </a: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</a:t>
              </a:r>
              <a:endParaRPr b="0"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1824" name="Google Shape;1824;p90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9" name="Google Shape;1829;p91"/>
          <p:cNvGrpSpPr/>
          <p:nvPr/>
        </p:nvGrpSpPr>
        <p:grpSpPr>
          <a:xfrm>
            <a:off x="476250" y="381000"/>
            <a:ext cx="7620000" cy="571500"/>
            <a:chOff x="0" y="0"/>
            <a:chExt cx="7620000" cy="571500"/>
          </a:xfrm>
        </p:grpSpPr>
        <p:sp>
          <p:nvSpPr>
            <p:cNvPr id="1830" name="Google Shape;1830;p91"/>
            <p:cNvSpPr/>
            <p:nvPr/>
          </p:nvSpPr>
          <p:spPr>
            <a:xfrm>
              <a:off x="0" y="0"/>
              <a:ext cx="7620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91"/>
            <p:cNvSpPr txBox="1"/>
            <p:nvPr/>
          </p:nvSpPr>
          <p:spPr>
            <a:xfrm>
              <a:off x="0" y="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Error Handling with async / await</a:t>
              </a:r>
              <a:endParaRPr b="1" sz="28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1832" name="Google Shape;1832;p91"/>
          <p:cNvSpPr/>
          <p:nvPr/>
        </p:nvSpPr>
        <p:spPr>
          <a:xfrm>
            <a:off x="476250" y="1095375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91"/>
          <p:cNvSpPr txBox="1"/>
          <p:nvPr/>
        </p:nvSpPr>
        <p:spPr>
          <a:xfrm>
            <a:off x="476250" y="1381125"/>
            <a:ext cx="39054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69CD6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Documentation // Async Error Handling</a:t>
            </a:r>
            <a:endParaRPr b="0" sz="1000">
              <a:solidFill>
                <a:srgbClr val="569CD6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Robust error handling</a:t>
            </a:r>
            <a:r>
              <a:rPr b="0" lang="en" sz="12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is critical for real-world applications to prevent crashes when network requests fail.</a:t>
            </a:r>
            <a:endParaRPr b="0" sz="12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b="0" lang="en" sz="12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Unlike Promise chains that use </a:t>
            </a:r>
            <a:r>
              <a:rPr b="1" lang="en" sz="1100">
                <a:solidFill>
                  <a:srgbClr val="569CD6"/>
                </a:solidFill>
                <a:highlight>
                  <a:srgbClr val="2D2D2D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.catch()</a:t>
            </a:r>
            <a:r>
              <a:rPr b="0" lang="en" sz="12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1" lang="en" sz="1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async/await</a:t>
            </a:r>
            <a:r>
              <a:rPr b="0" lang="en" sz="12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utilizes standard </a:t>
            </a:r>
            <a:r>
              <a:rPr b="1" lang="en" sz="1100">
                <a:solidFill>
                  <a:srgbClr val="C586C0"/>
                </a:solidFill>
                <a:highlight>
                  <a:srgbClr val="2D2D2D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try...catch</a:t>
            </a:r>
            <a:r>
              <a:rPr b="0" lang="en" sz="12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blocks.</a:t>
            </a:r>
            <a:endParaRPr b="0" sz="12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834" name="Google Shape;1834;p91"/>
          <p:cNvGrpSpPr/>
          <p:nvPr/>
        </p:nvGrpSpPr>
        <p:grpSpPr>
          <a:xfrm>
            <a:off x="4762500" y="1381125"/>
            <a:ext cx="3905400" cy="3286200"/>
            <a:chOff x="0" y="0"/>
            <a:chExt cx="3905400" cy="3286200"/>
          </a:xfrm>
        </p:grpSpPr>
        <p:sp>
          <p:nvSpPr>
            <p:cNvPr id="1835" name="Google Shape;1835;p91"/>
            <p:cNvSpPr/>
            <p:nvPr/>
          </p:nvSpPr>
          <p:spPr>
            <a:xfrm>
              <a:off x="0" y="0"/>
              <a:ext cx="3905400" cy="3286200"/>
            </a:xfrm>
            <a:prstGeom prst="roundRect">
              <a:avLst>
                <a:gd fmla="val 2318" name="adj"/>
              </a:avLst>
            </a:prstGeom>
            <a:solidFill>
              <a:srgbClr val="181818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91"/>
            <p:cNvSpPr/>
            <p:nvPr/>
          </p:nvSpPr>
          <p:spPr>
            <a:xfrm>
              <a:off x="0" y="0"/>
              <a:ext cx="3905400" cy="3286200"/>
            </a:xfrm>
            <a:prstGeom prst="roundRect">
              <a:avLst>
                <a:gd fmla="val 2318" name="adj"/>
              </a:avLst>
            </a:prstGeom>
            <a:solidFill>
              <a:srgbClr val="2D2D2D"/>
            </a:solidFill>
            <a:ln cap="flat" cmpd="sng" w="14300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91"/>
            <p:cNvSpPr/>
            <p:nvPr/>
          </p:nvSpPr>
          <p:spPr>
            <a:xfrm>
              <a:off x="0" y="0"/>
              <a:ext cx="3905400" cy="3048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0013"/>
                    <a:pt x="781" y="0"/>
                    <a:pt x="2341" y="0"/>
                  </a:cubicBezTo>
                  <a:lnTo>
                    <a:pt x="117659" y="0"/>
                  </a:lnTo>
                  <a:cubicBezTo>
                    <a:pt x="119219" y="0"/>
                    <a:pt x="120000" y="10013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8" name="Google Shape;1838;p91"/>
            <p:cNvGrpSpPr/>
            <p:nvPr/>
          </p:nvGrpSpPr>
          <p:grpSpPr>
            <a:xfrm>
              <a:off x="114300" y="114300"/>
              <a:ext cx="304800" cy="76200"/>
              <a:chOff x="0" y="0"/>
              <a:chExt cx="304800" cy="76200"/>
            </a:xfrm>
          </p:grpSpPr>
          <p:sp>
            <p:nvSpPr>
              <p:cNvPr id="1839" name="Google Shape;1839;p91"/>
              <p:cNvSpPr/>
              <p:nvPr/>
            </p:nvSpPr>
            <p:spPr>
              <a:xfrm>
                <a:off x="0" y="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91"/>
              <p:cNvSpPr/>
              <p:nvPr/>
            </p:nvSpPr>
            <p:spPr>
              <a:xfrm>
                <a:off x="114300" y="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91"/>
              <p:cNvSpPr/>
              <p:nvPr/>
            </p:nvSpPr>
            <p:spPr>
              <a:xfrm>
                <a:off x="228600" y="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42" name="Google Shape;1842;p91"/>
            <p:cNvSpPr txBox="1"/>
            <p:nvPr/>
          </p:nvSpPr>
          <p:spPr>
            <a:xfrm>
              <a:off x="0" y="0"/>
              <a:ext cx="3905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loadData.js</a:t>
              </a:r>
              <a:endParaRPr b="0" sz="85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843" name="Google Shape;1843;p91"/>
            <p:cNvSpPr/>
            <p:nvPr/>
          </p:nvSpPr>
          <p:spPr>
            <a:xfrm>
              <a:off x="0" y="304800"/>
              <a:ext cx="342900" cy="2981400"/>
            </a:xfrm>
            <a:prstGeom prst="rect">
              <a:avLst/>
            </a:prstGeom>
            <a:solidFill>
              <a:srgbClr val="2525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44" name="Google Shape;1844;p91"/>
            <p:cNvCxnSpPr/>
            <p:nvPr/>
          </p:nvCxnSpPr>
          <p:spPr>
            <a:xfrm>
              <a:off x="342900" y="304800"/>
              <a:ext cx="0" cy="29814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45" name="Google Shape;1845;p91"/>
            <p:cNvSpPr txBox="1"/>
            <p:nvPr/>
          </p:nvSpPr>
          <p:spPr>
            <a:xfrm>
              <a:off x="47625" y="428625"/>
              <a:ext cx="2478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1</a:t>
              </a:r>
              <a:endParaRPr b="0" sz="9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2</a:t>
              </a:r>
              <a:endParaRPr b="0" sz="9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3</a:t>
              </a:r>
              <a:endParaRPr b="0" sz="9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4</a:t>
              </a:r>
              <a:endParaRPr b="0" sz="9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5</a:t>
              </a:r>
              <a:endParaRPr b="0" sz="9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6</a:t>
              </a:r>
              <a:endParaRPr b="0" sz="9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7</a:t>
              </a:r>
              <a:endParaRPr b="0" sz="9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8</a:t>
              </a:r>
              <a:endParaRPr b="0" sz="9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9</a:t>
              </a:r>
              <a:endParaRPr b="0" sz="9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10</a:t>
              </a:r>
              <a:endParaRPr b="0" sz="9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9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11</a:t>
              </a:r>
              <a:endParaRPr b="0" sz="9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846" name="Google Shape;1846;p91"/>
            <p:cNvSpPr txBox="1"/>
            <p:nvPr/>
          </p:nvSpPr>
          <p:spPr>
            <a:xfrm>
              <a:off x="457200" y="428625"/>
              <a:ext cx="33339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async function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loadData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sz="938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try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sz="938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response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= </a:t>
              </a: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await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fetch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10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'api/data'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sz="938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data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= </a:t>
              </a: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await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response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.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json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</a:t>
              </a:r>
              <a:endParaRPr sz="938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console.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log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data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sz="938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 </a:t>
              </a: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catch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(</a:t>
              </a: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error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 {</a:t>
              </a:r>
              <a:endParaRPr sz="938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console.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error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10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'Fetch failed:'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, </a:t>
              </a: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error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sz="938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 </a:t>
              </a: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finally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sz="938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console.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log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10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'Attempt finished.'</a:t>
              </a: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sz="938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938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38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938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1847" name="Google Shape;1847;p91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3699" y="883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92"/>
          <p:cNvSpPr/>
          <p:nvPr/>
        </p:nvSpPr>
        <p:spPr>
          <a:xfrm>
            <a:off x="476250" y="1095375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92"/>
          <p:cNvSpPr/>
          <p:nvPr/>
        </p:nvSpPr>
        <p:spPr>
          <a:xfrm>
            <a:off x="8334375" y="428625"/>
            <a:ext cx="285900" cy="190500"/>
          </a:xfrm>
          <a:custGeom>
            <a:rect b="b" l="l" r="r" t="t"/>
            <a:pathLst>
              <a:path extrusionOk="0" h="120000" w="120000">
                <a:moveTo>
                  <a:pt x="40000" y="0"/>
                </a:moveTo>
                <a:lnTo>
                  <a:pt x="0" y="60000"/>
                </a:lnTo>
                <a:lnTo>
                  <a:pt x="40000" y="120000"/>
                </a:lnTo>
                <a:moveTo>
                  <a:pt x="80000" y="0"/>
                </a:moveTo>
                <a:lnTo>
                  <a:pt x="120000" y="60000"/>
                </a:lnTo>
                <a:lnTo>
                  <a:pt x="8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8100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92"/>
          <p:cNvSpPr txBox="1"/>
          <p:nvPr/>
        </p:nvSpPr>
        <p:spPr>
          <a:xfrm>
            <a:off x="476250" y="304800"/>
            <a:ext cx="76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is an API?</a:t>
            </a:r>
            <a:endParaRPr b="1" sz="32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55" name="Google Shape;1855;p92"/>
          <p:cNvSpPr txBox="1"/>
          <p:nvPr/>
        </p:nvSpPr>
        <p:spPr>
          <a:xfrm>
            <a:off x="476250" y="1285875"/>
            <a:ext cx="4000500" cy="3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 </a:t>
            </a:r>
            <a:r>
              <a:rPr b="1" lang="en" sz="1000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Application Programming Interface (API)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allows different software systems to communicate.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The Restaurant Analogy</a:t>
            </a:r>
            <a:endParaRPr b="0" i="1" sz="1000">
              <a:solidFill>
                <a:srgbClr val="6A99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Client (You)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Makes the request.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API (Waiter)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Takes your request to the kitchen and brings back the food.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Server (Kitchen)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Processes the request and prepares the data.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Core Terms</a:t>
            </a:r>
            <a:endParaRPr b="0" i="1" sz="1000">
              <a:solidFill>
                <a:srgbClr val="6A99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69CD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Endpoint: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The specific URL where the API is accessed.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Request/Response: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The cycle of asking for and receiving data.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E917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 Methods: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DCDC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Retrieve data.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586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POST</a:t>
            </a:r>
            <a:r>
              <a:rPr b="0" lang="en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Send new data.</a:t>
            </a:r>
            <a:endParaRPr b="0" sz="1100">
              <a:solidFill>
                <a:srgbClr val="D4D4D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856" name="Google Shape;1856;p92"/>
          <p:cNvGrpSpPr/>
          <p:nvPr/>
        </p:nvGrpSpPr>
        <p:grpSpPr>
          <a:xfrm>
            <a:off x="4857750" y="1333500"/>
            <a:ext cx="3810000" cy="3238500"/>
            <a:chOff x="4857750" y="1333500"/>
            <a:chExt cx="3810000" cy="3238500"/>
          </a:xfrm>
        </p:grpSpPr>
        <p:sp>
          <p:nvSpPr>
            <p:cNvPr id="1857" name="Google Shape;1857;p92"/>
            <p:cNvSpPr/>
            <p:nvPr/>
          </p:nvSpPr>
          <p:spPr>
            <a:xfrm>
              <a:off x="4857750" y="1333500"/>
              <a:ext cx="38100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92"/>
            <p:cNvSpPr/>
            <p:nvPr/>
          </p:nvSpPr>
          <p:spPr>
            <a:xfrm>
              <a:off x="4857750" y="1333500"/>
              <a:ext cx="3810000" cy="3048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3500"/>
                    <a:pt x="1080" y="0"/>
                    <a:pt x="2400" y="0"/>
                  </a:cubicBezTo>
                  <a:lnTo>
                    <a:pt x="117600" y="0"/>
                  </a:lnTo>
                  <a:cubicBezTo>
                    <a:pt x="118920" y="0"/>
                    <a:pt x="120000" y="13500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59" name="Google Shape;1859;p92"/>
            <p:cNvGrpSpPr/>
            <p:nvPr/>
          </p:nvGrpSpPr>
          <p:grpSpPr>
            <a:xfrm>
              <a:off x="4972050" y="1447800"/>
              <a:ext cx="304800" cy="76200"/>
              <a:chOff x="0" y="0"/>
              <a:chExt cx="304800" cy="76200"/>
            </a:xfrm>
          </p:grpSpPr>
          <p:sp>
            <p:nvSpPr>
              <p:cNvPr id="1860" name="Google Shape;1860;p92"/>
              <p:cNvSpPr/>
              <p:nvPr/>
            </p:nvSpPr>
            <p:spPr>
              <a:xfrm>
                <a:off x="0" y="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92"/>
              <p:cNvSpPr/>
              <p:nvPr/>
            </p:nvSpPr>
            <p:spPr>
              <a:xfrm>
                <a:off x="114300" y="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92"/>
              <p:cNvSpPr/>
              <p:nvPr/>
            </p:nvSpPr>
            <p:spPr>
              <a:xfrm>
                <a:off x="228600" y="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63" name="Google Shape;1863;p92"/>
            <p:cNvSpPr txBox="1"/>
            <p:nvPr/>
          </p:nvSpPr>
          <p:spPr>
            <a:xfrm>
              <a:off x="4857750" y="1333500"/>
              <a:ext cx="381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api_flow_diagram.png</a:t>
              </a:r>
              <a:endParaRPr b="0" sz="8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pic>
          <p:nvPicPr>
            <p:cNvPr id="1864" name="Google Shape;1864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29250" y="1771650"/>
              <a:ext cx="2667000" cy="2667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65" name="Google Shape;1865;p92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6749" y="166650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93"/>
          <p:cNvSpPr/>
          <p:nvPr/>
        </p:nvSpPr>
        <p:spPr>
          <a:xfrm>
            <a:off x="8334375" y="428625"/>
            <a:ext cx="285900" cy="190500"/>
          </a:xfrm>
          <a:custGeom>
            <a:rect b="b" l="l" r="r" t="t"/>
            <a:pathLst>
              <a:path extrusionOk="0" h="120000" w="120000">
                <a:moveTo>
                  <a:pt x="40000" y="0"/>
                </a:moveTo>
                <a:lnTo>
                  <a:pt x="0" y="60000"/>
                </a:lnTo>
                <a:lnTo>
                  <a:pt x="40000" y="120000"/>
                </a:lnTo>
                <a:moveTo>
                  <a:pt x="80000" y="0"/>
                </a:moveTo>
                <a:lnTo>
                  <a:pt x="120000" y="60000"/>
                </a:lnTo>
                <a:lnTo>
                  <a:pt x="8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8100">
            <a:solidFill>
              <a:srgbClr val="569C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93"/>
          <p:cNvSpPr/>
          <p:nvPr/>
        </p:nvSpPr>
        <p:spPr>
          <a:xfrm>
            <a:off x="476250" y="1066800"/>
            <a:ext cx="8191500" cy="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93"/>
          <p:cNvSpPr txBox="1"/>
          <p:nvPr/>
        </p:nvSpPr>
        <p:spPr>
          <a:xfrm>
            <a:off x="476250" y="304800"/>
            <a:ext cx="819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Asynchronous JavaScript</a:t>
            </a:r>
            <a:endParaRPr b="0" sz="850">
              <a:solidFill>
                <a:srgbClr val="858585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</p:txBody>
      </p:sp>
      <p:sp>
        <p:nvSpPr>
          <p:cNvPr id="1873" name="Google Shape;1873;p93"/>
          <p:cNvSpPr txBox="1"/>
          <p:nvPr/>
        </p:nvSpPr>
        <p:spPr>
          <a:xfrm>
            <a:off x="476250" y="552450"/>
            <a:ext cx="819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 + fetch()</a:t>
            </a:r>
            <a:endParaRPr b="1" sz="28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874" name="Google Shape;1874;p93"/>
          <p:cNvGrpSpPr/>
          <p:nvPr/>
        </p:nvGrpSpPr>
        <p:grpSpPr>
          <a:xfrm>
            <a:off x="476250" y="1352550"/>
            <a:ext cx="3905400" cy="3314700"/>
            <a:chOff x="476250" y="1352550"/>
            <a:chExt cx="3905400" cy="3314700"/>
          </a:xfrm>
        </p:grpSpPr>
        <p:sp>
          <p:nvSpPr>
            <p:cNvPr id="1875" name="Google Shape;1875;p93"/>
            <p:cNvSpPr txBox="1"/>
            <p:nvPr/>
          </p:nvSpPr>
          <p:spPr>
            <a:xfrm>
              <a:off x="476250" y="1352550"/>
              <a:ext cx="3905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11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JSON:</a:t>
              </a:r>
              <a:r>
                <a:rPr b="0" lang="en" sz="11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JavaScript Object Notation. The standard text format for transmitting data across the web, structured as key-value pairs, objects, and arrays.</a:t>
              </a:r>
              <a:endParaRPr b="0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876" name="Google Shape;1876;p93"/>
            <p:cNvSpPr/>
            <p:nvPr/>
          </p:nvSpPr>
          <p:spPr>
            <a:xfrm>
              <a:off x="476250" y="2238375"/>
              <a:ext cx="3905400" cy="952500"/>
            </a:xfrm>
            <a:prstGeom prst="roundRect">
              <a:avLst>
                <a:gd fmla="val 6000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93"/>
            <p:cNvSpPr txBox="1"/>
            <p:nvPr/>
          </p:nvSpPr>
          <p:spPr>
            <a:xfrm>
              <a:off x="619125" y="2333625"/>
              <a:ext cx="361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Schema representation</a:t>
              </a:r>
              <a:endParaRPr b="0" sz="736">
                <a:solidFill>
                  <a:srgbClr val="6A99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{</a:t>
              </a:r>
              <a:endParaRPr b="0" sz="736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524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9CDCF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"key"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: </a:t>
              </a:r>
              <a:r>
                <a:rPr b="0" lang="en" sz="736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"value"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,</a:t>
              </a:r>
              <a:endParaRPr b="0" sz="736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524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9CDCF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"array"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: ["item1", "item2"]</a:t>
              </a:r>
              <a:endParaRPr b="0" sz="736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736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878" name="Google Shape;1878;p93"/>
            <p:cNvSpPr txBox="1"/>
            <p:nvPr/>
          </p:nvSpPr>
          <p:spPr>
            <a:xfrm>
              <a:off x="476250" y="3333750"/>
              <a:ext cx="3905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fetch():</a:t>
              </a:r>
              <a:r>
                <a:rPr b="0" lang="en" sz="11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The modern browser API for making network requests. It returns a Promise.</a:t>
              </a:r>
              <a:endParaRPr b="0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Built-in Structure:</a:t>
              </a:r>
              <a:r>
                <a:rPr b="0" lang="en" sz="11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Natively supported in modern runtimes, allowing clean handle chains instead of legacy asynchronous callback mechanisms.</a:t>
              </a:r>
              <a:endParaRPr b="0" sz="11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879" name="Google Shape;1879;p93"/>
          <p:cNvGrpSpPr/>
          <p:nvPr/>
        </p:nvGrpSpPr>
        <p:grpSpPr>
          <a:xfrm>
            <a:off x="4762500" y="1352550"/>
            <a:ext cx="3905400" cy="3238500"/>
            <a:chOff x="4762500" y="1352550"/>
            <a:chExt cx="3905400" cy="3238500"/>
          </a:xfrm>
        </p:grpSpPr>
        <p:sp>
          <p:nvSpPr>
            <p:cNvPr id="1880" name="Google Shape;1880;p93"/>
            <p:cNvSpPr/>
            <p:nvPr/>
          </p:nvSpPr>
          <p:spPr>
            <a:xfrm>
              <a:off x="4762500" y="1352550"/>
              <a:ext cx="3905400" cy="3238500"/>
            </a:xfrm>
            <a:prstGeom prst="roundRect">
              <a:avLst>
                <a:gd fmla="val 2352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93"/>
            <p:cNvSpPr/>
            <p:nvPr/>
          </p:nvSpPr>
          <p:spPr>
            <a:xfrm>
              <a:off x="4762500" y="1352550"/>
              <a:ext cx="3810000" cy="3048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0001"/>
                    <a:pt x="800" y="0"/>
                    <a:pt x="2400" y="0"/>
                  </a:cubicBezTo>
                  <a:lnTo>
                    <a:pt x="117600" y="0"/>
                  </a:lnTo>
                  <a:cubicBezTo>
                    <a:pt x="119200" y="0"/>
                    <a:pt x="120000" y="10001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82" name="Google Shape;1882;p93"/>
            <p:cNvGrpSpPr/>
            <p:nvPr/>
          </p:nvGrpSpPr>
          <p:grpSpPr>
            <a:xfrm>
              <a:off x="4886325" y="1457325"/>
              <a:ext cx="400200" cy="95400"/>
              <a:chOff x="9525" y="9525"/>
              <a:chExt cx="400200" cy="95400"/>
            </a:xfrm>
          </p:grpSpPr>
          <p:sp>
            <p:nvSpPr>
              <p:cNvPr id="1883" name="Google Shape;1883;p93"/>
              <p:cNvSpPr/>
              <p:nvPr/>
            </p:nvSpPr>
            <p:spPr>
              <a:xfrm>
                <a:off x="9525" y="9525"/>
                <a:ext cx="95400" cy="954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93"/>
              <p:cNvSpPr/>
              <p:nvPr/>
            </p:nvSpPr>
            <p:spPr>
              <a:xfrm>
                <a:off x="161925" y="9525"/>
                <a:ext cx="95400" cy="954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93"/>
              <p:cNvSpPr/>
              <p:nvPr/>
            </p:nvSpPr>
            <p:spPr>
              <a:xfrm>
                <a:off x="314325" y="9525"/>
                <a:ext cx="95400" cy="954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86" name="Google Shape;1886;p93"/>
            <p:cNvSpPr txBox="1"/>
            <p:nvPr/>
          </p:nvSpPr>
          <p:spPr>
            <a:xfrm>
              <a:off x="4762500" y="1352550"/>
              <a:ext cx="3905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api.js</a:t>
              </a:r>
              <a:endParaRPr b="0" sz="85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887" name="Google Shape;1887;p93"/>
            <p:cNvSpPr txBox="1"/>
            <p:nvPr/>
          </p:nvSpPr>
          <p:spPr>
            <a:xfrm>
              <a:off x="4953000" y="1809750"/>
              <a:ext cx="35244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async function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getUser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524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6A99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1. Fetch returns a Promise resolving to a Response object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524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response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= </a:t>
              </a: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await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fetch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10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'[link removed]'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5240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2. We MUST parse the body. .json() also returns a Promise!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524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data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= </a:t>
              </a:r>
              <a:r>
                <a:rPr b="0" lang="en" sz="10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await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response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.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json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5240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.</a:t>
              </a:r>
              <a:r>
                <a:rPr b="0" lang="en" sz="10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log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10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data</a:t>
              </a: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.name);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10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1888" name="Google Shape;1888;p93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0099" y="1737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3" name="Google Shape;1893;p94"/>
          <p:cNvGrpSpPr/>
          <p:nvPr/>
        </p:nvGrpSpPr>
        <p:grpSpPr>
          <a:xfrm>
            <a:off x="476250" y="285750"/>
            <a:ext cx="8191500" cy="819225"/>
            <a:chOff x="476250" y="285750"/>
            <a:chExt cx="8191500" cy="819225"/>
          </a:xfrm>
        </p:grpSpPr>
        <p:sp>
          <p:nvSpPr>
            <p:cNvPr id="1894" name="Google Shape;1894;p94"/>
            <p:cNvSpPr/>
            <p:nvPr/>
          </p:nvSpPr>
          <p:spPr>
            <a:xfrm>
              <a:off x="476250" y="1095375"/>
              <a:ext cx="8191500" cy="960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94"/>
            <p:cNvSpPr/>
            <p:nvPr/>
          </p:nvSpPr>
          <p:spPr>
            <a:xfrm>
              <a:off x="8334375" y="428625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0" y="60000"/>
                  </a:lnTo>
                  <a:lnTo>
                    <a:pt x="40000" y="12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569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94"/>
            <p:cNvSpPr txBox="1"/>
            <p:nvPr/>
          </p:nvSpPr>
          <p:spPr>
            <a:xfrm>
              <a:off x="476250" y="285750"/>
              <a:ext cx="7620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Real API Project (Dynamic User List)</a:t>
              </a:r>
              <a:endParaRPr b="1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897" name="Google Shape;1897;p94"/>
            <p:cNvSpPr txBox="1"/>
            <p:nvPr/>
          </p:nvSpPr>
          <p:spPr>
            <a:xfrm>
              <a:off x="476250" y="74295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Connecting async logic to the Document Object Model (DOM).</a:t>
              </a:r>
              <a:endParaRPr b="0" sz="1100">
                <a:solidFill>
                  <a:srgbClr val="D4D4D4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</p:grpSp>
      <p:grpSp>
        <p:nvGrpSpPr>
          <p:cNvPr id="1898" name="Google Shape;1898;p94"/>
          <p:cNvGrpSpPr/>
          <p:nvPr/>
        </p:nvGrpSpPr>
        <p:grpSpPr>
          <a:xfrm>
            <a:off x="476250" y="1257300"/>
            <a:ext cx="8191500" cy="2809800"/>
            <a:chOff x="0" y="0"/>
            <a:chExt cx="8191500" cy="2809800"/>
          </a:xfrm>
        </p:grpSpPr>
        <p:sp>
          <p:nvSpPr>
            <p:cNvPr id="1899" name="Google Shape;1899;p94"/>
            <p:cNvSpPr/>
            <p:nvPr/>
          </p:nvSpPr>
          <p:spPr>
            <a:xfrm>
              <a:off x="0" y="0"/>
              <a:ext cx="8191500" cy="2809800"/>
            </a:xfrm>
            <a:prstGeom prst="roundRect">
              <a:avLst>
                <a:gd fmla="val 2711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94"/>
            <p:cNvSpPr/>
            <p:nvPr/>
          </p:nvSpPr>
          <p:spPr>
            <a:xfrm>
              <a:off x="0" y="0"/>
              <a:ext cx="8191500" cy="3048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cubicBezTo>
                    <a:pt x="0" y="10000"/>
                    <a:pt x="372" y="0"/>
                    <a:pt x="1116" y="0"/>
                  </a:cubicBezTo>
                  <a:lnTo>
                    <a:pt x="118884" y="0"/>
                  </a:lnTo>
                  <a:cubicBezTo>
                    <a:pt x="119628" y="0"/>
                    <a:pt x="120000" y="10000"/>
                    <a:pt x="120000" y="3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01" name="Google Shape;1901;p94"/>
            <p:cNvGrpSpPr/>
            <p:nvPr/>
          </p:nvGrpSpPr>
          <p:grpSpPr>
            <a:xfrm>
              <a:off x="114300" y="114300"/>
              <a:ext cx="304800" cy="76200"/>
              <a:chOff x="0" y="0"/>
              <a:chExt cx="304800" cy="76200"/>
            </a:xfrm>
          </p:grpSpPr>
          <p:sp>
            <p:nvSpPr>
              <p:cNvPr id="1902" name="Google Shape;1902;p94"/>
              <p:cNvSpPr/>
              <p:nvPr/>
            </p:nvSpPr>
            <p:spPr>
              <a:xfrm>
                <a:off x="0" y="0"/>
                <a:ext cx="76200" cy="76200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94"/>
              <p:cNvSpPr/>
              <p:nvPr/>
            </p:nvSpPr>
            <p:spPr>
              <a:xfrm>
                <a:off x="114300" y="0"/>
                <a:ext cx="76200" cy="76200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94"/>
              <p:cNvSpPr/>
              <p:nvPr/>
            </p:nvSpPr>
            <p:spPr>
              <a:xfrm>
                <a:off x="228600" y="0"/>
                <a:ext cx="76200" cy="76200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05" name="Google Shape;1905;p94"/>
            <p:cNvSpPr txBox="1"/>
            <p:nvPr/>
          </p:nvSpPr>
          <p:spPr>
            <a:xfrm>
              <a:off x="0" y="0"/>
              <a:ext cx="8191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loadUsers.js</a:t>
              </a:r>
              <a:endParaRPr b="0" sz="800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1906" name="Google Shape;1906;p94"/>
            <p:cNvSpPr txBox="1"/>
            <p:nvPr/>
          </p:nvSpPr>
          <p:spPr>
            <a:xfrm>
              <a:off x="190500" y="428625"/>
              <a:ext cx="7810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async function </a:t>
              </a:r>
              <a:r>
                <a:rPr b="0" lang="en" sz="736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loadUsers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sz="1085"/>
            </a:p>
            <a:p>
              <a:pPr indent="0" lvl="0" marL="190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try 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{</a:t>
              </a:r>
              <a:endParaRPr sz="1085"/>
            </a:p>
            <a:p>
              <a:pPr indent="0" lvl="0" marL="381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 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 = </a:t>
              </a:r>
              <a:r>
                <a:rPr b="0" lang="en" sz="736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await </a:t>
              </a:r>
              <a:r>
                <a:rPr b="0" lang="en" sz="736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fetch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736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'[link removed]'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sz="1085"/>
            </a:p>
            <a:p>
              <a:pPr indent="0" lvl="0" marL="381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 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users = </a:t>
              </a:r>
              <a:r>
                <a:rPr b="0" lang="en" sz="736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await 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res.</a:t>
              </a:r>
              <a:r>
                <a:rPr b="0" lang="en" sz="736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json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</a:t>
              </a:r>
              <a:endParaRPr sz="1085"/>
            </a:p>
            <a:p>
              <a:pPr indent="0" lvl="0" marL="381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const 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container = document.</a:t>
              </a:r>
              <a:r>
                <a:rPr b="0" lang="en" sz="736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getElementById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736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'user-list'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sz="1085"/>
            </a:p>
            <a:p>
              <a:pPr indent="0" lvl="0" marL="381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container.innerHTML = users.</a:t>
              </a:r>
              <a:r>
                <a:rPr b="0" lang="en" sz="736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map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(user =&gt; </a:t>
              </a:r>
              <a:r>
                <a:rPr b="0" lang="en" sz="736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`</a:t>
              </a:r>
              <a:endParaRPr sz="1085"/>
            </a:p>
            <a:p>
              <a:pPr indent="0" lvl="0" marL="571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&lt;div class="card"&gt;</a:t>
              </a:r>
              <a:endParaRPr sz="1085"/>
            </a:p>
            <a:p>
              <a:pPr indent="0" lvl="0" marL="762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&lt;h3&gt;${user.name}&lt;/h3&gt;</a:t>
              </a:r>
              <a:endParaRPr sz="1085"/>
            </a:p>
            <a:p>
              <a:pPr indent="0" lvl="0" marL="762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&lt;p&gt;${user.email}&lt;/p&gt;</a:t>
              </a:r>
              <a:endParaRPr sz="1085"/>
            </a:p>
            <a:p>
              <a:pPr indent="0" lvl="0" marL="571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&lt;/div&gt;</a:t>
              </a:r>
              <a:endParaRPr sz="1085"/>
            </a:p>
            <a:p>
              <a:pPr indent="0" lvl="0" marL="381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`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).</a:t>
              </a:r>
              <a:r>
                <a:rPr b="0" lang="en" sz="736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join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" sz="736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''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);</a:t>
              </a:r>
              <a:endParaRPr sz="1085"/>
            </a:p>
            <a:p>
              <a:pPr indent="0" lvl="0" marL="190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 </a:t>
              </a:r>
              <a:r>
                <a:rPr b="0" lang="en" sz="736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catch 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(err) {</a:t>
              </a:r>
              <a:endParaRPr sz="1085"/>
            </a:p>
            <a:p>
              <a:pPr indent="0" lvl="0" marL="381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console.</a:t>
              </a:r>
              <a:r>
                <a:rPr b="0" lang="en" sz="736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error</a:t>
              </a: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(err);</a:t>
              </a:r>
              <a:endParaRPr sz="1085"/>
            </a:p>
            <a:p>
              <a:pPr indent="0" lvl="0" marL="190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085"/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36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1085"/>
            </a:p>
          </p:txBody>
        </p:sp>
      </p:grpSp>
      <p:grpSp>
        <p:nvGrpSpPr>
          <p:cNvPr id="1907" name="Google Shape;1907;p94"/>
          <p:cNvGrpSpPr/>
          <p:nvPr/>
        </p:nvGrpSpPr>
        <p:grpSpPr>
          <a:xfrm>
            <a:off x="476250" y="4238625"/>
            <a:ext cx="8191500" cy="571500"/>
            <a:chOff x="476250" y="4238625"/>
            <a:chExt cx="8191500" cy="571500"/>
          </a:xfrm>
        </p:grpSpPr>
        <p:sp>
          <p:nvSpPr>
            <p:cNvPr id="1908" name="Google Shape;1908;p94"/>
            <p:cNvSpPr/>
            <p:nvPr/>
          </p:nvSpPr>
          <p:spPr>
            <a:xfrm>
              <a:off x="476250" y="4238625"/>
              <a:ext cx="8191500" cy="571500"/>
            </a:xfrm>
            <a:prstGeom prst="roundRect">
              <a:avLst>
                <a:gd fmla="val 10000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94"/>
            <p:cNvSpPr/>
            <p:nvPr/>
          </p:nvSpPr>
          <p:spPr>
            <a:xfrm>
              <a:off x="476250" y="4238625"/>
              <a:ext cx="38100" cy="571500"/>
            </a:xfrm>
            <a:prstGeom prst="roundRect">
              <a:avLst>
                <a:gd fmla="val 50000" name="adj"/>
              </a:avLst>
            </a:prstGeom>
            <a:solidFill>
              <a:srgbClr val="569C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10" name="Google Shape;1910;p94"/>
            <p:cNvGrpSpPr/>
            <p:nvPr/>
          </p:nvGrpSpPr>
          <p:grpSpPr>
            <a:xfrm>
              <a:off x="666750" y="4381500"/>
              <a:ext cx="1143000" cy="285900"/>
              <a:chOff x="0" y="142875"/>
              <a:chExt cx="1143000" cy="285900"/>
            </a:xfrm>
          </p:grpSpPr>
          <p:sp>
            <p:nvSpPr>
              <p:cNvPr id="1911" name="Google Shape;1911;p94"/>
              <p:cNvSpPr/>
              <p:nvPr/>
            </p:nvSpPr>
            <p:spPr>
              <a:xfrm>
                <a:off x="0" y="142875"/>
                <a:ext cx="11430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69C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94"/>
              <p:cNvSpPr txBox="1"/>
              <p:nvPr/>
            </p:nvSpPr>
            <p:spPr>
              <a:xfrm>
                <a:off x="0" y="14287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569CD6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fetch()</a:t>
                </a:r>
                <a:endParaRPr b="1" sz="9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sp>
          <p:nvSpPr>
            <p:cNvPr id="1913" name="Google Shape;1913;p94"/>
            <p:cNvSpPr txBox="1"/>
            <p:nvPr/>
          </p:nvSpPr>
          <p:spPr>
            <a:xfrm>
              <a:off x="1809750" y="4381500"/>
              <a:ext cx="523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grpSp>
          <p:nvGrpSpPr>
            <p:cNvPr id="1914" name="Google Shape;1914;p94"/>
            <p:cNvGrpSpPr/>
            <p:nvPr/>
          </p:nvGrpSpPr>
          <p:grpSpPr>
            <a:xfrm>
              <a:off x="2333625" y="4381500"/>
              <a:ext cx="1143000" cy="285900"/>
              <a:chOff x="0" y="142875"/>
              <a:chExt cx="1143000" cy="285900"/>
            </a:xfrm>
          </p:grpSpPr>
          <p:sp>
            <p:nvSpPr>
              <p:cNvPr id="1915" name="Google Shape;1915;p94"/>
              <p:cNvSpPr/>
              <p:nvPr/>
            </p:nvSpPr>
            <p:spPr>
              <a:xfrm>
                <a:off x="0" y="142875"/>
                <a:ext cx="11430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94"/>
              <p:cNvSpPr txBox="1"/>
              <p:nvPr/>
            </p:nvSpPr>
            <p:spPr>
              <a:xfrm>
                <a:off x="0" y="14287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Request</a:t>
                </a:r>
                <a:endParaRPr sz="9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sp>
          <p:nvSpPr>
            <p:cNvPr id="1917" name="Google Shape;1917;p94"/>
            <p:cNvSpPr txBox="1"/>
            <p:nvPr/>
          </p:nvSpPr>
          <p:spPr>
            <a:xfrm>
              <a:off x="3476625" y="4381500"/>
              <a:ext cx="523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grpSp>
          <p:nvGrpSpPr>
            <p:cNvPr id="1918" name="Google Shape;1918;p94"/>
            <p:cNvGrpSpPr/>
            <p:nvPr/>
          </p:nvGrpSpPr>
          <p:grpSpPr>
            <a:xfrm>
              <a:off x="4000500" y="4381500"/>
              <a:ext cx="1143000" cy="285900"/>
              <a:chOff x="0" y="142875"/>
              <a:chExt cx="1143000" cy="285900"/>
            </a:xfrm>
          </p:grpSpPr>
          <p:sp>
            <p:nvSpPr>
              <p:cNvPr id="1919" name="Google Shape;1919;p94"/>
              <p:cNvSpPr/>
              <p:nvPr/>
            </p:nvSpPr>
            <p:spPr>
              <a:xfrm>
                <a:off x="0" y="142875"/>
                <a:ext cx="11430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94"/>
              <p:cNvSpPr txBox="1"/>
              <p:nvPr/>
            </p:nvSpPr>
            <p:spPr>
              <a:xfrm>
                <a:off x="0" y="14287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D4D4D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Response</a:t>
                </a:r>
                <a:endParaRPr sz="9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sp>
          <p:nvSpPr>
            <p:cNvPr id="1921" name="Google Shape;1921;p94"/>
            <p:cNvSpPr txBox="1"/>
            <p:nvPr/>
          </p:nvSpPr>
          <p:spPr>
            <a:xfrm>
              <a:off x="5143500" y="4381500"/>
              <a:ext cx="523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grpSp>
          <p:nvGrpSpPr>
            <p:cNvPr id="1922" name="Google Shape;1922;p94"/>
            <p:cNvGrpSpPr/>
            <p:nvPr/>
          </p:nvGrpSpPr>
          <p:grpSpPr>
            <a:xfrm>
              <a:off x="5667375" y="4381500"/>
              <a:ext cx="1143000" cy="285900"/>
              <a:chOff x="0" y="142875"/>
              <a:chExt cx="1143000" cy="285900"/>
            </a:xfrm>
          </p:grpSpPr>
          <p:sp>
            <p:nvSpPr>
              <p:cNvPr id="1923" name="Google Shape;1923;p94"/>
              <p:cNvSpPr/>
              <p:nvPr/>
            </p:nvSpPr>
            <p:spPr>
              <a:xfrm>
                <a:off x="0" y="142875"/>
                <a:ext cx="11430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69CD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94"/>
              <p:cNvSpPr txBox="1"/>
              <p:nvPr/>
            </p:nvSpPr>
            <p:spPr>
              <a:xfrm>
                <a:off x="0" y="14287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569CD6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response.json()</a:t>
                </a:r>
                <a:endParaRPr b="1" sz="85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sp>
          <p:nvSpPr>
            <p:cNvPr id="1925" name="Google Shape;1925;p94"/>
            <p:cNvSpPr txBox="1"/>
            <p:nvPr/>
          </p:nvSpPr>
          <p:spPr>
            <a:xfrm>
              <a:off x="6810375" y="4381500"/>
              <a:ext cx="523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85858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grpSp>
          <p:nvGrpSpPr>
            <p:cNvPr id="1926" name="Google Shape;1926;p94"/>
            <p:cNvGrpSpPr/>
            <p:nvPr/>
          </p:nvGrpSpPr>
          <p:grpSpPr>
            <a:xfrm>
              <a:off x="7334250" y="4381500"/>
              <a:ext cx="1143000" cy="285900"/>
              <a:chOff x="0" y="142875"/>
              <a:chExt cx="1143000" cy="285900"/>
            </a:xfrm>
          </p:grpSpPr>
          <p:sp>
            <p:nvSpPr>
              <p:cNvPr id="1927" name="Google Shape;1927;p94"/>
              <p:cNvSpPr/>
              <p:nvPr/>
            </p:nvSpPr>
            <p:spPr>
              <a:xfrm>
                <a:off x="0" y="142875"/>
                <a:ext cx="11430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27C93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94"/>
              <p:cNvSpPr txBox="1"/>
              <p:nvPr/>
            </p:nvSpPr>
            <p:spPr>
              <a:xfrm>
                <a:off x="0" y="142875"/>
                <a:ext cx="1143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27C93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DOM update</a:t>
                </a:r>
                <a:endParaRPr b="1" sz="90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</p:grpSp>
      <p:pic>
        <p:nvPicPr>
          <p:cNvPr id="1929" name="Google Shape;1929;p94" title="Technical Council Orientation Presentation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974" y="131600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4" name="Google Shape;1934;p95"/>
          <p:cNvGrpSpPr/>
          <p:nvPr/>
        </p:nvGrpSpPr>
        <p:grpSpPr>
          <a:xfrm>
            <a:off x="476250" y="428625"/>
            <a:ext cx="8191500" cy="723975"/>
            <a:chOff x="476250" y="428625"/>
            <a:chExt cx="8191500" cy="723975"/>
          </a:xfrm>
        </p:grpSpPr>
        <p:sp>
          <p:nvSpPr>
            <p:cNvPr id="1935" name="Google Shape;1935;p95"/>
            <p:cNvSpPr/>
            <p:nvPr/>
          </p:nvSpPr>
          <p:spPr>
            <a:xfrm>
              <a:off x="476250" y="1143000"/>
              <a:ext cx="8191500" cy="960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95"/>
            <p:cNvSpPr/>
            <p:nvPr/>
          </p:nvSpPr>
          <p:spPr>
            <a:xfrm>
              <a:off x="8334375" y="428625"/>
              <a:ext cx="285900" cy="190500"/>
            </a:xfrm>
            <a:custGeom>
              <a:rect b="b" l="l" r="r" t="t"/>
              <a:pathLst>
                <a:path extrusionOk="0" h="120000" w="120000">
                  <a:moveTo>
                    <a:pt x="40000" y="0"/>
                  </a:moveTo>
                  <a:lnTo>
                    <a:pt x="0" y="60000"/>
                  </a:lnTo>
                  <a:lnTo>
                    <a:pt x="40000" y="12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569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7" name="Google Shape;1937;p95"/>
          <p:cNvGrpSpPr/>
          <p:nvPr/>
        </p:nvGrpSpPr>
        <p:grpSpPr>
          <a:xfrm>
            <a:off x="476250" y="381000"/>
            <a:ext cx="7620000" cy="666900"/>
            <a:chOff x="0" y="0"/>
            <a:chExt cx="7620000" cy="666900"/>
          </a:xfrm>
        </p:grpSpPr>
        <p:sp>
          <p:nvSpPr>
            <p:cNvPr id="1938" name="Google Shape;1938;p95"/>
            <p:cNvSpPr/>
            <p:nvPr/>
          </p:nvSpPr>
          <p:spPr>
            <a:xfrm>
              <a:off x="0" y="0"/>
              <a:ext cx="7620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95"/>
            <p:cNvSpPr txBox="1"/>
            <p:nvPr/>
          </p:nvSpPr>
          <p:spPr>
            <a:xfrm>
              <a:off x="0" y="0"/>
              <a:ext cx="7620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8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Advanced JS Mental Model + Final Challenge</a:t>
              </a:r>
              <a:endParaRPr b="1" sz="238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940" name="Google Shape;1940;p95"/>
          <p:cNvGrpSpPr/>
          <p:nvPr/>
        </p:nvGrpSpPr>
        <p:grpSpPr>
          <a:xfrm>
            <a:off x="476250" y="1285875"/>
            <a:ext cx="1905000" cy="1285800"/>
            <a:chOff x="0" y="0"/>
            <a:chExt cx="1905000" cy="1285800"/>
          </a:xfrm>
        </p:grpSpPr>
        <p:sp>
          <p:nvSpPr>
            <p:cNvPr id="1941" name="Google Shape;1941;p95"/>
            <p:cNvSpPr/>
            <p:nvPr/>
          </p:nvSpPr>
          <p:spPr>
            <a:xfrm>
              <a:off x="0" y="0"/>
              <a:ext cx="1905000" cy="1285800"/>
            </a:xfrm>
            <a:prstGeom prst="roundRect">
              <a:avLst>
                <a:gd fmla="val 4444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95"/>
            <p:cNvSpPr txBox="1"/>
            <p:nvPr/>
          </p:nvSpPr>
          <p:spPr>
            <a:xfrm>
              <a:off x="142875" y="142875"/>
              <a:ext cx="1619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63">
                  <a:solidFill>
                    <a:srgbClr val="569CD6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01. Callback</a:t>
              </a:r>
              <a:endParaRPr b="0" sz="763">
                <a:solidFill>
                  <a:srgbClr val="569CD6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C586C0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function</a:t>
              </a:r>
              <a:r>
                <a:rPr b="0" lang="en" sz="833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 passed to be called later</a:t>
              </a:r>
              <a:endParaRPr b="0" sz="763">
                <a:solidFill>
                  <a:srgbClr val="569CD6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569CD6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elem</a:t>
              </a:r>
              <a:r>
                <a:rPr b="0" lang="en" sz="833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.</a:t>
              </a:r>
              <a:r>
                <a:rPr b="0" lang="en" sz="833">
                  <a:solidFill>
                    <a:srgbClr val="DCDCA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addEventListener</a:t>
              </a:r>
              <a:r>
                <a:rPr b="0" lang="en" sz="833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(</a:t>
              </a:r>
              <a:endParaRPr b="0" sz="763">
                <a:solidFill>
                  <a:srgbClr val="569CD6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9525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CE917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'click'</a:t>
              </a:r>
              <a:r>
                <a:rPr b="0" lang="en" sz="833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, </a:t>
              </a:r>
              <a:r>
                <a:rPr b="0" lang="en" sz="833">
                  <a:solidFill>
                    <a:srgbClr val="569CD6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callback</a:t>
              </a:r>
              <a:endParaRPr b="0" sz="763">
                <a:solidFill>
                  <a:srgbClr val="569CD6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)</a:t>
              </a:r>
              <a:endParaRPr b="0" sz="763">
                <a:solidFill>
                  <a:srgbClr val="569CD6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</p:grpSp>
      <p:grpSp>
        <p:nvGrpSpPr>
          <p:cNvPr id="1943" name="Google Shape;1943;p95"/>
          <p:cNvGrpSpPr/>
          <p:nvPr/>
        </p:nvGrpSpPr>
        <p:grpSpPr>
          <a:xfrm>
            <a:off x="2524125" y="1285875"/>
            <a:ext cx="1905000" cy="1285800"/>
            <a:chOff x="0" y="0"/>
            <a:chExt cx="1905000" cy="1285800"/>
          </a:xfrm>
        </p:grpSpPr>
        <p:sp>
          <p:nvSpPr>
            <p:cNvPr id="1944" name="Google Shape;1944;p95"/>
            <p:cNvSpPr/>
            <p:nvPr/>
          </p:nvSpPr>
          <p:spPr>
            <a:xfrm>
              <a:off x="0" y="0"/>
              <a:ext cx="1905000" cy="1285800"/>
            </a:xfrm>
            <a:prstGeom prst="roundRect">
              <a:avLst>
                <a:gd fmla="val 4444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95"/>
            <p:cNvSpPr txBox="1"/>
            <p:nvPr/>
          </p:nvSpPr>
          <p:spPr>
            <a:xfrm>
              <a:off x="142875" y="142875"/>
              <a:ext cx="1619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01">
                  <a:solidFill>
                    <a:srgbClr val="DCDCA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02. Promise</a:t>
              </a:r>
              <a:endParaRPr b="0" sz="701">
                <a:solidFill>
                  <a:srgbClr val="DCDCA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C586C0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object</a:t>
              </a:r>
              <a:r>
                <a:rPr b="0" lang="en" sz="765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 representing future data</a:t>
              </a:r>
              <a:endParaRPr b="0" sz="701">
                <a:solidFill>
                  <a:srgbClr val="DCDCA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C586C0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new</a:t>
              </a:r>
              <a:r>
                <a:rPr b="0" lang="en" sz="701">
                  <a:solidFill>
                    <a:srgbClr val="DCDCA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 </a:t>
              </a:r>
              <a:r>
                <a:rPr b="0" lang="en" sz="765">
                  <a:solidFill>
                    <a:srgbClr val="DCDCA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Promise</a:t>
              </a:r>
              <a:r>
                <a:rPr b="0" lang="en" sz="765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((</a:t>
              </a:r>
              <a:r>
                <a:rPr b="0" lang="en" sz="765">
                  <a:solidFill>
                    <a:srgbClr val="569CD6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resolve</a:t>
              </a:r>
              <a:r>
                <a:rPr b="0" lang="en" sz="765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) =&gt; {</a:t>
              </a:r>
              <a:endParaRPr b="0" sz="701">
                <a:solidFill>
                  <a:srgbClr val="DCDCA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9525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DCDCA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resolve</a:t>
              </a:r>
              <a:r>
                <a:rPr b="0" lang="en" sz="765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(</a:t>
              </a:r>
              <a:r>
                <a:rPr b="0" lang="en" sz="765">
                  <a:solidFill>
                    <a:srgbClr val="569CD6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data</a:t>
              </a:r>
              <a:r>
                <a:rPr b="0" lang="en" sz="765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);</a:t>
              </a:r>
              <a:endParaRPr b="0" sz="701">
                <a:solidFill>
                  <a:srgbClr val="DCDCA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})</a:t>
              </a:r>
              <a:endParaRPr b="0" sz="701">
                <a:solidFill>
                  <a:srgbClr val="DCDCA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</p:grpSp>
      <p:grpSp>
        <p:nvGrpSpPr>
          <p:cNvPr id="1946" name="Google Shape;1946;p95"/>
          <p:cNvGrpSpPr/>
          <p:nvPr/>
        </p:nvGrpSpPr>
        <p:grpSpPr>
          <a:xfrm>
            <a:off x="4572000" y="1285875"/>
            <a:ext cx="1905000" cy="1285800"/>
            <a:chOff x="0" y="0"/>
            <a:chExt cx="1905000" cy="1285800"/>
          </a:xfrm>
        </p:grpSpPr>
        <p:sp>
          <p:nvSpPr>
            <p:cNvPr id="1947" name="Google Shape;1947;p95"/>
            <p:cNvSpPr/>
            <p:nvPr/>
          </p:nvSpPr>
          <p:spPr>
            <a:xfrm>
              <a:off x="0" y="0"/>
              <a:ext cx="1905000" cy="1285800"/>
            </a:xfrm>
            <a:prstGeom prst="roundRect">
              <a:avLst>
                <a:gd fmla="val 4444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95"/>
            <p:cNvSpPr txBox="1"/>
            <p:nvPr/>
          </p:nvSpPr>
          <p:spPr>
            <a:xfrm>
              <a:off x="142875" y="142875"/>
              <a:ext cx="16191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63">
                  <a:solidFill>
                    <a:srgbClr val="C586C0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03. async/await</a:t>
              </a:r>
              <a:endParaRPr b="0" sz="763">
                <a:solidFill>
                  <a:srgbClr val="C586C0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C586C0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clean</a:t>
              </a:r>
              <a:r>
                <a:rPr b="0" lang="en" sz="833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 syntax for Promises</a:t>
              </a:r>
              <a:endParaRPr b="0" sz="763">
                <a:solidFill>
                  <a:srgbClr val="C586C0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C586C0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async function</a:t>
              </a:r>
              <a:r>
                <a:rPr b="0" lang="en" sz="763">
                  <a:solidFill>
                    <a:srgbClr val="C586C0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 </a:t>
              </a:r>
              <a:r>
                <a:rPr b="0" lang="en" sz="833">
                  <a:solidFill>
                    <a:srgbClr val="DCDCA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fetchData</a:t>
              </a:r>
              <a:r>
                <a:rPr b="0" lang="en" sz="833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() {</a:t>
              </a:r>
              <a:endParaRPr b="0" sz="763">
                <a:solidFill>
                  <a:srgbClr val="C586C0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9525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C586C0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await</a:t>
              </a:r>
              <a:r>
                <a:rPr b="0" lang="en" sz="763">
                  <a:solidFill>
                    <a:srgbClr val="C586C0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 </a:t>
              </a:r>
              <a:r>
                <a:rPr b="0" lang="en" sz="833">
                  <a:solidFill>
                    <a:srgbClr val="DCDCA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getAsyncPromise</a:t>
              </a:r>
              <a:r>
                <a:rPr b="0" lang="en" sz="833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();</a:t>
              </a:r>
              <a:endParaRPr b="0" sz="763">
                <a:solidFill>
                  <a:srgbClr val="C586C0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}</a:t>
              </a:r>
              <a:endParaRPr b="0" sz="763">
                <a:solidFill>
                  <a:srgbClr val="C586C0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</p:grpSp>
      <p:grpSp>
        <p:nvGrpSpPr>
          <p:cNvPr id="1949" name="Google Shape;1949;p95"/>
          <p:cNvGrpSpPr/>
          <p:nvPr/>
        </p:nvGrpSpPr>
        <p:grpSpPr>
          <a:xfrm>
            <a:off x="6619875" y="1285875"/>
            <a:ext cx="2047800" cy="1285800"/>
            <a:chOff x="0" y="0"/>
            <a:chExt cx="2047800" cy="1285800"/>
          </a:xfrm>
        </p:grpSpPr>
        <p:sp>
          <p:nvSpPr>
            <p:cNvPr id="1950" name="Google Shape;1950;p95"/>
            <p:cNvSpPr/>
            <p:nvPr/>
          </p:nvSpPr>
          <p:spPr>
            <a:xfrm>
              <a:off x="0" y="0"/>
              <a:ext cx="2047800" cy="1285800"/>
            </a:xfrm>
            <a:prstGeom prst="roundRect">
              <a:avLst>
                <a:gd fmla="val 4444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95"/>
            <p:cNvSpPr txBox="1"/>
            <p:nvPr/>
          </p:nvSpPr>
          <p:spPr>
            <a:xfrm>
              <a:off x="142875" y="142875"/>
              <a:ext cx="1762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6A995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04. fetch()</a:t>
              </a:r>
              <a:endParaRPr b="0" sz="825">
                <a:solidFill>
                  <a:srgbClr val="6A995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C586C0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modern API</a:t>
              </a:r>
              <a:r>
                <a:rPr b="0" lang="en" sz="900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 for network requests</a:t>
              </a:r>
              <a:endParaRPr b="0" sz="825">
                <a:solidFill>
                  <a:srgbClr val="6A995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DCDCA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fetch</a:t>
              </a:r>
              <a:r>
                <a:rPr b="0" lang="en" sz="900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(</a:t>
              </a:r>
              <a:r>
                <a:rPr b="0" lang="en" sz="900">
                  <a:solidFill>
                    <a:srgbClr val="CE9178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'/endpoint'</a:t>
              </a:r>
              <a:r>
                <a:rPr b="0" lang="en" sz="900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)</a:t>
              </a:r>
              <a:endParaRPr b="0" sz="825">
                <a:solidFill>
                  <a:srgbClr val="6A995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.</a:t>
              </a:r>
              <a:r>
                <a:rPr b="0" lang="en" sz="900">
                  <a:solidFill>
                    <a:srgbClr val="DCDCA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then</a:t>
              </a:r>
              <a:r>
                <a:rPr b="0" lang="en" sz="900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(r =&gt; r.</a:t>
              </a:r>
              <a:r>
                <a:rPr b="0" lang="en" sz="900">
                  <a:solidFill>
                    <a:srgbClr val="DCDCA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json</a:t>
              </a:r>
              <a:r>
                <a:rPr b="0" lang="en" sz="900">
                  <a:solidFill>
                    <a:srgbClr val="D4D4D4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())</a:t>
              </a:r>
              <a:endParaRPr b="0" sz="825">
                <a:solidFill>
                  <a:srgbClr val="6A995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</p:grpSp>
      <p:grpSp>
        <p:nvGrpSpPr>
          <p:cNvPr id="1952" name="Google Shape;1952;p95"/>
          <p:cNvGrpSpPr/>
          <p:nvPr/>
        </p:nvGrpSpPr>
        <p:grpSpPr>
          <a:xfrm>
            <a:off x="476250" y="2762250"/>
            <a:ext cx="8191500" cy="2000100"/>
            <a:chOff x="0" y="0"/>
            <a:chExt cx="8191500" cy="2000100"/>
          </a:xfrm>
        </p:grpSpPr>
        <p:sp>
          <p:nvSpPr>
            <p:cNvPr id="1953" name="Google Shape;1953;p95"/>
            <p:cNvSpPr/>
            <p:nvPr/>
          </p:nvSpPr>
          <p:spPr>
            <a:xfrm>
              <a:off x="0" y="0"/>
              <a:ext cx="8191500" cy="2000100"/>
            </a:xfrm>
            <a:prstGeom prst="roundRect">
              <a:avLst>
                <a:gd fmla="val 3809" name="adj"/>
              </a:avLst>
            </a:prstGeom>
            <a:solidFill>
              <a:srgbClr val="2D2D2D"/>
            </a:solidFill>
            <a:ln cap="flat" cmpd="sng" w="9525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95"/>
            <p:cNvSpPr/>
            <p:nvPr/>
          </p:nvSpPr>
          <p:spPr>
            <a:xfrm>
              <a:off x="0" y="0"/>
              <a:ext cx="8191500" cy="2859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cubicBezTo>
                    <a:pt x="0" y="10680"/>
                    <a:pt x="373" y="0"/>
                    <a:pt x="1116" y="0"/>
                  </a:cubicBezTo>
                  <a:lnTo>
                    <a:pt x="118884" y="0"/>
                  </a:lnTo>
                  <a:cubicBezTo>
                    <a:pt x="119627" y="0"/>
                    <a:pt x="120000" y="10680"/>
                    <a:pt x="120000" y="32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95"/>
            <p:cNvSpPr/>
            <p:nvPr/>
          </p:nvSpPr>
          <p:spPr>
            <a:xfrm>
              <a:off x="95250" y="9525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95"/>
            <p:cNvSpPr/>
            <p:nvPr/>
          </p:nvSpPr>
          <p:spPr>
            <a:xfrm>
              <a:off x="247650" y="9525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95"/>
            <p:cNvSpPr/>
            <p:nvPr/>
          </p:nvSpPr>
          <p:spPr>
            <a:xfrm>
              <a:off x="400050" y="9525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95"/>
            <p:cNvSpPr txBox="1"/>
            <p:nvPr/>
          </p:nvSpPr>
          <p:spPr>
            <a:xfrm>
              <a:off x="0" y="0"/>
              <a:ext cx="819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85858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api-dashboard.js</a:t>
              </a:r>
              <a:endParaRPr b="0" sz="825">
                <a:solidFill>
                  <a:srgbClr val="85858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pic>
          <p:nvPicPr>
            <p:cNvPr id="1959" name="Google Shape;1959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29113" y="428625"/>
              <a:ext cx="96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0" name="Google Shape;1960;p95"/>
            <p:cNvSpPr txBox="1"/>
            <p:nvPr/>
          </p:nvSpPr>
          <p:spPr>
            <a:xfrm>
              <a:off x="238125" y="428625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BD2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Final Challenge: Build an API Dashboard</a:t>
              </a:r>
              <a:endParaRPr b="1" sz="950">
                <a:solidFill>
                  <a:srgbClr val="FFBD2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0E0E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Build an interactive interface using clean async execution. Requirements:</a:t>
              </a:r>
              <a:endParaRPr b="0" sz="800">
                <a:solidFill>
                  <a:srgbClr val="E0E0E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[01]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Fetch data using </a:t>
              </a:r>
              <a:r>
                <a:rPr b="0" lang="en" sz="8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async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</a:t>
              </a:r>
              <a:r>
                <a:rPr b="0" lang="en" sz="8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await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&amp; </a:t>
              </a:r>
              <a:r>
                <a:rPr b="0" lang="en" sz="8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fetch()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[02]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Implement robust </a:t>
              </a:r>
              <a:r>
                <a:rPr b="0" lang="en" sz="8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try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</a:t>
              </a:r>
              <a:r>
                <a:rPr b="0" lang="en" sz="8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catch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error handling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[03]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Render visual loading indicators during wait states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[04]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Dynamically map fetched payload properties to DOM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en" sz="80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[05]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Wire up manual reload triggers via button DOM events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961" name="Google Shape;1961;p95"/>
            <p:cNvSpPr txBox="1"/>
            <p:nvPr/>
          </p:nvSpPr>
          <p:spPr>
            <a:xfrm>
              <a:off x="4572000" y="428625"/>
              <a:ext cx="3381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800">
                  <a:solidFill>
                    <a:srgbClr val="6A9955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/* Event-to-UI Async Lifecycle Flow */</a:t>
              </a:r>
              <a:endParaRPr b="0" i="1" sz="800">
                <a:solidFill>
                  <a:srgbClr val="6A9955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User Action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80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➔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8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DOM Event Triggered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952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└──➔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800">
                  <a:solidFill>
                    <a:srgbClr val="C586C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async function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execution starts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905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└──➔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800">
                  <a:solidFill>
                    <a:srgbClr val="569C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fetch() request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sent to network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2857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└──➔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800">
                  <a:solidFill>
                    <a:srgbClr val="CE917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API Server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processes/sends payload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3810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└──➔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parsing raw </a:t>
              </a:r>
              <a:r>
                <a:rPr b="0" lang="en" sz="800">
                  <a:solidFill>
                    <a:srgbClr val="DCDCA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JSON data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response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476250" marR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800">
                  <a:solidFill>
                    <a:srgbClr val="85858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└──➔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" sz="80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DOM Updated</a:t>
              </a:r>
              <a:r>
                <a:rPr b="0" lang="en" sz="800">
                  <a:solidFill>
                    <a:srgbClr val="D4D4D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instantly in browser</a:t>
              </a:r>
              <a:endParaRPr b="0" sz="80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1962" name="Google Shape;1962;p95" title="Technical Council Orientation Presentation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8599" y="148875"/>
            <a:ext cx="714450" cy="7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